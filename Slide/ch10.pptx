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53" r:id="rId1"/>
  </p:sldMasterIdLst>
  <p:notesMasterIdLst>
    <p:notesMasterId r:id="rId44"/>
  </p:notesMasterIdLst>
  <p:sldIdLst>
    <p:sldId id="307" r:id="rId2"/>
    <p:sldId id="256" r:id="rId3"/>
    <p:sldId id="300" r:id="rId4"/>
    <p:sldId id="301" r:id="rId5"/>
    <p:sldId id="302" r:id="rId6"/>
    <p:sldId id="315" r:id="rId7"/>
    <p:sldId id="316" r:id="rId8"/>
    <p:sldId id="312" r:id="rId9"/>
    <p:sldId id="317" r:id="rId10"/>
    <p:sldId id="303" r:id="rId11"/>
    <p:sldId id="257" r:id="rId12"/>
    <p:sldId id="304" r:id="rId13"/>
    <p:sldId id="314" r:id="rId14"/>
    <p:sldId id="306" r:id="rId15"/>
    <p:sldId id="313" r:id="rId16"/>
    <p:sldId id="305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5" r:id="rId34"/>
    <p:sldId id="276" r:id="rId35"/>
    <p:sldId id="277" r:id="rId36"/>
    <p:sldId id="278" r:id="rId37"/>
    <p:sldId id="309" r:id="rId38"/>
    <p:sldId id="318" r:id="rId39"/>
    <p:sldId id="310" r:id="rId40"/>
    <p:sldId id="311" r:id="rId41"/>
    <p:sldId id="282" r:id="rId42"/>
    <p:sldId id="308" r:id="rId43"/>
  </p:sldIdLst>
  <p:sldSz cx="13716000" cy="9144000"/>
  <p:notesSz cx="6997700" cy="92837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19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63" d="100"/>
          <a:sy n="63" d="100"/>
        </p:scale>
        <p:origin x="184" y="408"/>
      </p:cViewPr>
      <p:guideLst>
        <p:guide orient="horz" pos="1536"/>
        <p:guide pos="1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2B2A07F3-3ED2-F94F-9783-799B8F7050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21D712D9-5D24-3943-9242-E3341C96168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6263BC3-74B1-4E4C-8115-4597DFC1763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0037" name="Rectangle 5">
            <a:extLst>
              <a:ext uri="{FF2B5EF4-FFF2-40B4-BE49-F238E27FC236}">
                <a16:creationId xmlns:a16="http://schemas.microsoft.com/office/drawing/2014/main" id="{A87217AE-15C3-A049-8F41-D5079D4E3F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0038" name="Rectangle 6">
            <a:extLst>
              <a:ext uri="{FF2B5EF4-FFF2-40B4-BE49-F238E27FC236}">
                <a16:creationId xmlns:a16="http://schemas.microsoft.com/office/drawing/2014/main" id="{7454BBC5-43C6-5F46-80AA-057A787042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0039" name="Rectangle 7">
            <a:extLst>
              <a:ext uri="{FF2B5EF4-FFF2-40B4-BE49-F238E27FC236}">
                <a16:creationId xmlns:a16="http://schemas.microsoft.com/office/drawing/2014/main" id="{A62AAB45-4412-2F42-890C-5AA9D7604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0A81D45F-31D9-2E44-9FBA-E806EC49C3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>
            <a:extLst>
              <a:ext uri="{FF2B5EF4-FFF2-40B4-BE49-F238E27FC236}">
                <a16:creationId xmlns:a16="http://schemas.microsoft.com/office/drawing/2014/main" id="{FCDABF7A-7838-1845-96A5-3FA1153A4B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63FA103-AAD2-1046-B215-46728BFC227B}" type="slidenum">
              <a:rPr lang="en-US" altLang="pt-BR" sz="1200">
                <a:latin typeface="Times New Roman" panose="02020603050405020304" pitchFamily="18" charset="0"/>
              </a:rPr>
              <a:pPr/>
              <a:t>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D8556FAF-C985-CB41-865A-903EFA4799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8326DD1-98C4-0642-AAAF-0695B2336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>
            <a:extLst>
              <a:ext uri="{FF2B5EF4-FFF2-40B4-BE49-F238E27FC236}">
                <a16:creationId xmlns:a16="http://schemas.microsoft.com/office/drawing/2014/main" id="{37A0388B-80F4-D840-BECB-3A6E1B985E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A35C500-4A19-934E-8E0C-1589E4084809}" type="slidenum">
              <a:rPr lang="en-US" altLang="pt-BR" sz="1200">
                <a:latin typeface="Times New Roman" panose="02020603050405020304" pitchFamily="18" charset="0"/>
              </a:rPr>
              <a:pPr/>
              <a:t>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53FD5971-E11C-2843-82EF-13C6A3C8F1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C20CAF2-D789-034F-90FD-42C33659E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>
            <a:extLst>
              <a:ext uri="{FF2B5EF4-FFF2-40B4-BE49-F238E27FC236}">
                <a16:creationId xmlns:a16="http://schemas.microsoft.com/office/drawing/2014/main" id="{A16D3E58-3AF8-674C-AC99-F5C0EC01D7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82FFEC8-FD6A-9C49-AAC5-54B64397BE97}" type="slidenum">
              <a:rPr lang="en-US" altLang="pt-BR" sz="1200">
                <a:latin typeface="Times New Roman" panose="02020603050405020304" pitchFamily="18" charset="0"/>
              </a:rPr>
              <a:pPr/>
              <a:t>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9C7B44E3-806E-6442-95EA-5438FEA227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7D277C2-D9A2-6D4C-A47E-857447D23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>
            <a:extLst>
              <a:ext uri="{FF2B5EF4-FFF2-40B4-BE49-F238E27FC236}">
                <a16:creationId xmlns:a16="http://schemas.microsoft.com/office/drawing/2014/main" id="{187E2F4B-4F42-D346-BD44-F3D298827B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349F0F-63D8-7B49-AF87-EF2322B478C9}" type="slidenum">
              <a:rPr lang="en-US" altLang="pt-BR" sz="1200">
                <a:latin typeface="Times New Roman" panose="02020603050405020304" pitchFamily="18" charset="0"/>
              </a:rPr>
              <a:pPr/>
              <a:t>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69AE6129-7AB5-BD4B-A70F-1D2A466F907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4FD3123-666A-2749-988A-3B6060FFC6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961B0772-0A43-DA40-968A-D8EA4DF3D3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EF01FCD-74D3-C94C-91EC-9F3282FDB505}" type="slidenum">
              <a:rPr lang="en-US" altLang="pt-BR" sz="1200">
                <a:latin typeface="Times New Roman" panose="02020603050405020304" pitchFamily="18" charset="0"/>
              </a:rPr>
              <a:pPr/>
              <a:t>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BE2ABDB5-A183-EF44-B9C1-D3B4EF409A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CB940C2-9D0B-6D4A-8AF2-EF0F79626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5D1BD786-2F5B-5B4D-8B83-F96D2A771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62EEB75-D95B-8240-BF36-4852524ABF08}" type="slidenum">
              <a:rPr lang="en-US" altLang="pt-BR" sz="1200">
                <a:latin typeface="Times New Roman" panose="02020603050405020304" pitchFamily="18" charset="0"/>
              </a:rPr>
              <a:pPr/>
              <a:t>10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E3DEEEC-5E63-0248-81EA-098F110513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C4382BB-754D-9147-82A3-F58760E8A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D9AD2EED-FD11-BC47-A7FE-02375DF26F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A02247-F1D3-9E48-97AF-587594279A13}" type="slidenum">
              <a:rPr lang="en-US" altLang="pt-BR" sz="1200">
                <a:latin typeface="Times New Roman" panose="02020603050405020304" pitchFamily="18" charset="0"/>
              </a:rPr>
              <a:pPr/>
              <a:t>11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08184D4C-9266-694B-9FC6-CD3FF39755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DF7A4D6-9AAF-C245-9E53-4654C01F3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D525C87-E16D-9F47-BCFB-F39CC8F13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796F209-C0CF-DE4F-8CBE-B864CC224978}" type="slidenum">
              <a:rPr lang="en-US" altLang="pt-BR" sz="1200">
                <a:latin typeface="Times New Roman" panose="02020603050405020304" pitchFamily="18" charset="0"/>
              </a:rPr>
              <a:pPr/>
              <a:t>12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998B62F-58B9-CC44-9014-2135DBD26E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BBC1F6D-E759-9244-86A2-E88CE8A82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DA2ED719-CCBF-0747-9752-07B486FB07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9C29719-737F-604B-878D-0FE6029EFC25}" type="slidenum">
              <a:rPr lang="en-US" altLang="pt-BR" sz="1200">
                <a:latin typeface="Times New Roman" panose="02020603050405020304" pitchFamily="18" charset="0"/>
              </a:rPr>
              <a:pPr/>
              <a:t>14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6BAB58C-035C-5B45-8185-77C27D194E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0B4B89-3715-E84D-931D-A5786C013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54173515-A5DC-314C-BF56-3C0E305071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8437FE0-F620-2E43-9F72-89A4679E515C}" type="slidenum">
              <a:rPr lang="en-US" altLang="pt-BR" sz="1200">
                <a:latin typeface="Times New Roman" panose="02020603050405020304" pitchFamily="18" charset="0"/>
              </a:rPr>
              <a:pPr/>
              <a:t>16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A383966-B054-6943-AF70-34704F6772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3D257AE-B972-A24C-A6A8-4F9ABF374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2CB3A3E4-38A0-2A45-B63B-DD37D3F105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E4EECEE-FFF4-0842-A8B7-50D0869ABC7C}" type="slidenum">
              <a:rPr lang="en-US" altLang="pt-BR" sz="1200">
                <a:latin typeface="Times New Roman" panose="02020603050405020304" pitchFamily="18" charset="0"/>
              </a:rPr>
              <a:pPr/>
              <a:t>17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13E3F001-84B5-F440-A402-32C81D023E3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8309CDA-1023-7F41-B487-9E51381BA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F2C98122-D82E-2844-B0C3-5952E0F9EE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0E919A8-9EB6-6640-9D0D-B48C7790B172}" type="slidenum">
              <a:rPr lang="en-US" altLang="pt-BR" sz="1200">
                <a:latin typeface="Times New Roman" panose="02020603050405020304" pitchFamily="18" charset="0"/>
              </a:rPr>
              <a:pPr/>
              <a:t>18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DB268CB4-9817-B74C-8B32-C265436E69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02C7FE8-0771-2C43-B576-3089C968A8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2865AFA0-BE1D-5F4A-A9B9-21EAE5CE11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8101ECD-DCA2-FC43-9D9D-65B04B7B14B7}" type="slidenum">
              <a:rPr lang="en-US" altLang="pt-BR" sz="1200">
                <a:latin typeface="Times New Roman" panose="02020603050405020304" pitchFamily="18" charset="0"/>
              </a:rPr>
              <a:pPr/>
              <a:t>19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94DC117-EA20-4F4C-A7AD-EBA449171D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E06CBCC-39CB-D549-9C5D-3B98AE1BE7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8BB932DD-126C-4844-97D6-9AA6F5AD3A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61C17FB-7CB6-7044-8E06-E6BDAACE43D6}" type="slidenum">
              <a:rPr lang="en-US" altLang="pt-BR" sz="1200">
                <a:latin typeface="Times New Roman" panose="02020603050405020304" pitchFamily="18" charset="0"/>
              </a:rPr>
              <a:pPr/>
              <a:t>20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DD82CF3-1066-844D-BB60-079D7CA04E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4AA33BA-B184-294D-B8ED-93E5CA041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B6ED30B3-90A8-C742-9EA9-3C5CBA6B65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735FF1C-E057-B842-8D0E-7667FED85D6F}" type="slidenum">
              <a:rPr lang="en-US" altLang="pt-BR" sz="1200">
                <a:latin typeface="Times New Roman" panose="02020603050405020304" pitchFamily="18" charset="0"/>
              </a:rPr>
              <a:pPr/>
              <a:t>21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4042EAF3-76D6-FC4E-A40B-5F10F12F19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1115E13-60A1-2544-8C07-D25D033CF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6DC97D15-2D39-964B-B402-1FA775B65E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ECDEF3D-37E0-264A-B1E9-EC3141D05B18}" type="slidenum">
              <a:rPr lang="en-US" altLang="pt-BR" sz="1200">
                <a:latin typeface="Times New Roman" panose="02020603050405020304" pitchFamily="18" charset="0"/>
              </a:rPr>
              <a:pPr/>
              <a:t>22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6E878688-BE66-AC48-AA73-E9C884F203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612F26D-4B64-F745-A75E-76C97DD16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6D4594FB-450F-7843-AEF0-8D0C264277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1E8F598-608C-7F4C-A907-71947ADB16CB}" type="slidenum">
              <a:rPr lang="en-US" altLang="pt-BR" sz="1200">
                <a:latin typeface="Times New Roman" panose="02020603050405020304" pitchFamily="18" charset="0"/>
              </a:rPr>
              <a:pPr/>
              <a:t>23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A8EBBD2-0C6F-CF40-88B0-35439675AA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F8065D1-16B6-414D-93BC-E83982AAA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1AA5C08A-DFA7-FE4C-9987-DAC4B9FDD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FBE09D3-5313-6F4F-836A-C407E3F2DB47}" type="slidenum">
              <a:rPr lang="en-US" altLang="pt-BR" sz="1200">
                <a:latin typeface="Times New Roman" panose="02020603050405020304" pitchFamily="18" charset="0"/>
              </a:rPr>
              <a:pPr/>
              <a:t>24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6CCBF891-9852-264C-B6D3-2250370470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F874FE0-2EE4-1B41-88BE-2A6F22D1D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D3344C9C-498B-9B42-8A5A-B2E82BF1C4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2521A21-6346-2F49-85E5-4E471FA9181E}" type="slidenum">
              <a:rPr lang="en-US" altLang="pt-BR" sz="1200">
                <a:latin typeface="Times New Roman" panose="02020603050405020304" pitchFamily="18" charset="0"/>
              </a:rPr>
              <a:pPr/>
              <a:t>25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A9FC319D-200D-AD4E-A72B-14AE6AC20C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3FB99D6F-0C2D-C643-A8C9-FE7C86182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D4A6619F-A833-7D4A-8C40-AC43D64517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DA04A63-E483-274B-8608-9483C0C46596}" type="slidenum">
              <a:rPr lang="en-US" altLang="pt-BR" sz="1200">
                <a:latin typeface="Times New Roman" panose="02020603050405020304" pitchFamily="18" charset="0"/>
              </a:rPr>
              <a:pPr/>
              <a:t>26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17091FE9-50F0-6D4E-93BF-4D6E9B0A4E6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757D9EC-E3AA-6149-B3AF-F15904529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AC620854-2B75-8641-B8D4-DDE0C0AD3E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E484C8F-273E-2946-9007-DB725A3E7D90}" type="slidenum">
              <a:rPr lang="en-US" altLang="pt-BR" sz="1200">
                <a:latin typeface="Times New Roman" panose="02020603050405020304" pitchFamily="18" charset="0"/>
              </a:rPr>
              <a:pPr/>
              <a:t>27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C982FDB1-AF6B-D44A-A5D4-A1050F120E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4A0FE66-E6F0-F741-A82C-C80A58990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3DABE945-4B85-D040-8445-7E630C929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5CF863E-694D-2B4E-9772-52FEE52ED910}" type="slidenum">
              <a:rPr lang="en-US" altLang="pt-BR" sz="1200">
                <a:latin typeface="Times New Roman" panose="02020603050405020304" pitchFamily="18" charset="0"/>
              </a:rPr>
              <a:pPr/>
              <a:t>28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18D9D1E3-6B4C-744E-A0CF-6EB7A89F47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F9B117E-E847-EA49-AD8C-938F24443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D5D6C483-F7C1-AF4F-8786-7867D3D7E9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F7DA0F9-4E52-8C47-96D2-CFC03AAD47A8}" type="slidenum">
              <a:rPr lang="en-US" altLang="pt-BR" sz="1200">
                <a:latin typeface="Times New Roman" panose="02020603050405020304" pitchFamily="18" charset="0"/>
              </a:rPr>
              <a:pPr/>
              <a:t>29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4ACD22FB-B28C-A945-9049-FB5FA6F3AF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1B6C811-6E4F-BE40-A26D-31FE8B0D9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82BFC5A7-8E23-9243-8690-8DC249447E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64E2E36-BE23-8D44-81B1-B59338437831}" type="slidenum">
              <a:rPr lang="en-US" altLang="pt-BR" sz="1200">
                <a:latin typeface="Times New Roman" panose="02020603050405020304" pitchFamily="18" charset="0"/>
              </a:rPr>
              <a:pPr/>
              <a:t>30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A4314FC3-C712-3748-B8BB-83AF5E4FE3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5DE2C35-0834-F84D-B152-34E35AE5D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F59094D4-CB6F-824C-9F5A-D1310C0CDE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1FA211C-B96C-C542-BB6A-A008B279BC0E}" type="slidenum">
              <a:rPr lang="en-US" altLang="pt-BR" sz="1200">
                <a:latin typeface="Times New Roman" panose="02020603050405020304" pitchFamily="18" charset="0"/>
              </a:rPr>
              <a:pPr/>
              <a:t>31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639D527-E72B-6A49-AF2B-D5914594D3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CF36B67-1C41-0E42-9247-4D4FF950E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1FA41D2E-5AEB-6840-87AC-9EF4768ECE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B686940-6F6D-F54E-B1E2-B0ED9E38FCFD}" type="slidenum">
              <a:rPr lang="en-US" altLang="pt-BR" sz="1200">
                <a:latin typeface="Times New Roman" panose="02020603050405020304" pitchFamily="18" charset="0"/>
              </a:rPr>
              <a:pPr/>
              <a:t>32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616B4A61-CC40-8546-B479-BFD89828054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5672CC42-CB64-5142-8DA0-BAC17549E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A2BF5FDD-93AB-1D45-BDD5-7C3F55A50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5BDACD3-D39B-FA41-B7B6-470403A24F87}" type="slidenum">
              <a:rPr lang="en-US" altLang="pt-BR" sz="1200">
                <a:latin typeface="Times New Roman" panose="02020603050405020304" pitchFamily="18" charset="0"/>
              </a:rPr>
              <a:pPr/>
              <a:t>33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422AF69D-EDD1-7D40-894F-4FDA3F22CBE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CAF6107-09C9-7F41-B793-ADC4365BD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5DE610DD-548E-F84D-B206-2C96DF5AB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77844CE-B7C8-0340-BABA-E4D2897AC230}" type="slidenum">
              <a:rPr lang="en-US" altLang="pt-BR" sz="1200">
                <a:latin typeface="Times New Roman" panose="02020603050405020304" pitchFamily="18" charset="0"/>
              </a:rPr>
              <a:pPr/>
              <a:t>34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C07303E7-1971-EB47-A0CA-F88A78FF60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E5B670B-1D35-5E47-AB1E-F9F0C96CCF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A86A7EBF-3F52-4248-8D73-229E54E57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151BC4D-6420-8240-B9C3-27531983092F}" type="slidenum">
              <a:rPr lang="en-US" altLang="pt-BR" sz="1200">
                <a:latin typeface="Times New Roman" panose="02020603050405020304" pitchFamily="18" charset="0"/>
              </a:rPr>
              <a:pPr/>
              <a:t>35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2EE86628-F793-CC4D-A7B9-59645AE706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5582F0A-9B06-7546-AF12-1BFB264D3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39E749BF-B18E-EF4A-BE70-06C27F6CA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94CD6B3-3092-7A4A-9493-BD8C16510644}" type="slidenum">
              <a:rPr lang="en-US" altLang="pt-BR" sz="1200">
                <a:latin typeface="Times New Roman" panose="02020603050405020304" pitchFamily="18" charset="0"/>
              </a:rPr>
              <a:pPr/>
              <a:t>36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7B89B9-DF14-494A-BDE4-1EC9CE5B2A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B6BC676-72BA-1549-9E5A-24721C234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CA71606E-15A1-DC42-B6CF-0D7F8EFF53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58E41274-A9C1-854A-AC6A-9F663EAFB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EA931114-2AC2-C041-A440-E9E2184765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D8FD9048-B3ED-3446-9DF5-59B39DA8C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08BAAB4E-6996-5844-BFC7-DE4A76C3F8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CEDF5B8D-B4D2-4842-8C28-36253E1F1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B48B36C7-6942-4C46-BF3A-C18DFDE21E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FA3577AC-761E-694D-9DA4-8B8DFF4CB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05EE37D7-8109-1042-AB2A-A7650123B9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9B4FF93-E0E5-3545-BB38-34D029C69D6D}" type="slidenum">
              <a:rPr lang="en-US" altLang="pt-BR" sz="1200">
                <a:latin typeface="Times New Roman" panose="02020603050405020304" pitchFamily="18" charset="0"/>
              </a:rPr>
              <a:pPr/>
              <a:t>41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6A0866BF-9240-064B-AABD-F3919AB590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C36925A-F810-4347-9116-C290F28E6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5E5E1D70-CB4E-9040-9392-A4E56DC81A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068B1FB-D08A-0E4C-8822-3878CF9F5329}" type="slidenum">
              <a:rPr lang="en-US" altLang="pt-BR" sz="1200">
                <a:latin typeface="Times New Roman" panose="02020603050405020304" pitchFamily="18" charset="0"/>
              </a:rPr>
              <a:pPr/>
              <a:t>42</a:t>
            </a:fld>
            <a:endParaRPr lang="en-US" altLang="pt-BR" sz="1200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C05A772-DF76-DE42-A383-DA9EE74A25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61AF0112-6E6F-D544-BBA0-8C8612C15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D167B12-6CED-ED45-BBD3-A5E6D4711A72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04FD71CF-E756-EE49-8E6E-425A70E43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D01D521-CD87-9648-98A2-E4060297B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05EDE0D-1CEB-AE40-AE21-E0646CAD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9FF9F46C-FA9B-914D-897C-022E6CCD7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6BD456F-6DE0-C646-BF7F-90C9929E4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4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A95AA81-C41D-4C40-B991-2ABD83D4F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3F0CECBF-4A62-D244-92DA-EA012DB7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528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009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660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036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43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779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81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890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259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674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974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956A563E-2321-CF4E-87DE-EFF19CF0F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C97CB29B-E85E-A642-AC6C-668BCDE89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061895-DDE7-7447-BDE9-E8E5ECA91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C5CFEDB-9F32-0C45-BE7C-528654F96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C2EB56CE-74DF-274A-90F4-E9726ECE0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30622" tIns="65311" rIns="130622" bIns="65311"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0BD768E-1142-FB45-B953-86353628C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F67F481-F5E1-854F-8497-B220ECBC6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296969" name="Text Box 9">
            <a:extLst>
              <a:ext uri="{FF2B5EF4-FFF2-40B4-BE49-F238E27FC236}">
                <a16:creationId xmlns:a16="http://schemas.microsoft.com/office/drawing/2014/main" id="{EC0D65DA-DA0D-C24F-B49B-34D7A6E01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8818563"/>
            <a:ext cx="7302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10.</a:t>
            </a:r>
            <a:fld id="{EC1A254F-FFF9-3744-816C-9B37310E30B8}" type="slidenum"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296970" name="Text Box 10">
            <a:extLst>
              <a:ext uri="{FF2B5EF4-FFF2-40B4-BE49-F238E27FC236}">
                <a16:creationId xmlns:a16="http://schemas.microsoft.com/office/drawing/2014/main" id="{47D346E5-8335-CC45-B450-959EDDD25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296971" name="Text Box 11">
            <a:extLst>
              <a:ext uri="{FF2B5EF4-FFF2-40B4-BE49-F238E27FC236}">
                <a16:creationId xmlns:a16="http://schemas.microsoft.com/office/drawing/2014/main" id="{F6FEF567-634E-1149-8394-B4D920FFE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8828088"/>
            <a:ext cx="37782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Operating System Concepts  – 9</a:t>
            </a:r>
            <a:r>
              <a:rPr lang="en-US" altLang="pt-BR" sz="14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C3F40D1-AF29-424E-B4E8-AD2A54DE3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BD7B9D78-906E-DB4E-B796-A39272BA96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10: Sistemas de Armazenamento em Massa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9E61C09A-70D7-314A-B3A0-D830401C4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3525" y="369888"/>
            <a:ext cx="114966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10: Sistemas de Armazenamento em Massa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FDB7D7DF-A377-884B-BF33-5BEB8C2A5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Visão geral da estrutura de armazenamento em massa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do disco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Anexação de disco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disco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Gerenciamento de disco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Gerenciamento de Espaço de Troca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RAID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 de armazenamento estável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>
            <a:extLst>
              <a:ext uri="{FF2B5EF4-FFF2-40B4-BE49-F238E27FC236}">
                <a16:creationId xmlns:a16="http://schemas.microsoft.com/office/drawing/2014/main" id="{BBC47C65-407F-EB47-B903-F657111B5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AF26111-84D4-0E4F-A78D-9962A8DDF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Descrever a estrutura física dos dispositivos de armazenamento secundário e seus efeitos nos usos dos dispositivos</a:t>
            </a:r>
          </a:p>
          <a:p>
            <a:pPr>
              <a:buFont typeface="Monotype Sorts" charset="0"/>
              <a:buChar char="n"/>
              <a:defRPr/>
            </a:pPr>
            <a:endParaRPr lang="en-US" dirty="0"/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Para explicar as características de desempenho dos dispositivos de armazenamento em massa</a:t>
            </a:r>
          </a:p>
          <a:p>
            <a:pPr>
              <a:buFont typeface="Monotype Sorts" charset="0"/>
              <a:buChar char="n"/>
              <a:defRPr/>
            </a:pPr>
            <a:endParaRPr lang="en-US" dirty="0"/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Para avaliar algoritmos de agendamento de disco</a:t>
            </a:r>
          </a:p>
          <a:p>
            <a:pPr>
              <a:buFont typeface="Monotype Sorts" charset="0"/>
              <a:buChar char="n"/>
              <a:defRPr/>
            </a:pPr>
            <a:endParaRPr lang="en-US" dirty="0"/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/>
              <a:t>Para discutir os serviços do sistema operacional fornecidos para armazenamento em massa, incluindo RAID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44F7E1BC-94D3-434B-9802-AC2591F8B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4950" y="369888"/>
            <a:ext cx="115252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Visão geral da estrutura de armazenamento em massa</a:t>
            </a:r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CB2ACC39-0A5B-3D44-BA22-05D7837E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644650"/>
            <a:ext cx="11995150" cy="7027863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Discos magnéticos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fornecer a maior parte do armazenamento secundário de computadores modernos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acionamentos giram de 60 a 250 vezes por segundo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Taxa de transferência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a taxa na qual os dados fluem entre a unidade e o computador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de posicionamento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de acesso aleatório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é o tempo para mover o braço do disco para o cilindro desejado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de busca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e o tempo para o setor desejado girar sob a cabeça do disco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latência rotacional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Batida de cabeça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resultados do contato da cabeça do disco com a superfície do disco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Isso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é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ruim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discos podem ser removíveis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Unidade conectada ao computador via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barramento de E/S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barramentos variam, incluindo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EIDE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ATA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SATA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USB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Fibre Channel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SCSI, SAS, Firewire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Controlador de host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 computador usa barramento para se comunicar com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controlador de disco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integrado na unidade ou na matriz de armazenamento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4">
            <a:extLst>
              <a:ext uri="{FF2B5EF4-FFF2-40B4-BE49-F238E27FC236}">
                <a16:creationId xmlns:a16="http://schemas.microsoft.com/office/drawing/2014/main" id="{14FC91D3-4192-6345-A22B-A4E1B2993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8313" y="369888"/>
            <a:ext cx="112918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Mecanismo de disco de cabeça móvel</a:t>
            </a:r>
          </a:p>
        </p:txBody>
      </p:sp>
      <p:pic>
        <p:nvPicPr>
          <p:cNvPr id="12290" name="Picture 1" descr="10_01.pdf">
            <a:extLst>
              <a:ext uri="{FF2B5EF4-FFF2-40B4-BE49-F238E27FC236}">
                <a16:creationId xmlns:a16="http://schemas.microsoft.com/office/drawing/2014/main" id="{EF3C2245-A0FA-6442-A037-211B17ECE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88" y="1997075"/>
            <a:ext cx="8396287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3325ED5D-438E-4245-82BE-DB341159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Discos magnéticos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55333E6F-6457-224B-8030-8F3B518C9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74803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pratos variam de 0,85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a 14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(historicamente)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 3,5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, 2,5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e 1,8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</a:t>
            </a:r>
            <a:endParaRPr xmlns:a="http://schemas.openxmlformats.org/drawingml/2006/main" lang="en-US" altLang="ja-JP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Intervalo de 30 GB a 3 TB por unidade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Taxa de transferência – teórica – 6 Gb/seg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Taxa de transferência efetiva – real – 1 Gb/seg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busca de 3 ms a 12 ms – 9 ms comum para unidades de desktop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busca medido ou calculado com base em 1/3 das trilhas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Latência baseada na velocidade do fuso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1/(RPM * 60)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Latência média = ½ latência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EDC7DDA7-7D6A-604B-B79F-E162B3B47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850" y="4610100"/>
            <a:ext cx="497205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Box 4">
            <a:extLst>
              <a:ext uri="{FF2B5EF4-FFF2-40B4-BE49-F238E27FC236}">
                <a16:creationId xmlns:a16="http://schemas.microsoft.com/office/drawing/2014/main" id="{FC4ACE34-6A1E-E84C-85F8-7E85FF372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5938" y="7681913"/>
            <a:ext cx="297973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1800"/>
              <a:t>(Da Wikipédia)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49AC7079-9A3C-F64D-AE8E-2A8EA86B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 do disco magnético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07C460CE-6731-2B42-A91D-2781742E3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Latência de acesso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médio de acesso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Tempo médio de busca + latência média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o disco mais rápido 3ms + 2ms = 5ms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disco lento 9 ms + 5,56 ms = 14,56 ms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E/S = tempo médio de acesso + (quantidade a transferir / taxa de transferência) + sobrecarga do controlador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exemplo, para transferir um bloco de 4 KB em um disco de 7200 RPM com um tempo médio de busca de 5 ms, taxa de transferência de 1 Gb/seg com uma sobrecarga do controlador de 0,1 ms =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5 ms + 4,17 ms + 4 KB / 1 Gb/s + 0,1 ms =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9,27 ms + 4 / 131072 seg =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9,27 ms + 0,12 ms = 9,39 ms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5A03D9CA-6343-F14D-858A-3A292648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primeira unidade de disco comercial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F5C47EC3-0B95-884A-826D-1A40F8EE3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63" y="1485900"/>
            <a:ext cx="57150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Box 3">
            <a:extLst>
              <a:ext uri="{FF2B5EF4-FFF2-40B4-BE49-F238E27FC236}">
                <a16:creationId xmlns:a16="http://schemas.microsoft.com/office/drawing/2014/main" id="{89DCE784-DF53-C848-97E3-38DD7ABC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25" y="2265363"/>
            <a:ext cx="4994275" cy="234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1800"/>
              <a:t>1956</a:t>
            </a:r>
          </a:p>
          <a:p>
            <a:r xmlns:a="http://schemas.openxmlformats.org/drawingml/2006/main">
              <a:rPr lang="pt" altLang="pt-BR" sz="1800"/>
              <a:t>O computador IBM RAMDAC incluía o sistema de armazenamento em disco IBM Modelo 350</a:t>
            </a:r>
          </a:p>
          <a:p>
            <a:endParaRPr lang="en-US" altLang="pt-BR" sz="1800"/>
          </a:p>
          <a:p>
            <a:r xmlns:a="http://schemas.openxmlformats.org/drawingml/2006/main">
              <a:rPr lang="pt" altLang="pt-BR" sz="1800"/>
              <a:t>5M (7 bits) caracteres</a:t>
            </a:r>
          </a:p>
          <a:p>
            <a:r xmlns:a="http://schemas.openxmlformats.org/drawingml/2006/main">
              <a:rPr lang="pt" altLang="pt-BR" sz="1800"/>
              <a:t>50 </a:t>
            </a:r>
            <a:r xmlns:a="http://schemas.openxmlformats.org/drawingml/2006/main">
              <a:rPr lang="pt" altLang="ja-JP" sz="1800"/>
              <a:t>pratos de 24 </a:t>
            </a:r>
            <a:r xmlns:a="http://schemas.openxmlformats.org/drawingml/2006/main">
              <a:rPr lang="pt" altLang="en-US" sz="1800"/>
              <a:t>”</a:t>
            </a:r>
          </a:p>
          <a:p>
            <a:r xmlns:a="http://schemas.openxmlformats.org/drawingml/2006/main">
              <a:rPr lang="pt" altLang="pt-BR" sz="1800"/>
              <a:t>Tempo de acesso = &lt; 1 segundo</a:t>
            </a:r>
          </a:p>
          <a:p>
            <a:endParaRPr lang="en-US" altLang="pt-BR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B6AD5461-053B-8447-A701-7BB072B0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Discos de estado sólido</a:t>
            </a:r>
          </a:p>
        </p:txBody>
      </p:sp>
      <p:sp>
        <p:nvSpPr>
          <p:cNvPr id="83970" name="Content Placeholder 2">
            <a:extLst>
              <a:ext uri="{FF2B5EF4-FFF2-40B4-BE49-F238E27FC236}">
                <a16:creationId xmlns:a16="http://schemas.microsoft.com/office/drawing/2014/main" id="{B29CB4E0-7381-EC45-B025-984F910C8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 não volátil usada como um disco rígido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Muitas variações de tecnologia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mais confiável do que HDDs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caro por MB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Talvez tenham uma vida útil mais curta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Menos capacidade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muito mais rápido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barramentos podem ser muito lentos -&gt; conectar diretamente ao PCI, por exemplo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 partes móveis, portanto sem tempo de busca ou latência rotacional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A56A6B8-EF87-F34E-8DC4-F9BB978DB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4800" y="369888"/>
            <a:ext cx="11455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Fita magnética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15CC81AE-86FB-D94F-8434-66AFF7C0F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Foi um meio de armazenamento secundário inicial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Evoluiu de carretéis abertos para cartuchos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Relativamente permanente e contém grandes quantidades de dados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acesso lento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Acesso aleatório ~1000 vezes mais lento que o disco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Usado principalmente para backup, armazenamento de dados usados com pouca frequência, meio de transferência entre sistemas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Mantido no carretel e enrolado ou rebobinado após a cabeça de leitura e gravação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vez que os dados estão sob controle, as taxas de transferência são comparáveis às do disco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140 MB/seg e maior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típico de 200 GB a 1,5 TB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tecnologias comuns são LTO-{3,4,5} e T10000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AE55164-1340-FC4E-B17F-EAA2A4242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7313" y="369888"/>
            <a:ext cx="116728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do disco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BEF63151-6C05-4345-B175-0D8457DB5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unidades de disco são endereçadas como grandes matrizes unidimensionais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blocos lógicos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onde o bloco lógico é a menor unidade de transferência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formatação de baixo nível cria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blocos lógicos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mídia física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matriz unidimensional de blocos lógicos é mapeada nos setores do disco sequencialmente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setor 0 é o primeiro setor da primeira trilha no cilindro mais externo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mapeamento prossegue em ordem através dessa trilha, depois o resto das trilhas naquele cilindro e, em seguida, através do resto dos cilindros, do mais externo ao mais interno.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endereço lógico para o físico deve ser fácil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Exceto para setores defeituosos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Número não constante de setores por trilha via velocidade angular constante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5E519D7F-E810-F14B-AB2B-1DFDD9515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17014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Anexação de disco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D9E31A6-9645-794A-9163-51B26991C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conectado ao host acessado por meio de portas de E/S conversando com barramentos de E/S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SCSI em si é um barramento, até 16 dispositivos em um cabo,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iniciador SCSI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operação de solicitações 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alvos SCSI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executar tarefas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alvo pode ter até 8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unidades lógicas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(discos anexados ao controlador do dispositivo)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FC é uma arquitetura serial de alta velocidade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comutado tecido com espaço de endereço de 24 bits – a base 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armazenamento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redes de área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(SANs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 muitos hosts se conectam a muitas unidades de armazenamento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E/S direcionada para ID do barramento, ID do dispositivo, unidade lógica (LUN)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5BBBD881-8CE1-8940-9E2F-C21C0110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Matriz de armazenamento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E43E8168-F7DE-6B44-B572-9D7A073F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apenas anexar discos ou conjuntos de discos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Storage Array possui controlador(es) e fornece recursos para hosts conectados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Portas para conectar hosts ao array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Memória, software de controle (às vezes NVRAM, etc.)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alguns a milhares de discos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RAID, hot spares, hot swap (discutido posteriormente)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compartilhado -&gt; mais eficiência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Recursos encontrados em alguns sistemas de arquivos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Snaphots, clones, provisionamento fino, replicação, desduplicação, etc.</a:t>
            </a:r>
          </a:p>
          <a:p>
            <a:pPr lvl="2">
              <a:buFont typeface="Webding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DE2FF8A4-D9D4-4448-B88F-C75591D70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8075" y="369888"/>
            <a:ext cx="119221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Rede de área de armazenamento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215529E4-2748-F248-9BDE-E0B937ED3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998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Comum em grandes ambientes de armazenamento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hosts conectados a vários conjuntos de armazenamento - flexível</a:t>
            </a:r>
          </a:p>
        </p:txBody>
      </p:sp>
      <p:pic>
        <p:nvPicPr>
          <p:cNvPr id="24579" name="Picture 1" descr="10_03.pdf">
            <a:extLst>
              <a:ext uri="{FF2B5EF4-FFF2-40B4-BE49-F238E27FC236}">
                <a16:creationId xmlns:a16="http://schemas.microsoft.com/office/drawing/2014/main" id="{A42D03D1-E42D-8A44-9650-4371782F8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3222625"/>
            <a:ext cx="944562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D2AC9F25-212A-1C4A-8D4A-739E8C7E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Rede de área de armazenamento (cont.)</a:t>
            </a:r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40A6A57A-517F-9649-8016-F7B42B10C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SAN é uma ou mais matrizes de armazenamento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Conectado a um ou mais switches Fibre Channel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hosts também se conectam aos switches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disponibilizado via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mascaramento de LUN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matrizes específicas para servidores específicos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Fácil de adicionar ou remover armazenamento, adicionar novo host e alocar armazenamento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Sobre tecido Fibre Channel de baixa latência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que ter redes de armazenamento e redes de comunicação separadas?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iSCSI, FCOE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2D87E43-AD60-854D-9A1D-324281F8A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conectado à rede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2171E029-69CA-F941-A7D7-7BF55C78F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823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armazenamento conectado à rede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é o armazenamento disponibilizado por meio de uma rede em vez de uma conexão local (como um barramento)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Anexação remota a sistemas de arquivos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NFS e CIFS são protocolos comuns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Implementado por meio de chamadas de procedimento remoto (RPCs) entre o host e o armazenamento, normalmente por TCP ou UDP em rede IP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iSCSI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 a rede IP para transportar o protocolo SCSI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Anexação remota a dispositivos (blocos)</a:t>
            </a:r>
          </a:p>
        </p:txBody>
      </p:sp>
      <p:pic>
        <p:nvPicPr>
          <p:cNvPr id="27651" name="Picture 6">
            <a:extLst>
              <a:ext uri="{FF2B5EF4-FFF2-40B4-BE49-F238E27FC236}">
                <a16:creationId xmlns:a16="http://schemas.microsoft.com/office/drawing/2014/main" id="{7739931F-FAC4-3944-8E5B-3B1C9B6F3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513" y="5486400"/>
            <a:ext cx="8107362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5DA1DBDE-21D8-9F4E-895C-A14277A55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disco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41A745BB-8E7F-AC43-868D-820F7972C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86276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é responsável por usar o hardware de forma eficiente — para as unidades de disco, isso significa ter um tempo de acesso rápido e largura de banda de disco</a:t>
            </a:r>
          </a:p>
          <a:p>
            <a:pPr lvl="1">
              <a:buFont typeface="Monotype Sorts" pitchFamily="2" charset="2"/>
              <a:buNone/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Minimize o tempo de busca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Procure tempo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 procure distância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Largura de banda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do disco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é o número total de bytes transferidos, dividido pelo tempo total entre a primeira solicitação de serviço e a conclusão da última transferência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EFA1BC69-2403-B743-AED8-2CB756FA8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69888"/>
            <a:ext cx="11963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disco (cont.)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1A83EF4-7474-E44F-BFDC-205C81398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Existem muitas fontes de solicitação de E/S de disco</a:t>
            </a:r>
          </a:p>
          <a:p>
            <a:pPr xmlns:a="http://schemas.openxmlformats.org/drawingml/2006/main" lvl="1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</a:t>
            </a:r>
          </a:p>
          <a:p>
            <a:pPr xmlns:a="http://schemas.openxmlformats.org/drawingml/2006/main" lvl="1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Processos do sistema</a:t>
            </a:r>
          </a:p>
          <a:p>
            <a:pPr xmlns:a="http://schemas.openxmlformats.org/drawingml/2006/main" lvl="1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Processos de usuários</a:t>
            </a: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solicitação de E/S inclui modo de entrada ou saída, endereço de disco, endereço de memória, número de setores a serem transferidos</a:t>
            </a: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mantém uma fila de solicitações, por disco ou dispositivo</a:t>
            </a: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disco ocioso pode trabalhar imediatamente em solicitações de E/S, o disco ocupado significa que o trabalho deve ser enfileirado</a:t>
            </a:r>
          </a:p>
          <a:p>
            <a:pPr xmlns:a="http://schemas.openxmlformats.org/drawingml/2006/main" lvl="1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otimização só fazem sentido quando existe uma fila</a:t>
            </a: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Observe que os controladores de unidade têm buffers pequenos e podem gerenciar uma fila de solicitações de E/S (de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profundidade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variável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)</a:t>
            </a:r>
          </a:p>
          <a:p>
            <a:pPr>
              <a:tabLst>
                <a:tab pos="2443163" algn="l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tabLst>
                <a:tab pos="2443163" algn="l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Existem vários algoritmos para agendar o atendimento de solicitações de E/S de disco</a:t>
            </a: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análise é verdadeira para um ou muitos pratos</a:t>
            </a:r>
          </a:p>
          <a:p>
            <a:pPr xmlns:a="http://schemas.openxmlformats.org/drawingml/2006/main"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Ilustramos algoritmos de escalonamento com uma fila de solicitações (0-199)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98, 183, 37, 122, 14, 124, 65, 67</a:t>
            </a:r>
          </a:p>
          <a:p>
            <a:pPr>
              <a:buFont typeface="Monotype Sorts" pitchFamily="2" charset="2"/>
              <a:buNone/>
              <a:tabLst>
                <a:tab pos="2443163" algn="l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431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Ponteiro de cabeça 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48F762E9-2FC0-7E41-95DA-69EF71DEF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04251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FCFS</a:t>
            </a:r>
          </a:p>
        </p:txBody>
      </p:sp>
      <p:sp>
        <p:nvSpPr>
          <p:cNvPr id="33794" name="Text Box 4">
            <a:extLst>
              <a:ext uri="{FF2B5EF4-FFF2-40B4-BE49-F238E27FC236}">
                <a16:creationId xmlns:a16="http://schemas.microsoft.com/office/drawing/2014/main" id="{2F8981B1-7913-EC41-8732-016EBF624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313" y="1785938"/>
            <a:ext cx="59356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A ilustração mostra o movimento total da cabeça de 640 cilindros</a:t>
            </a:r>
          </a:p>
        </p:txBody>
      </p:sp>
      <p:pic>
        <p:nvPicPr>
          <p:cNvPr id="33795" name="Picture 6">
            <a:extLst>
              <a:ext uri="{FF2B5EF4-FFF2-40B4-BE49-F238E27FC236}">
                <a16:creationId xmlns:a16="http://schemas.microsoft.com/office/drawing/2014/main" id="{428BCEFD-0AC0-5745-B2FB-E1C5B8A08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2541588"/>
            <a:ext cx="8759825" cy="564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1688AAA8-695B-3547-9C02-CEF5EDD1C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SSTF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7A81AB2A-2820-CC43-ACFE-CABEA024B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tempo de busca mais curto primeiro seleciona a solicitação com o tempo de busca mínimo da posição atual da cabeça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agendamento SSTF é uma forma de agendamento SJF; pode causar a inanição de algumas solicitações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ilustração mostra o movimento total da cabeça de 236 cilindros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298AB82-ED1F-EE49-AFFA-A4CFC92E4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SSTF (Cont.)</a:t>
            </a:r>
          </a:p>
        </p:txBody>
      </p:sp>
      <p:pic>
        <p:nvPicPr>
          <p:cNvPr id="37890" name="Picture 4" descr="12">
            <a:extLst>
              <a:ext uri="{FF2B5EF4-FFF2-40B4-BE49-F238E27FC236}">
                <a16:creationId xmlns:a16="http://schemas.microsoft.com/office/drawing/2014/main" id="{7A671A04-4632-B04F-BF83-C0D892FD2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687513"/>
            <a:ext cx="10756900" cy="644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5B260C38-C65B-A04C-B50E-37965C01A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69888"/>
            <a:ext cx="11761788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ESCANEAMENTO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115D1877-C1E8-6D49-AFCD-F79DB5C1C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998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braço do disco começa em uma extremidade do disco e se move em direção à outra extremidade, atendendo às solicitações até chegar à outra extremidade do disco, onde o movimento da cabeça é revertido e a manutenção continua.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 SCAN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Às vezes chamado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 do elevador</a:t>
            </a:r>
          </a:p>
          <a:p>
            <a:endParaRPr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ilustração mostra o movimento total da cabeça de 208 cilindros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observe que se as solicitações forem uniformemente densas, a maior densidade estará na outra extremidade do disco e aqueles que aguardam mais tempo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F6C351FE-FC19-2649-B67B-F003631BE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SCAN (Cont.)</a:t>
            </a:r>
          </a:p>
        </p:txBody>
      </p:sp>
      <p:pic>
        <p:nvPicPr>
          <p:cNvPr id="41986" name="Picture 6">
            <a:extLst>
              <a:ext uri="{FF2B5EF4-FFF2-40B4-BE49-F238E27FC236}">
                <a16:creationId xmlns:a16="http://schemas.microsoft.com/office/drawing/2014/main" id="{EA52EC7A-3101-B64B-9030-24EB8C971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763" y="1544638"/>
            <a:ext cx="10045700" cy="673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0EDFF811-B30B-5148-9C7F-4ADFB1606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69888"/>
            <a:ext cx="118046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C-SCAN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72C6A71E-4170-8145-B16E-1BA6EDA1D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Oferece um tempo de espera mais uniforme do que o SCAN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cabeça se move de uma extremidade do disco para a outra, atendendo às solicitações à medida que avança.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chega à outra extremidade, no entanto, ele retorna imediatamente ao início do disco, sem atender a nenhuma solicitação na viagem de retorno.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Trata os cilindros como uma lista circular que vai do último cilindro ao primeiro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Número total de cilindros?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9243F2B0-B6CB-254C-8B79-6BAC64E6D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C-SCAN (Cont.)</a:t>
            </a:r>
          </a:p>
        </p:txBody>
      </p:sp>
      <p:pic>
        <p:nvPicPr>
          <p:cNvPr id="46082" name="Picture 4">
            <a:extLst>
              <a:ext uri="{FF2B5EF4-FFF2-40B4-BE49-F238E27FC236}">
                <a16:creationId xmlns:a16="http://schemas.microsoft.com/office/drawing/2014/main" id="{C63E6AB9-7B3D-C64C-8224-7BD07D94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" t="3731" r="925" b="3731"/>
          <a:stretch>
            <a:fillRect/>
          </a:stretch>
        </p:blipFill>
        <p:spPr bwMode="auto">
          <a:xfrm>
            <a:off x="1847850" y="1652588"/>
            <a:ext cx="10501313" cy="658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A0441AE3-8729-4C44-9601-8222C03CD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C-OLHAR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B40B83C3-AD5E-F84B-97D3-F4FBACC31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6675" cy="43434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LOOK uma versão do SCAN, C-LOOK uma versão do C-SCAN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braço só vai até a última solicitação em cada direção e, em seguida, inverte a direção imediatamente, sem primeiro ir até o final do disco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Número total de cilindros?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90E0754D-1B17-8946-AB73-44DA525AF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8563" y="369888"/>
            <a:ext cx="118316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C-LOOK (Cont.)</a:t>
            </a:r>
          </a:p>
        </p:txBody>
      </p:sp>
      <p:pic>
        <p:nvPicPr>
          <p:cNvPr id="50178" name="Picture 4" descr="12">
            <a:extLst>
              <a:ext uri="{FF2B5EF4-FFF2-40B4-BE49-F238E27FC236}">
                <a16:creationId xmlns:a16="http://schemas.microsoft.com/office/drawing/2014/main" id="{F2DCBE64-C0F8-1A44-8F52-74973B1C5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1347788"/>
            <a:ext cx="10968038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A0598A0D-F115-7049-8EDD-008B1DE6A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5425" y="369888"/>
            <a:ext cx="11568113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300">
                <a:ea typeface="ＭＳ Ｐゴシック" panose="020B0600070205080204" pitchFamily="34" charset="-128"/>
              </a:rPr>
              <a:t>Selecionando um algoritmo de agendamento de disco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89ABD754-0CDF-B044-A769-A2213D1D5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966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SSTF é comum e tem um apelo natural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SCAN e o C-SCAN têm melhor desempenho em sistemas que colocam uma carga pesada no disco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Menos fome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desempenho depende do número e dos tipos de solicitações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solicitações de serviço de disco podem ser influenciadas pelo método de alocação de arquivos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layout de metadados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algoritmo de agendamento de disco deve ser escrito como um módulo separado do sistema operacional, permitindo que seja substituído por um algoritmo diferente, se necessário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SSTF ou LOOK são escolhas razoáveis para o algoritmo padrão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quanto à latência rotacional?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Difícil para o SO calcular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o enfileiramento baseado em disco afeta os esforços de ordenação de filas do sistema operacional?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6353C922-9765-5F42-B101-603C77A82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8" y="369888"/>
            <a:ext cx="119935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Gerenciamento de disco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6AB33CD8-B388-104C-AE8B-A298E3B40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Formatação de baixo nível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formatação física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— Dividir um disco em setores que o controlador de disco pode ler e gravar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setor pode conter informações de cabeçalho, além de dados, além de código de correção de erros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ECC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 512 bytes de dados, mas podem ser selecionáveis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usar um disco para armazenar arquivos, o sistema operacional ainda precisa registrar suas próprias estruturas de dados no disco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Particione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disco em um ou mais grupos de cilindros, cada um tratado como um disco lógico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Formatação lógica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criando um sistema de arquivos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</a:t>
            </a:r>
            <a:endParaRPr xmlns:a="http://schemas.openxmlformats.org/drawingml/2006/main" lang="en-US" altLang="ja-JP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aumentar a eficiência, a maioria dos sistemas de arquivos agrupa blocos 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clusters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E/S de disco feitas em blocos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E/S de arquivo feita em clusters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Acesso ao disco bruto para aplicativos que desejam fazer seu próprio gerenciamento de blocos, mantendo o sistema operacional fora do caminho (bancos de dados, por exemplo)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bloco de inicialização inicializa o sistema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bootstrap é armazenado na ROM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Carregador Bootstrap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armazenado em blocos de inicialização da partição de inicialização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Métodos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preservação de setores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usado para lidar com blocos ruins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DB60718C-6844-9449-ABA9-0F6C36A93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Inicializando a partir de um disco no Windows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56322" name="Picture 5">
            <a:extLst>
              <a:ext uri="{FF2B5EF4-FFF2-40B4-BE49-F238E27FC236}">
                <a16:creationId xmlns:a16="http://schemas.microsoft.com/office/drawing/2014/main" id="{F10893C9-AD96-BB42-9D66-38FC774CA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1504950"/>
            <a:ext cx="10267950" cy="683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68F3760B-2801-B643-95CC-3B495C23D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369888"/>
            <a:ext cx="114538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Gerenciamento de Espaço de Troca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63BCC8A4-8836-DE42-90C7-308F78EAA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troca — a memória virtual usa o espaço em disco como uma extensão da memória principal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Menos comum agora devido ao aumento da capacidade de memória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espaço de swap pode ser extraído do sistema de arquivos normal ou, mais comumente, pode estar em uma partição de disco separada (raw)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Gerenciamento de espaço de swap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4.3BSD aloca espaço de swap quando o processo inicia; contém segmento de texto (o programa) e segmento de dados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kernel usa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mapas de swap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rastrear o uso do espaço de troca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Solaris 2 aloca espaço de swap somente quando uma página suja é forçada a sair da memória física, não quando a página de memória virtual é criada pela primeira vez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Dados do arquivo gravados no espaço de troca até que seja solicitada a gravação no sistema de arquivos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Outras páginas sujas vão para trocar de espaço por não ter outra casa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Páginas de segmentos de texto descartadas e relidas do sistema de arquivos conforme necessário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que acontece se um sistema ficar sem espaço de swap?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Alguns sistemas permitem múltiplos espaços de troca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EAA6D7D3-AC3C-9D42-AC25-700D29DD6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8563" y="407988"/>
            <a:ext cx="118316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Estruturas de dados para swap em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sistemas Linux</a:t>
            </a:r>
            <a:endParaRPr xmlns:a="http://schemas.openxmlformats.org/drawingml/2006/main" lang="en-US" altLang="pt-BR" sz="2900">
              <a:ea typeface="ＭＳ Ｐゴシック" panose="020B0600070205080204" pitchFamily="34" charset="-128"/>
            </a:endParaRPr>
          </a:p>
        </p:txBody>
      </p:sp>
      <p:pic>
        <p:nvPicPr>
          <p:cNvPr id="60418" name="Picture 1" descr="10_10.pdf">
            <a:extLst>
              <a:ext uri="{FF2B5EF4-FFF2-40B4-BE49-F238E27FC236}">
                <a16:creationId xmlns:a16="http://schemas.microsoft.com/office/drawing/2014/main" id="{0BF0D8F8-0770-284B-9980-ABECFABC7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865438"/>
            <a:ext cx="949007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1E2A715-C59F-0B4C-BB37-64D2BC638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2513" y="369888"/>
            <a:ext cx="116427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RAID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82102B81-DDE8-7041-95D3-B44129CBD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RAID – matriz redundante de discos baratos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unidades de disco fornecem confiabilidade por meio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redundância</a:t>
            </a:r>
            <a:br xmlns:a="http://schemas.openxmlformats.org/drawingml/2006/main">
              <a:rPr lang="en-US" altLang="pt-BR" b="1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Aumenta 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médio até a falha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médio de reparo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exposição quando outra falha pode causar perda de dados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Tempo médio para perda de dados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 base nos fatores acima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os discos espelhados falharem independentemente, considere um disco com tempo médio de falha de 1.300.000 e tempo médio de reparo de 10 horas.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tempo médio para perda de dados é de 100.000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/ (2 ∗ 10 ) = 500 ∗ 10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6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horas, ou 57.000 anos!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Frequentemente combinado com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NVRAM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melhorar o desempenho de gravação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RAID é organizado em seis níveis diferentes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984A3560-799B-6F43-B7C7-47A9DD31F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RAID (Cont.)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BDE3F897-8081-434D-BBCF-EFD29D5E2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76751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melhorias nas técnicas de uso de disco envolvem o uso de vários discos trabalhando cooperativamente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Striping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disco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 um grupo de discos como uma unidade de armazenamento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esquemas RAID melhoram o desempenho e aumentam a confiabilidade do sistema de armazenamento ao armazenar dados redundantes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Espelhamento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sombreamento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RAID 1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mantém duplicado de cada disco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Espelhos listrados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RAID 1+0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ou listras espelhadas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RAID 0+1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fornecem alto desempenho e alta confiabilidade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Paridade intercalada em bloco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RAID 4, 5, 6 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 muito menos redundância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RAID dentro de uma matriz de armazenamento ainda pode falhar se a matriz falhar, portanto,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replicação automática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dos dados entre matrizes é comum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Frequentemente, um pequeno número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peças de reposição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discos são deixados sem alocação, substituindo automaticamente um disco com falha e tendo os dados reconstruídos neles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5FC91D84-0F8D-384E-9D80-08A9EE042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Níveis de RAID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66562" name="Picture 1" descr="10_11.pdf">
            <a:extLst>
              <a:ext uri="{FF2B5EF4-FFF2-40B4-BE49-F238E27FC236}">
                <a16:creationId xmlns:a16="http://schemas.microsoft.com/office/drawing/2014/main" id="{6C132CDE-D4BC-874C-B3C5-B5E18026E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938" y="1452563"/>
            <a:ext cx="4157662" cy="697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771E6781-17AF-9D4A-80A1-3A9DEE1DC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RAID (0 + 1) e (1 + 0)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68610" name="Picture 1" descr="10_12.pdf">
            <a:extLst>
              <a:ext uri="{FF2B5EF4-FFF2-40B4-BE49-F238E27FC236}">
                <a16:creationId xmlns:a16="http://schemas.microsoft.com/office/drawing/2014/main" id="{B45D88CB-FE4A-A44E-8E1C-61F66BC37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50" y="1673225"/>
            <a:ext cx="5568950" cy="635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0858BF17-9156-244C-9A56-534D8816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Outros recursos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E77A048A-D066-6B41-B42B-416515BA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966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Independentemente de onde o RAID for implementado, outros recursos úteis podem ser adicionados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Snapshot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uma visão do sistema de arquivos antes que um conjunto de alterações ocorra (ou seja, em um determinado momento)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no Cap. 12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replicação é a duplicação automática de gravações entre sites separados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redundância e recuperação de desastres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síncrono ou assíncrono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disco de reserva não é utilizado e é usado automaticamente pela produção RAID se um disco falhar para substituir o disco com falha e reconstruir o conjunto RAID, se possível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Diminui o tempo médio de reparo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C3AC2E39-AA69-6542-88E4-839A2C3F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Extensões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6A0A7A16-E212-0246-B9D3-9A7EA3FBD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966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RAID sozinho não previne nem detecta corrupção de dados ou outros erros, apenas falhas de disco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 ZFS adiciona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somas de verificação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todos os dados e metadados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Somas de verificação mantidas com ponteiro para objeto, para detectar se o objeto é o correto e se ele mudou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detectar e corrigir corrupção de dados e metadados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ZFS também remove volumes e partições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Discos alocados 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pools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sistemas de arquivos com um pool compartilham esse pool, usam e liberam espaço como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malloc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free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memória alocam / liberam chamadas</a:t>
            </a: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7EFC374F-0B27-344A-9CC4-02693FC4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988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Somas de verificação do ZFS Todos os metadados e dados</a:t>
            </a:r>
          </a:p>
        </p:txBody>
      </p:sp>
      <p:pic>
        <p:nvPicPr>
          <p:cNvPr id="74754" name="Picture 1" descr="10_13.pdf">
            <a:extLst>
              <a:ext uri="{FF2B5EF4-FFF2-40B4-BE49-F238E27FC236}">
                <a16:creationId xmlns:a16="http://schemas.microsoft.com/office/drawing/2014/main" id="{5AE085F4-9536-294A-A932-7D091B5D7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1946275"/>
            <a:ext cx="6262688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031D16FD-6281-354F-851B-D0B77E43C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369888"/>
            <a:ext cx="118348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tradicional e compartilhado</a:t>
            </a:r>
          </a:p>
        </p:txBody>
      </p:sp>
      <p:pic>
        <p:nvPicPr>
          <p:cNvPr id="76802" name="Picture 1" descr="10_14.pdf">
            <a:extLst>
              <a:ext uri="{FF2B5EF4-FFF2-40B4-BE49-F238E27FC236}">
                <a16:creationId xmlns:a16="http://schemas.microsoft.com/office/drawing/2014/main" id="{326BB040-5A18-C942-AF19-ED10A6A2C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5" y="1655763"/>
            <a:ext cx="4733925" cy="655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55EF1D30-256E-D74C-A343-8841BF837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1925" y="369888"/>
            <a:ext cx="115982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 de armazenamento estável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B9FC7C97-FAF0-4A4C-AF0D-87BB9E138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esquema de log de gravação antecipada requer armazenamento estável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estável significa que os dados nunca são perdidos (devido a falhas, etc.)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implementar armazenamento estável: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Replicar informações em mais de uma mídia de armazenamento não volátil com modos de falha independentes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Atualizar as informações de forma controlada para garantir que possamos recuperar os dados estáveis após qualquer falha durante a transferência ou recuperação de dados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gravação em disco tem 1 de 3 resultados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Conclusão bem-sucedida -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dados foram gravados corretamente no disco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Falha parcial -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Ocorreu uma falha no meio da transferência, então apenas alguns setores foram gravados com os novos dados, e o setor que estava sendo gravado durante a falha pode ter sido corrompido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Falha total -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falha ocorreu antes do início da gravação do disco, portanto os valores de dados anteriores no disco permanecem intactos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ocorrer falha durante a gravação do bloco, o procedimento de recuperação restaura o bloco ao estado consistente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mantém 2 blocos físicos por bloco lógico e faz o seguinte: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Escreva para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1º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físico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for bem-sucedido, escreva para o 2º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exame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físico</a:t>
            </a:r>
          </a:p>
          <a:p>
            <a:pPr xmlns:a="http://schemas.openxmlformats.org/drawingml/2006/main" lvl="1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Declarar completo somente após a segunda gravação ser concluída com sucesso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sistemas freqüentemente usam NVRAM como um físico para acelerar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3513F58-93D0-5F41-BE6E-B9CAC2C61D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10167</TotalTime>
  <Words>2672</Words>
  <Application>Microsoft Macintosh PowerPoint</Application>
  <PresentationFormat>Personalizar</PresentationFormat>
  <Paragraphs>352</Paragraphs>
  <Slides>42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1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Symbol</vt:lpstr>
      <vt:lpstr>os-8</vt:lpstr>
      <vt:lpstr>Chapter 10:  Mass-Storage Systems</vt:lpstr>
      <vt:lpstr>Chapter 10:  Mass-Storage Systems</vt:lpstr>
      <vt:lpstr>Objectives</vt:lpstr>
      <vt:lpstr>Overview of Mass Storage Structure</vt:lpstr>
      <vt:lpstr>Moving-head Disk Mechanism</vt:lpstr>
      <vt:lpstr>Magnetic Disks</vt:lpstr>
      <vt:lpstr>Magnetic Disk Performance</vt:lpstr>
      <vt:lpstr>The First Commercial Disk Drive</vt:lpstr>
      <vt:lpstr>Solid-State Disks</vt:lpstr>
      <vt:lpstr>Magnetic Tape</vt:lpstr>
      <vt:lpstr>Disk Structure</vt:lpstr>
      <vt:lpstr>Disk Attachment</vt:lpstr>
      <vt:lpstr>Storage Array</vt:lpstr>
      <vt:lpstr>Storage Area Network</vt:lpstr>
      <vt:lpstr>Storage Area Network (Cont.)</vt:lpstr>
      <vt:lpstr>Network-Attached Storage</vt:lpstr>
      <vt:lpstr>Disk Scheduling</vt:lpstr>
      <vt:lpstr>Disk Scheduling (Cont.)</vt:lpstr>
      <vt:lpstr>FCFS</vt:lpstr>
      <vt:lpstr>SSTF</vt:lpstr>
      <vt:lpstr>SSTF (Cont.)</vt:lpstr>
      <vt:lpstr>SCAN</vt:lpstr>
      <vt:lpstr>SCAN (Cont.)</vt:lpstr>
      <vt:lpstr>C-SCAN</vt:lpstr>
      <vt:lpstr>C-SCAN (Cont.)</vt:lpstr>
      <vt:lpstr>C-LOOK</vt:lpstr>
      <vt:lpstr>C-LOOK (Cont.)</vt:lpstr>
      <vt:lpstr>Selecting a Disk-Scheduling Algorithm</vt:lpstr>
      <vt:lpstr>Disk Management</vt:lpstr>
      <vt:lpstr>Booting from a Disk in Windows</vt:lpstr>
      <vt:lpstr>Swap-Space Management</vt:lpstr>
      <vt:lpstr>Data Structures for Swapping on  Linux Systems</vt:lpstr>
      <vt:lpstr>RAID Structure</vt:lpstr>
      <vt:lpstr>RAID (Cont.)</vt:lpstr>
      <vt:lpstr>RAID Levels</vt:lpstr>
      <vt:lpstr>RAID (0 + 1) and (1 + 0)</vt:lpstr>
      <vt:lpstr>Other Features</vt:lpstr>
      <vt:lpstr>Extensions</vt:lpstr>
      <vt:lpstr>ZFS Checksums All Metadata and Data</vt:lpstr>
      <vt:lpstr>Traditional and Pooled Storage</vt:lpstr>
      <vt:lpstr>Stable-Storage Implementation</vt:lpstr>
      <vt:lpstr>End of Chapter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Getulio Pereira</cp:lastModifiedBy>
  <cp:revision>141</cp:revision>
  <cp:lastPrinted>2011-04-11T19:58:11Z</cp:lastPrinted>
  <dcterms:created xsi:type="dcterms:W3CDTF">2011-04-11T19:57:28Z</dcterms:created>
  <dcterms:modified xsi:type="dcterms:W3CDTF">2020-10-08T15:13:43Z</dcterms:modified>
</cp:coreProperties>
</file>