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62" r:id="rId1"/>
  </p:sldMasterIdLst>
  <p:notesMasterIdLst>
    <p:notesMasterId r:id="rId47"/>
  </p:notesMasterIdLst>
  <p:handoutMasterIdLst>
    <p:handoutMasterId r:id="rId48"/>
  </p:handoutMasterIdLst>
  <p:sldIdLst>
    <p:sldId id="313" r:id="rId2"/>
    <p:sldId id="264" r:id="rId3"/>
    <p:sldId id="310" r:id="rId4"/>
    <p:sldId id="267" r:id="rId5"/>
    <p:sldId id="268" r:id="rId6"/>
    <p:sldId id="318" r:id="rId7"/>
    <p:sldId id="269" r:id="rId8"/>
    <p:sldId id="270" r:id="rId9"/>
    <p:sldId id="271" r:id="rId10"/>
    <p:sldId id="256" r:id="rId11"/>
    <p:sldId id="272" r:id="rId12"/>
    <p:sldId id="273" r:id="rId13"/>
    <p:sldId id="274" r:id="rId14"/>
    <p:sldId id="275" r:id="rId15"/>
    <p:sldId id="276" r:id="rId16"/>
    <p:sldId id="319" r:id="rId17"/>
    <p:sldId id="320" r:id="rId18"/>
    <p:sldId id="277" r:id="rId19"/>
    <p:sldId id="278" r:id="rId20"/>
    <p:sldId id="279" r:id="rId21"/>
    <p:sldId id="308" r:id="rId22"/>
    <p:sldId id="280" r:id="rId23"/>
    <p:sldId id="316" r:id="rId24"/>
    <p:sldId id="260" r:id="rId25"/>
    <p:sldId id="317" r:id="rId26"/>
    <p:sldId id="315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62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314" r:id="rId46"/>
  </p:sldIdLst>
  <p:sldSz cx="9144000" cy="6858000" type="screen4x3"/>
  <p:notesSz cx="6997700" cy="9283700"/>
  <p:defaultTextStyle>
    <a:defPPr>
      <a:defRPr lang="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01">
          <p15:clr>
            <a:srgbClr val="A4A3A4"/>
          </p15:clr>
        </p15:guide>
        <p15:guide id="2" pos="51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3"/>
  </p:normalViewPr>
  <p:slideViewPr>
    <p:cSldViewPr snapToGrid="0">
      <p:cViewPr varScale="1">
        <p:scale>
          <a:sx n="94" d="100"/>
          <a:sy n="94" d="100"/>
        </p:scale>
        <p:origin x="1624" y="200"/>
      </p:cViewPr>
      <p:guideLst>
        <p:guide orient="horz" pos="801"/>
        <p:guide pos="5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921A7D2C-F740-1245-8D56-D25BC662B40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492C4928-A724-7341-8B80-786F8C1DD73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EEECF5B6-28A1-A546-8292-270E3BF7CD4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pitchFamily="34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9" name="Rectangle 5">
            <a:extLst>
              <a:ext uri="{FF2B5EF4-FFF2-40B4-BE49-F238E27FC236}">
                <a16:creationId xmlns:a16="http://schemas.microsoft.com/office/drawing/2014/main" id="{5B3EC803-4BA7-4C4C-B07A-0D105E66C90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pitchFamily="2" charset="0"/>
              </a:defRPr>
            </a:lvl1pPr>
          </a:lstStyle>
          <a:p>
            <a:fld id="{130FF5F8-11FE-2245-A82A-A2C83DFED62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9E13B1E-FA78-F346-86F6-D7114C9FFE1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91F4325-582F-8B46-84E4-92EFB7607B0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EBED786-E77A-E04C-B964-5EC7AB2B4DD1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F59B8265-BA55-024F-8E44-FA3CB9CAAB6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37D57468-7CDE-F54E-8615-DCDF20BB7B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pitchFamily="18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BD37850B-1547-A94A-964B-3B350CD566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fld id="{7DDE7DD6-AE75-6F46-A477-839B5C79679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464DFD7D-9599-A74F-B4D6-46E09E5BB9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C903F9C-C020-124B-97CD-F9A8DB01AD5C}" type="slidenum">
              <a:rPr lang="en-US" altLang="pt-BR" sz="1300">
                <a:latin typeface="Times New Roman" panose="02020603050405020304" pitchFamily="18" charset="0"/>
              </a:rPr>
              <a:pPr/>
              <a:t>1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75F0AEA2-6F92-354E-827C-70420D72CA9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4ED6650-333E-E647-8C5E-008588105E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19F9694B-F946-9E4D-9403-6648E64702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DB4041B-7D99-564B-95A4-1AA323251B40}" type="slidenum">
              <a:rPr lang="en-US" altLang="pt-BR" sz="1300">
                <a:latin typeface="Times New Roman" panose="02020603050405020304" pitchFamily="18" charset="0"/>
              </a:rPr>
              <a:pPr/>
              <a:t>2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87D064F6-2D63-DE4E-B298-8554B9BC9A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8BA5913-9C03-D54F-8805-CDCE6FC88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03916A82-EAB9-384F-86E1-F6DC94A259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4E8C02C-331F-CD4E-BB08-1F7281E88A02}" type="slidenum">
              <a:rPr lang="en-US" altLang="pt-BR" sz="1300">
                <a:latin typeface="Times New Roman" panose="02020603050405020304" pitchFamily="18" charset="0"/>
              </a:rPr>
              <a:pPr/>
              <a:t>3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DCB80790-584D-274D-8AD0-F5F54C5AFF5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71E2298-5536-3743-85BE-C01DCB1FB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5C215B3C-B2EC-6549-B2B7-A1069DBC28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A6142DF-78E3-7241-A1C7-9573CECA26F6}" type="slidenum">
              <a:rPr lang="en-US" altLang="pt-BR" sz="1300">
                <a:latin typeface="Times New Roman" panose="02020603050405020304" pitchFamily="18" charset="0"/>
              </a:rPr>
              <a:pPr/>
              <a:t>4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DBDDC06D-8FAA-3242-9846-BDC157FA512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DF7802B-0522-5A4C-A6A0-15033D183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ADC41B5A-7CE8-6444-A898-0C28355BD0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E0CADD4-B26E-0B49-841A-1D0F860D67BD}" type="slidenum">
              <a:rPr lang="en-US" altLang="pt-BR" sz="1300">
                <a:latin typeface="Times New Roman" panose="02020603050405020304" pitchFamily="18" charset="0"/>
              </a:rPr>
              <a:pPr/>
              <a:t>5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A6AB924D-5BBB-C148-81B7-A072E2FA506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F61D794A-2DD2-3B4F-94C1-DA87915286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>
            <a:extLst>
              <a:ext uri="{FF2B5EF4-FFF2-40B4-BE49-F238E27FC236}">
                <a16:creationId xmlns:a16="http://schemas.microsoft.com/office/drawing/2014/main" id="{0B9B13E7-2535-1A48-ADD4-A9772BFE1C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ACEC60F-0D51-CB4D-B634-7D843D702755}" type="slidenum">
              <a:rPr lang="en-US" altLang="pt-BR" sz="1300">
                <a:latin typeface="Times New Roman" panose="02020603050405020304" pitchFamily="18" charset="0"/>
              </a:rPr>
              <a:pPr/>
              <a:t>6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3F36F796-970D-4641-8682-B583C9F7783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65DD66A-7B0F-CC4E-96B0-4AB4B103EB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301CBB1B-9781-E54F-9F5E-90DA9BBA38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56766DD-FA80-854B-8E0D-42DE7E03BFD4}" type="slidenum">
              <a:rPr lang="en-US" altLang="pt-BR" sz="1300">
                <a:latin typeface="Times New Roman" panose="02020603050405020304" pitchFamily="18" charset="0"/>
              </a:rPr>
              <a:pPr/>
              <a:t>7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4EA45407-AC17-EA48-A592-FE9E98B9125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16BDFF2-1C8F-B844-823B-6318F5B1D6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554DCB36-1443-5F46-A340-E2F6EB0ED5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C3528FB-4F92-164D-863F-C6E9832375A3}" type="slidenum">
              <a:rPr lang="en-US" altLang="pt-BR" sz="1300">
                <a:latin typeface="Times New Roman" panose="02020603050405020304" pitchFamily="18" charset="0"/>
              </a:rPr>
              <a:pPr/>
              <a:t>8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FE48CAA7-8C41-234C-8848-CD92E14903D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5E0FC796-73AE-1D4D-8B3E-8BF015EB0B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4D1D4A87-3DCC-BF4B-9FA3-489C849DC9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89EEE6E-7D06-2A4B-ADDC-57A8B4A8BC2E}" type="slidenum">
              <a:rPr lang="en-US" altLang="pt-BR" sz="1300">
                <a:latin typeface="Times New Roman" panose="02020603050405020304" pitchFamily="18" charset="0"/>
              </a:rPr>
              <a:pPr/>
              <a:t>9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7A6C89DE-5E54-3E4F-AC8A-01206552746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1FF92FC-51FE-8946-8F97-C5023A9383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7D32FCF0-FBE3-5C48-B835-0E0AD6EACA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DFF201F-43E8-4841-80D9-B4844A7C2EE7}" type="slidenum">
              <a:rPr lang="en-US" altLang="pt-BR" sz="1300">
                <a:latin typeface="Times New Roman" panose="02020603050405020304" pitchFamily="18" charset="0"/>
              </a:rPr>
              <a:pPr/>
              <a:t>10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0301BF48-9BB5-B046-8BB5-037D69F9F48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8D64BDEF-B6CF-1345-89D4-93506B800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2007DCC9-756C-D84D-970B-71B9D004E8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FB39A52-CEE0-444D-960C-16F2EBDDB611}" type="slidenum">
              <a:rPr lang="en-US" altLang="pt-BR" sz="1300">
                <a:latin typeface="Times New Roman" panose="02020603050405020304" pitchFamily="18" charset="0"/>
              </a:rPr>
              <a:pPr/>
              <a:t>11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6BFEF925-D08B-4A4E-AB89-42E701CBE64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3BC2671-2DBB-8B4B-B9D7-5F7A2C55B8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F4474A32-F0AF-9D40-BC93-C6B2ED575F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4F5371E-4A18-1B4D-85FA-D384AF66B140}" type="slidenum">
              <a:rPr lang="en-US" altLang="pt-BR" sz="1300">
                <a:latin typeface="Times New Roman" panose="02020603050405020304" pitchFamily="18" charset="0"/>
              </a:rPr>
              <a:pPr/>
              <a:t>12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7F2445A1-FA49-1044-9C77-575778E3C1A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A6BA3D2-5593-5D4D-87F1-119DCBF019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AE616434-D4C1-FC49-9B53-AB2211F197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5C3BBC4-7BC6-5F4A-9B89-D86A997B9A24}" type="slidenum">
              <a:rPr lang="en-US" altLang="pt-BR" sz="1300">
                <a:latin typeface="Times New Roman" panose="02020603050405020304" pitchFamily="18" charset="0"/>
              </a:rPr>
              <a:pPr/>
              <a:t>13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2FF4FEB2-D419-E04D-9908-B9A78C7CA7A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ACE822A-F5F2-9B48-84F0-C3B4D427D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2502A347-A898-4B4D-9C6B-686DB0488A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94120C4-68F2-AA49-A6F3-D50E7F991327}" type="slidenum">
              <a:rPr lang="en-US" altLang="pt-BR" sz="1300">
                <a:latin typeface="Times New Roman" panose="02020603050405020304" pitchFamily="18" charset="0"/>
              </a:rPr>
              <a:pPr/>
              <a:t>14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880D72EE-2D7C-EB44-BC05-BDC4B8D217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CE3EB8A8-013F-A140-B432-6BD9A58052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89E46F54-0966-504A-B4F6-64C71ADEE3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A146E96-39BC-B446-AD18-30997CCCE823}" type="slidenum">
              <a:rPr lang="en-US" altLang="pt-BR" sz="1300">
                <a:latin typeface="Times New Roman" panose="02020603050405020304" pitchFamily="18" charset="0"/>
              </a:rPr>
              <a:pPr/>
              <a:t>15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52ACBFA7-AD7D-A840-8C5C-374358C46CF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E363682D-3D03-6442-9734-5D8436E0EC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FF954B51-16D4-CE49-A6B7-3CEAEF8CDA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A616DF9-843C-FB4A-BFCE-607833D6A9F0}" type="slidenum">
              <a:rPr lang="en-US" altLang="pt-BR" sz="1300">
                <a:latin typeface="Times New Roman" panose="02020603050405020304" pitchFamily="18" charset="0"/>
              </a:rPr>
              <a:pPr/>
              <a:t>16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2592791C-0CA6-1B44-930A-8043D6790C2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D416281-E3E1-1A41-9A7F-EA4224E1C7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285246AE-BA7A-D249-8A3D-E86556F4AC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B5E78C5-62D7-934E-8921-40C8887D114A}" type="slidenum">
              <a:rPr lang="en-US" altLang="pt-BR" sz="1300">
                <a:latin typeface="Times New Roman" panose="02020603050405020304" pitchFamily="18" charset="0"/>
              </a:rPr>
              <a:pPr/>
              <a:t>17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6053298E-052F-0D4C-AB9D-4D43882CEC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B07859F-B9A3-624B-A87E-37CADCF3C7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788C437C-694D-7E47-99AE-465046E1F6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85D8AB6-CF1E-444B-8AA9-FA6747824EF4}" type="slidenum">
              <a:rPr lang="en-US" altLang="pt-BR" sz="1300">
                <a:latin typeface="Times New Roman" panose="02020603050405020304" pitchFamily="18" charset="0"/>
              </a:rPr>
              <a:pPr/>
              <a:t>18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5ABBEDB3-23A2-1B4B-A0A1-1BC4F1C62A4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103505B6-E852-304C-9728-BB70F24CFF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2EA7E999-3481-B746-A02D-803B057A85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EB4CE69-E965-D543-BE69-794967C81339}" type="slidenum">
              <a:rPr lang="en-US" altLang="pt-BR" sz="1300">
                <a:latin typeface="Times New Roman" panose="02020603050405020304" pitchFamily="18" charset="0"/>
              </a:rPr>
              <a:pPr/>
              <a:t>19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828BA6C5-937C-9D49-BC36-B5D7BF2A3C3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26101F8-D9BF-594B-9D32-C06B8A3BDE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51630B3C-0081-1D43-A442-53580B4382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E285B5C-CA48-2B4C-ACBB-11A5AC9C32EF}" type="slidenum">
              <a:rPr lang="en-US" altLang="pt-BR" sz="1300">
                <a:latin typeface="Times New Roman" panose="02020603050405020304" pitchFamily="18" charset="0"/>
              </a:rPr>
              <a:pPr/>
              <a:t>20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4091366E-E2ED-D842-ABC6-0B6A6D5EDF9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8FCE732-62F2-E645-8E45-1B8AA2FEF6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61F5D210-2DD8-ED4B-B12B-A3F8860CCA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E1043E5-F61E-2A42-8147-8E6D590C3BBC}" type="slidenum">
              <a:rPr lang="en-US" altLang="pt-BR" sz="1300">
                <a:latin typeface="Times New Roman" panose="02020603050405020304" pitchFamily="18" charset="0"/>
              </a:rPr>
              <a:pPr/>
              <a:t>21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44BCEEB0-16AA-364B-AA5A-1701E3A02FA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4AADB2FF-E813-E64F-B8EB-768116B46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>
            <a:extLst>
              <a:ext uri="{FF2B5EF4-FFF2-40B4-BE49-F238E27FC236}">
                <a16:creationId xmlns:a16="http://schemas.microsoft.com/office/drawing/2014/main" id="{4840E349-BF57-3340-AE14-B0EA44F8B4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9B484EF-B4BB-024B-8114-C16F5FD1DFA3}" type="slidenum">
              <a:rPr lang="en-US" altLang="pt-BR" sz="1300">
                <a:latin typeface="Times New Roman" panose="02020603050405020304" pitchFamily="18" charset="0"/>
              </a:rPr>
              <a:pPr/>
              <a:t>22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D56AD693-52E0-324E-B9BE-7F17EAA1D98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33ED498-0BBF-1E46-8F56-C9B9B9ADA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94118FC4-DCC7-D84A-B5DC-F877962F3D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B2F73C3-86CA-B447-AE21-BC6F60F2F779}" type="slidenum">
              <a:rPr lang="en-US" altLang="pt-BR" sz="1300">
                <a:latin typeface="Times New Roman" panose="02020603050405020304" pitchFamily="18" charset="0"/>
              </a:rPr>
              <a:pPr/>
              <a:t>23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B1D330CD-2B11-B848-9BFF-559C8093653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5CACCFEA-715B-1648-AC06-736CCCD3FE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ED1A7C28-8F62-5544-A061-B86ADA2B96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7BE08FC-F1C6-A34B-8E16-D70399FAF84B}" type="slidenum">
              <a:rPr lang="en-US" altLang="pt-BR" sz="1300">
                <a:latin typeface="Times New Roman" panose="02020603050405020304" pitchFamily="18" charset="0"/>
              </a:rPr>
              <a:pPr/>
              <a:t>24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BE77FC93-481E-5C4C-9EC7-420B04C1F5F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7213BBB4-9BB9-4B45-84CE-DEAD7B518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5E9B7678-A821-6D44-AD11-95439F22B0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484EAB6-A2BF-F648-83F5-EB25AA1DDF82}" type="slidenum">
              <a:rPr lang="en-US" altLang="pt-BR" sz="1300">
                <a:latin typeface="Times New Roman" panose="02020603050405020304" pitchFamily="18" charset="0"/>
              </a:rPr>
              <a:pPr/>
              <a:t>25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71526775-AFE0-3845-8669-D417BEBC7C7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8EA1ECC8-6138-7B48-A7F0-CB808CD95A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4BEBFDB3-B841-4645-A7F0-673D21BCFD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E98727F-5D93-2544-8061-F3A2A43E3B19}" type="slidenum">
              <a:rPr lang="en-US" altLang="pt-BR" sz="1300">
                <a:latin typeface="Times New Roman" panose="02020603050405020304" pitchFamily="18" charset="0"/>
              </a:rPr>
              <a:pPr/>
              <a:t>26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ABADD718-A24E-9C40-9557-E68167258E7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B20B236-5249-4143-B95F-92DE8ECFFB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7CDF7529-804E-AB4F-832C-A4D4655794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69958F0-7924-8944-A405-20C50B8F2FF0}" type="slidenum">
              <a:rPr lang="en-US" altLang="pt-BR" sz="1300">
                <a:latin typeface="Times New Roman" panose="02020603050405020304" pitchFamily="18" charset="0"/>
              </a:rPr>
              <a:pPr/>
              <a:t>27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DCBC915D-6C05-1945-8FE6-DF44F8C5D2D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06835DC-0719-9849-B80F-E43D00A7E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8CC7A2D7-2EFF-834A-A595-B21715174F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F38574A-F9CA-F149-A404-2B8FDE7D8610}" type="slidenum">
              <a:rPr lang="en-US" altLang="pt-BR" sz="1300">
                <a:latin typeface="Times New Roman" panose="02020603050405020304" pitchFamily="18" charset="0"/>
              </a:rPr>
              <a:pPr/>
              <a:t>28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8D173DB1-7F40-DB43-9D5D-44931544EF6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5548149D-7672-0042-B9C2-57CE6C5264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37D8A230-BB63-AD48-B6CE-94287FBE4B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23D5F23-DE5A-3E49-8C7A-05116F75F254}" type="slidenum">
              <a:rPr lang="en-US" altLang="pt-BR" sz="1300">
                <a:latin typeface="Times New Roman" panose="02020603050405020304" pitchFamily="18" charset="0"/>
              </a:rPr>
              <a:pPr/>
              <a:t>29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38AF4E24-5FD4-0444-B447-ADDB13D00F5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DB7F6B2-9E04-584D-948E-D397D55C39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42B58C01-00CB-524A-A35C-3A64037A45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DF4832A-F81D-3B41-8D58-3DB97A28C73D}" type="slidenum">
              <a:rPr lang="en-US" altLang="pt-BR" sz="1300">
                <a:latin typeface="Times New Roman" panose="02020603050405020304" pitchFamily="18" charset="0"/>
              </a:rPr>
              <a:pPr/>
              <a:t>30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65A6DC80-1B58-A540-9DC1-E834C2AA7F5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4ABEA7C6-BF6E-614C-9CB2-AC69E8A514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75038723-E251-7F49-8AD3-F03FB2F2CF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ED26A7B-2A1E-0240-8A1E-AB9EF09EB3C2}" type="slidenum">
              <a:rPr lang="en-US" altLang="pt-BR" sz="1300">
                <a:latin typeface="Times New Roman" panose="02020603050405020304" pitchFamily="18" charset="0"/>
              </a:rPr>
              <a:pPr/>
              <a:t>31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C99877B3-01EE-5045-896E-9FCD392CA2A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7466FE5-01A2-2440-931A-0B554AD183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06FFC358-6D75-1E44-BC41-7632C28625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E0755BE-96FA-894C-B239-96DD6620A915}" type="slidenum">
              <a:rPr lang="en-US" altLang="pt-BR" sz="1300">
                <a:latin typeface="Times New Roman" panose="02020603050405020304" pitchFamily="18" charset="0"/>
              </a:rPr>
              <a:pPr/>
              <a:t>32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BB527501-E11E-2E46-87E7-711F977E805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BE9F01BB-45C9-2349-AB28-CE8DD85C5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B59907E8-BC9D-3044-A7D9-D65650E264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8EFAA92-F46B-014E-A806-D2B26C3E044F}" type="slidenum">
              <a:rPr lang="en-US" altLang="pt-BR" sz="1300">
                <a:latin typeface="Times New Roman" panose="02020603050405020304" pitchFamily="18" charset="0"/>
              </a:rPr>
              <a:pPr/>
              <a:t>33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03FAD7E3-1E16-0B47-8316-E6CD19FF5AA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D5B5C30E-E91E-E049-BC36-480B9E5357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796ED845-7F38-3146-AF0C-43F558D496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5A8090C-925C-5244-ACA6-37EA1F6CF06D}" type="slidenum">
              <a:rPr lang="en-US" altLang="pt-BR" sz="1300">
                <a:latin typeface="Times New Roman" panose="02020603050405020304" pitchFamily="18" charset="0"/>
              </a:rPr>
              <a:pPr/>
              <a:t>34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B8FACF89-81A8-8548-854A-1CA4A059D1A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D9D01FB9-0F4B-5849-BA6B-7D80F99AEF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2CF681AD-FA19-2742-BA86-1F786915DB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13D3EA0-DD61-8F4D-963E-155DA5D1F57B}" type="slidenum">
              <a:rPr lang="en-US" altLang="pt-BR" sz="1300">
                <a:latin typeface="Times New Roman" panose="02020603050405020304" pitchFamily="18" charset="0"/>
              </a:rPr>
              <a:pPr/>
              <a:t>35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81B9C481-EC17-0545-876B-623FF2E3236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2CA1084E-6268-6647-8415-B3C05447D9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B6157E99-426C-F240-8F55-8296EBEFE1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0455BD6-9E50-0B42-AED9-3BDCD2F31446}" type="slidenum">
              <a:rPr lang="en-US" altLang="pt-BR" sz="1300">
                <a:latin typeface="Times New Roman" panose="02020603050405020304" pitchFamily="18" charset="0"/>
              </a:rPr>
              <a:pPr/>
              <a:t>36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4A8417A1-1D0B-1B4B-A0B7-211F53C6023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57061893-F679-5646-B1B2-0BF338C821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3053EA6B-796E-924F-9308-26F3DD751F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7C6C898-ADDA-0643-9F9A-0B00AEAEF8CE}" type="slidenum">
              <a:rPr lang="en-US" altLang="pt-BR" sz="1300">
                <a:latin typeface="Times New Roman" panose="02020603050405020304" pitchFamily="18" charset="0"/>
              </a:rPr>
              <a:pPr/>
              <a:t>37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D270FA14-7D72-704B-9424-8DC3D85229C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747ACDE8-B680-234C-8385-4CDC22AEA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3A614346-B2F4-1E4A-B899-A96B805DB6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E59EE88-EEFA-7848-A2E1-ED598E31AAF8}" type="slidenum">
              <a:rPr lang="en-US" altLang="pt-BR" sz="1300">
                <a:latin typeface="Times New Roman" panose="02020603050405020304" pitchFamily="18" charset="0"/>
              </a:rPr>
              <a:pPr/>
              <a:t>38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5001E5BF-DBDF-6146-A5E7-D4345060E3F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70F70ED-77A1-8849-850B-10208D2599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719A0FD9-F0F3-874E-B331-794FF2355D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2DDB85C-C266-0F4B-B497-56C2C8655750}" type="slidenum">
              <a:rPr lang="en-US" altLang="pt-BR" sz="1300">
                <a:latin typeface="Times New Roman" panose="02020603050405020304" pitchFamily="18" charset="0"/>
              </a:rPr>
              <a:pPr/>
              <a:t>39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11FF856E-F52E-F14A-97F2-810C0C1F9FA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376B28E1-42BB-9E4C-857A-129FCBE8FA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05C125FE-398F-1049-9059-10A95B8F74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679FA6B-765B-7C45-82CA-1C7A247F01C4}" type="slidenum">
              <a:rPr lang="en-US" altLang="pt-BR" sz="1300">
                <a:latin typeface="Times New Roman" panose="02020603050405020304" pitchFamily="18" charset="0"/>
              </a:rPr>
              <a:pPr/>
              <a:t>40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47FD1B7F-FF23-7542-8D2C-841CD5BAF96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99617E2B-3F46-8140-8E46-C43717E5C7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78FED582-A132-5947-A6CB-9BD96F3C11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139D7EB-7E35-A149-86AA-FA9209762D0C}" type="slidenum">
              <a:rPr lang="en-US" altLang="pt-BR" sz="1300">
                <a:latin typeface="Times New Roman" panose="02020603050405020304" pitchFamily="18" charset="0"/>
              </a:rPr>
              <a:pPr/>
              <a:t>41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4C157C4A-A79C-AD47-B565-20125069856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F66C82E1-FDF3-8D4E-822E-E5AC9E1DBE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1D1EC715-0038-CD45-93B2-BA77C157DE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873AE9B-4A0A-F048-BA8F-62B8687F443D}" type="slidenum">
              <a:rPr lang="en-US" altLang="pt-BR" sz="1300">
                <a:latin typeface="Times New Roman" panose="02020603050405020304" pitchFamily="18" charset="0"/>
              </a:rPr>
              <a:pPr/>
              <a:t>42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D9D9AC2B-D23A-134A-972D-77DAF5597D1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82EC7900-0A36-6F46-8C6C-852DE679C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>
            <a:extLst>
              <a:ext uri="{FF2B5EF4-FFF2-40B4-BE49-F238E27FC236}">
                <a16:creationId xmlns:a16="http://schemas.microsoft.com/office/drawing/2014/main" id="{E2375ABF-64E7-C941-861E-73BE7C023E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78C9B9A-E6CA-314D-ACF6-15B6382FB1E6}" type="slidenum">
              <a:rPr lang="en-US" altLang="pt-BR" sz="1300">
                <a:latin typeface="Times New Roman" panose="02020603050405020304" pitchFamily="18" charset="0"/>
              </a:rPr>
              <a:pPr/>
              <a:t>43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41AFD4AA-2F45-7148-BE7B-58832E7EA84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62D02E11-D6B6-CB40-A2CA-340C4E262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>
            <a:extLst>
              <a:ext uri="{FF2B5EF4-FFF2-40B4-BE49-F238E27FC236}">
                <a16:creationId xmlns:a16="http://schemas.microsoft.com/office/drawing/2014/main" id="{E51DDF8A-A541-C84D-98F8-8F3CA5F271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F97FE01-350F-0643-AD19-7F6729AF2B39}" type="slidenum">
              <a:rPr lang="en-US" altLang="pt-BR" sz="1300">
                <a:latin typeface="Times New Roman" panose="02020603050405020304" pitchFamily="18" charset="0"/>
              </a:rPr>
              <a:pPr/>
              <a:t>44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5E859F7B-6722-9241-BDB3-570B1D3D8DD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123DFA32-78B3-AB47-B814-AC9155BD84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DA520216-1B78-634A-AD43-564A839B73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813506C-432A-2C43-9F75-EB8378C418D8}" type="slidenum">
              <a:rPr lang="en-US" altLang="pt-BR" sz="1300">
                <a:latin typeface="Times New Roman" panose="02020603050405020304" pitchFamily="18" charset="0"/>
              </a:rPr>
              <a:pPr/>
              <a:t>45</a:t>
            </a:fld>
            <a:endParaRPr lang="en-US" altLang="pt-BR" sz="1300">
              <a:latin typeface="Times New Roman" panose="02020603050405020304" pitchFamily="18" charset="0"/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5AB07A5A-3DDF-5E45-BFF6-6B1818DB0ED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72D60A9A-1F4B-9141-9A79-1836219FCD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7560B7F-D658-ED41-BA7D-BE9A2858174E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4057202-E472-904D-A544-1332BCC04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8AEC3528-314F-EA43-B626-D88DF10EC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378D35E-41ED-604B-812C-28AF74F6D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6184F267-2267-9C42-B7CA-798F00A091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000" b="1">
                <a:solidFill>
                  <a:srgbClr val="33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B1DB35EC-843A-694C-925E-FDDB1EB60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000" b="1">
                <a:solidFill>
                  <a:srgbClr val="336699"/>
                </a:solidFill>
                <a:latin typeface="Helvetica" pitchFamily="2" charset="0"/>
              </a:rPr>
              <a:t>Operating System Concepts – 9</a:t>
            </a:r>
            <a:r>
              <a:rPr lang="en-US" altLang="pt-BR" sz="1000" b="1" baseline="3000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pt-BR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78EB1261-091A-344C-89E8-47ECA9542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27151CD2-391D-B945-9059-BE8A45C02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16375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1208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0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8917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09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0609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1559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7431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951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028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11628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0166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70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E9CE8AD0-3C0C-774E-9240-6EE6D572D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5221F554-E2E5-274D-81C2-AEBD59409A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9D991E0-E145-124E-8E65-B4DF21EACC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0F4436D-24AA-2F49-8C28-DA90D749C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49B24FE8-C6C0-534A-97DA-051E0535EB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EE531A2-B652-3F43-89E2-87AD2F1E5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7E20B3B-B50F-F441-B354-A69AF51E2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>
              <a:latin typeface="Times New Roman" panose="02020603050405020304" pitchFamily="18" charset="0"/>
            </a:endParaRPr>
          </a:p>
        </p:txBody>
      </p:sp>
      <p:sp>
        <p:nvSpPr>
          <p:cNvPr id="119817" name="Text Box 9">
            <a:extLst>
              <a:ext uri="{FF2B5EF4-FFF2-40B4-BE49-F238E27FC236}">
                <a16:creationId xmlns:a16="http://schemas.microsoft.com/office/drawing/2014/main" id="{7DB17AA2-2BA6-454E-B970-EA0C44016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000" b="1">
                <a:solidFill>
                  <a:srgbClr val="006699"/>
                </a:solidFill>
                <a:latin typeface="Helvetica" pitchFamily="2" charset="0"/>
              </a:rPr>
              <a:t>7.</a:t>
            </a:r>
            <a:fld id="{19613ACC-9B5D-1E4E-A745-047E3F13C175}" type="slidenum">
              <a:rPr lang="en-US" altLang="pt-BR" sz="1000" b="1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</a:pPr>
              <a:t>‹nº›</a:t>
            </a:fld>
            <a:endParaRPr lang="en-US" altLang="pt-BR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19818" name="Text Box 10">
            <a:extLst>
              <a:ext uri="{FF2B5EF4-FFF2-40B4-BE49-F238E27FC236}">
                <a16:creationId xmlns:a16="http://schemas.microsoft.com/office/drawing/2014/main" id="{002B9C30-8073-E546-AFA2-786A26481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000" b="1">
                <a:solidFill>
                  <a:srgbClr val="00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119819" name="Text Box 11">
            <a:extLst>
              <a:ext uri="{FF2B5EF4-FFF2-40B4-BE49-F238E27FC236}">
                <a16:creationId xmlns:a16="http://schemas.microsoft.com/office/drawing/2014/main" id="{F8058F89-0CCB-DC4B-B2E5-74A2DD3F4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63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000" b="1">
                <a:solidFill>
                  <a:srgbClr val="006699"/>
                </a:solidFill>
                <a:latin typeface="Helvetica" pitchFamily="2" charset="0"/>
              </a:rPr>
              <a:t>Operating System Concepts – 9</a:t>
            </a:r>
            <a:r>
              <a:rPr lang="en-US" altLang="pt-BR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pt-BR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06A31CD2-46AB-3045-8255-601BD26CC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2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1CF9B6BA-E95F-F341-B2ED-74C945B64F4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7: Impasses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437EE335-064D-8148-8948-BC8B05AD4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6450" y="277813"/>
            <a:ext cx="788035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7: Impasses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4E12C946-8A63-3A44-9C13-3D9A2D70EF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xmlns:a="http://schemas.openxmlformats.org/drawingml/2006/main">
              <a:buSzPct val="85000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 de Sistema</a:t>
            </a:r>
          </a:p>
          <a:p>
            <a:pPr xmlns:a="http://schemas.openxmlformats.org/drawingml/2006/main">
              <a:buSzPct val="85000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Caracterização de Deadlock</a:t>
            </a:r>
          </a:p>
          <a:p>
            <a:pPr xmlns:a="http://schemas.openxmlformats.org/drawingml/2006/main">
              <a:buSzPct val="85000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Métodos para lidar com deadlocks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Prevenção de Deadlock</a:t>
            </a:r>
          </a:p>
          <a:p>
            <a:pPr xmlns:a="http://schemas.openxmlformats.org/drawingml/2006/main">
              <a:buSzPct val="85000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Prevenção de Deadlock</a:t>
            </a:r>
          </a:p>
          <a:p>
            <a:pPr xmlns:a="http://schemas.openxmlformats.org/drawingml/2006/main">
              <a:buSzPct val="85000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Detecção de Deadlock</a:t>
            </a:r>
          </a:p>
          <a:p>
            <a:pPr xmlns:a="http://schemas.openxmlformats.org/drawingml/2006/main">
              <a:buSzPct val="85000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Recuperação do Deadlock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4DDBF4CD-05F6-9449-9C93-B500AF6A26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Objetivos do Capítulo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51460BC5-5FBE-8848-B9B9-D57AB3B7D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607300" cy="4500562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Desenvolver uma descrição de deadlocks, que impedem conjuntos de processos simultâneos de concluir suas tarefas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Apresentar uma série de métodos diferentes para prevenir ou evitar deadlocks em um sistema de computador</a:t>
            </a:r>
          </a:p>
          <a:p>
            <a:pPr>
              <a:buSzPct val="85000"/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50951A1B-34CC-0949-B188-868F7CDF9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 de Sistema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BE3B5BF3-CF03-9049-A32F-2DDFB27823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425575"/>
            <a:ext cx="7351712" cy="448310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consiste em recursos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Tipos de recursos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. . .,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m</a:t>
            </a:r>
          </a:p>
          <a:p>
            <a:pPr xmlns:a="http://schemas.openxmlformats.org/drawingml/2006/main" lvl="2">
              <a:buFont typeface="Webdings" pitchFamily="2" charset="2"/>
              <a:buNone/>
            </a:pP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Ciclos de CPU, espaço de memória, dispositivos de E/S</a:t>
            </a:r>
          </a:p>
          <a:p>
            <a:pPr lvl="2">
              <a:buFont typeface="Webdings" pitchFamily="2" charset="2"/>
              <a:buNone/>
            </a:pPr>
            <a:endParaRPr lang="en-US" altLang="pt-BR" i="1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tipo de recurso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 instâncias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W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.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processo utiliza um recurso da seguinte forma: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solicitar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usar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liberar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114E4ED2-4CD6-DF47-A27B-D88217A469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77813"/>
            <a:ext cx="79375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Caracterização de Deadlock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CE679636-5EBD-5F46-9407-69B6180FA3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35088" y="1793875"/>
            <a:ext cx="7204075" cy="4668838"/>
          </a:xfrm>
        </p:spPr>
        <p:txBody>
          <a:bodyPr/>
          <a:lstStyle/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Exclusão mútua: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apenas um processo por vez pode usar um recurso</a:t>
            </a:r>
          </a:p>
          <a:p>
            <a:endParaRPr lang="en-US" altLang="pt-BR" sz="8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Segurar e esperar: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processo que detém pelo menos um recurso está esperando para adquirir recursos adicionais mantidos por outros processos</a:t>
            </a:r>
          </a:p>
          <a:p>
            <a:endParaRPr lang="en-US" altLang="pt-BR" sz="8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Sem preempção: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recurso só pode ser liberado voluntariamente pelo processo que o detém, depois que esse processo tiver concluído sua tarefa</a:t>
            </a:r>
          </a:p>
          <a:p>
            <a:endParaRPr lang="en-US" altLang="pt-BR" sz="8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Espera circular: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existe um conjunto {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…,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} de processos de espera, tal que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está esperando por um recurso mantido por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está esperando por um recurso mantido por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…,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–1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está esperando por um recurso mantido por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está esperando por um recurso mantido por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.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  <p:sp>
        <p:nvSpPr>
          <p:cNvPr id="13315" name="Text Box 5">
            <a:extLst>
              <a:ext uri="{FF2B5EF4-FFF2-40B4-BE49-F238E27FC236}">
                <a16:creationId xmlns:a16="http://schemas.microsoft.com/office/drawing/2014/main" id="{5748EEB2-91EE-8C4F-9BEB-985261A8F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1317625"/>
            <a:ext cx="63531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Um impasse pode surgir se quatro condições ocorrerem simultaneamente.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>
            <a:extLst>
              <a:ext uri="{FF2B5EF4-FFF2-40B4-BE49-F238E27FC236}">
                <a16:creationId xmlns:a16="http://schemas.microsoft.com/office/drawing/2014/main" id="{A670672B-0BF3-5B46-9098-88FB769710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77813"/>
            <a:ext cx="79375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Deadlock com travas Mutex</a:t>
            </a:r>
          </a:p>
        </p:txBody>
      </p:sp>
      <p:sp>
        <p:nvSpPr>
          <p:cNvPr id="15362" name="Rectangle 3">
            <a:extLst>
              <a:ext uri="{FF2B5EF4-FFF2-40B4-BE49-F238E27FC236}">
                <a16:creationId xmlns:a16="http://schemas.microsoft.com/office/drawing/2014/main" id="{B9C52EE5-4FB0-A544-A96F-4BD884CF95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6925" y="1090613"/>
            <a:ext cx="7742238" cy="537210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Deadlocks podem ocorrer por meio de chamadas de sistema, bloqueios, etc.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Veja a caixa de exemplo na página de texto 318 para deadlock de mutex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9F4BFEF-EB41-094B-9C69-4824C50F4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300" y="277813"/>
            <a:ext cx="76835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Gráfico de alocação de recursos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9BCC740C-D20A-4144-931B-834D4184EA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4275" y="1809750"/>
            <a:ext cx="7265988" cy="40195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 é particionado em dois tipos: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{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…,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}, o conjunto que consiste em todos os processos do sistema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{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…,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}, o conjunto que consiste em todos os tipos de recursos no sistema</a:t>
            </a:r>
          </a:p>
          <a:p>
            <a:pPr lvl="1"/>
            <a:endParaRPr lang="en-US" altLang="pt-BR" sz="9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solicitação de borda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aresta direcionada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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R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j</a:t>
            </a:r>
          </a:p>
          <a:p>
            <a:endParaRPr lang="en-US" altLang="pt-BR" sz="800" i="1" baseline="-25000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borda de atribuição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aresta direcionada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j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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Pi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​</a:t>
            </a:r>
            <a:endParaRPr xmlns:a="http://schemas.openxmlformats.org/drawingml/2006/main" lang="en-US" altLang="pt-BR">
              <a:ea typeface="ＭＳ Ｐゴシック" panose="020B0600070205080204" pitchFamily="34" charset="-128"/>
              <a:sym typeface="Symbol" pitchFamily="2" charset="2"/>
            </a:endParaRPr>
          </a:p>
        </p:txBody>
      </p:sp>
      <p:sp>
        <p:nvSpPr>
          <p:cNvPr id="17411" name="Text Box 4">
            <a:extLst>
              <a:ext uri="{FF2B5EF4-FFF2-40B4-BE49-F238E27FC236}">
                <a16:creationId xmlns:a16="http://schemas.microsoft.com/office/drawing/2014/main" id="{070CCB60-F0AA-3A45-BE3C-876AB12DC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271588"/>
            <a:ext cx="469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Um conjunto de vértices </a:t>
            </a:r>
            <a:r xmlns:a="http://schemas.openxmlformats.org/drawingml/2006/main">
              <a:rPr lang="pt" altLang="pt-BR" sz="2000" i="1">
                <a:latin typeface="Helvetica" pitchFamily="2" charset="0"/>
              </a:rPr>
              <a:t>V </a:t>
            </a:r>
            <a:r xmlns:a="http://schemas.openxmlformats.org/drawingml/2006/main">
              <a:rPr lang="pt" altLang="pt-BR" sz="2000">
                <a:latin typeface="Helvetica" pitchFamily="2" charset="0"/>
              </a:rPr>
              <a:t>e um conjunto de arestas </a:t>
            </a:r>
            <a:r xmlns:a="http://schemas.openxmlformats.org/drawingml/2006/main">
              <a:rPr lang="pt" altLang="pt-BR" sz="2000" i="1">
                <a:latin typeface="Helvetica" pitchFamily="2" charset="0"/>
              </a:rPr>
              <a:t>E </a:t>
            </a:r>
            <a:r xmlns:a="http://schemas.openxmlformats.org/drawingml/2006/main">
              <a:rPr lang="pt" altLang="pt-BR" sz="2000">
                <a:latin typeface="Helvetica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EA830250-8430-CA40-A098-D073D7E4AC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6300" y="277813"/>
            <a:ext cx="78105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Gráfico de alocação de recursos (cont.)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ACE26CEF-A26C-A74E-B554-4C68A6EEF5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Tipo de recurso com 4 instâncias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Pi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​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solicita instância de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j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está segurando uma instância de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j</a:t>
            </a:r>
            <a:endParaRPr xmlns:a="http://schemas.openxmlformats.org/drawingml/2006/main" lang="en-US" altLang="pt-BR" i="1">
              <a:ea typeface="ＭＳ Ｐゴシック" panose="020B0600070205080204" pitchFamily="34" charset="-128"/>
            </a:endParaRPr>
          </a:p>
        </p:txBody>
      </p:sp>
      <p:sp>
        <p:nvSpPr>
          <p:cNvPr id="19459" name="Oval 4">
            <a:extLst>
              <a:ext uri="{FF2B5EF4-FFF2-40B4-BE49-F238E27FC236}">
                <a16:creationId xmlns:a16="http://schemas.microsoft.com/office/drawing/2014/main" id="{1415DA92-AE98-3B40-9CBC-77B6BB824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1619250"/>
            <a:ext cx="495300" cy="495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19460" name="Oval 5">
            <a:extLst>
              <a:ext uri="{FF2B5EF4-FFF2-40B4-BE49-F238E27FC236}">
                <a16:creationId xmlns:a16="http://schemas.microsoft.com/office/drawing/2014/main" id="{4B7854AD-F932-5C4E-A0C3-A6F290327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562600"/>
            <a:ext cx="495300" cy="495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 i="1">
                <a:latin typeface="Helvetica" pitchFamily="2" charset="0"/>
              </a:rPr>
              <a:t>Pi</a:t>
            </a:r>
            <a:r xmlns:a="http://schemas.openxmlformats.org/drawingml/2006/main">
              <a:rPr lang="pt" altLang="pt-BR" sz="1800" i="1" baseline="-25000">
                <a:latin typeface="Helvetica" pitchFamily="2" charset="0"/>
              </a:rPr>
              <a:t>​</a:t>
            </a:r>
            <a:endParaRPr xmlns:a="http://schemas.openxmlformats.org/drawingml/2006/main" lang="en-US" altLang="pt-BR" sz="1800">
              <a:latin typeface="Helvetica" pitchFamily="2" charset="0"/>
            </a:endParaRPr>
          </a:p>
        </p:txBody>
      </p:sp>
      <p:sp>
        <p:nvSpPr>
          <p:cNvPr id="19461" name="Oval 6">
            <a:extLst>
              <a:ext uri="{FF2B5EF4-FFF2-40B4-BE49-F238E27FC236}">
                <a16:creationId xmlns:a16="http://schemas.microsoft.com/office/drawing/2014/main" id="{75312865-67F1-1D41-982C-83447D41F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0" y="4105275"/>
            <a:ext cx="495300" cy="495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 i="1">
                <a:latin typeface="Helvetica" pitchFamily="2" charset="0"/>
              </a:rPr>
              <a:t>Pi</a:t>
            </a:r>
            <a:r xmlns:a="http://schemas.openxmlformats.org/drawingml/2006/main">
              <a:rPr lang="pt" altLang="pt-BR" sz="1800" i="1" baseline="-25000">
                <a:latin typeface="Helvetica" pitchFamily="2" charset="0"/>
              </a:rPr>
              <a:t>​</a:t>
            </a:r>
            <a:endParaRPr xmlns:a="http://schemas.openxmlformats.org/drawingml/2006/main" lang="en-US" altLang="pt-BR" sz="1800" i="1">
              <a:latin typeface="Helvetica" pitchFamily="2" charset="0"/>
            </a:endParaRPr>
          </a:p>
        </p:txBody>
      </p:sp>
      <p:grpSp>
        <p:nvGrpSpPr>
          <p:cNvPr id="19462" name="Group 12">
            <a:extLst>
              <a:ext uri="{FF2B5EF4-FFF2-40B4-BE49-F238E27FC236}">
                <a16:creationId xmlns:a16="http://schemas.microsoft.com/office/drawing/2014/main" id="{61EB2059-DB41-384A-8E19-EA13907FB0ED}"/>
              </a:ext>
            </a:extLst>
          </p:cNvPr>
          <p:cNvGrpSpPr>
            <a:grpSpLocks/>
          </p:cNvGrpSpPr>
          <p:nvPr/>
        </p:nvGrpSpPr>
        <p:grpSpPr bwMode="auto">
          <a:xfrm>
            <a:off x="4232275" y="3121025"/>
            <a:ext cx="438150" cy="419100"/>
            <a:chOff x="2666" y="1966"/>
            <a:chExt cx="276" cy="264"/>
          </a:xfrm>
        </p:grpSpPr>
        <p:sp>
          <p:nvSpPr>
            <p:cNvPr id="19479" name="Rectangle 7">
              <a:extLst>
                <a:ext uri="{FF2B5EF4-FFF2-40B4-BE49-F238E27FC236}">
                  <a16:creationId xmlns:a16="http://schemas.microsoft.com/office/drawing/2014/main" id="{56F5604C-F3F4-204A-B8FF-3C2E5EBBA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19480" name="Rectangle 8">
              <a:extLst>
                <a:ext uri="{FF2B5EF4-FFF2-40B4-BE49-F238E27FC236}">
                  <a16:creationId xmlns:a16="http://schemas.microsoft.com/office/drawing/2014/main" id="{49559573-AEC7-294B-AB48-EA819F5393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19481" name="Rectangle 9">
              <a:extLst>
                <a:ext uri="{FF2B5EF4-FFF2-40B4-BE49-F238E27FC236}">
                  <a16:creationId xmlns:a16="http://schemas.microsoft.com/office/drawing/2014/main" id="{CA7DC5DF-CABB-9246-A63D-CCDE5F78E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19482" name="Rectangle 10">
              <a:extLst>
                <a:ext uri="{FF2B5EF4-FFF2-40B4-BE49-F238E27FC236}">
                  <a16:creationId xmlns:a16="http://schemas.microsoft.com/office/drawing/2014/main" id="{A66C5EEC-52C6-8B4A-B377-FA6B2252F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19483" name="Rectangle 11">
              <a:extLst>
                <a:ext uri="{FF2B5EF4-FFF2-40B4-BE49-F238E27FC236}">
                  <a16:creationId xmlns:a16="http://schemas.microsoft.com/office/drawing/2014/main" id="{624E0216-206D-044C-9FFD-CA225376A2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</p:grpSp>
      <p:grpSp>
        <p:nvGrpSpPr>
          <p:cNvPr id="19463" name="Group 13">
            <a:extLst>
              <a:ext uri="{FF2B5EF4-FFF2-40B4-BE49-F238E27FC236}">
                <a16:creationId xmlns:a16="http://schemas.microsoft.com/office/drawing/2014/main" id="{E1A85009-EEBD-0E43-AEC3-E13545E62803}"/>
              </a:ext>
            </a:extLst>
          </p:cNvPr>
          <p:cNvGrpSpPr>
            <a:grpSpLocks/>
          </p:cNvGrpSpPr>
          <p:nvPr/>
        </p:nvGrpSpPr>
        <p:grpSpPr bwMode="auto">
          <a:xfrm>
            <a:off x="4692650" y="4168775"/>
            <a:ext cx="438150" cy="419100"/>
            <a:chOff x="2666" y="1966"/>
            <a:chExt cx="276" cy="264"/>
          </a:xfrm>
        </p:grpSpPr>
        <p:sp>
          <p:nvSpPr>
            <p:cNvPr id="19474" name="Rectangle 14">
              <a:extLst>
                <a:ext uri="{FF2B5EF4-FFF2-40B4-BE49-F238E27FC236}">
                  <a16:creationId xmlns:a16="http://schemas.microsoft.com/office/drawing/2014/main" id="{6AD9E631-BBB4-D54F-BF50-33F535096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19475" name="Rectangle 15">
              <a:extLst>
                <a:ext uri="{FF2B5EF4-FFF2-40B4-BE49-F238E27FC236}">
                  <a16:creationId xmlns:a16="http://schemas.microsoft.com/office/drawing/2014/main" id="{A6277685-A521-E642-9784-8D341FFA7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19476" name="Rectangle 16">
              <a:extLst>
                <a:ext uri="{FF2B5EF4-FFF2-40B4-BE49-F238E27FC236}">
                  <a16:creationId xmlns:a16="http://schemas.microsoft.com/office/drawing/2014/main" id="{E3FAC551-7DFA-354C-A782-BBA76CF02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19477" name="Rectangle 17">
              <a:extLst>
                <a:ext uri="{FF2B5EF4-FFF2-40B4-BE49-F238E27FC236}">
                  <a16:creationId xmlns:a16="http://schemas.microsoft.com/office/drawing/2014/main" id="{37D5AB9B-0F44-6248-96F2-D1BBF9ECF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19478" name="Rectangle 18">
              <a:extLst>
                <a:ext uri="{FF2B5EF4-FFF2-40B4-BE49-F238E27FC236}">
                  <a16:creationId xmlns:a16="http://schemas.microsoft.com/office/drawing/2014/main" id="{391CD4D1-3697-B542-8826-135D1E1B7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</p:grpSp>
      <p:sp>
        <p:nvSpPr>
          <p:cNvPr id="19464" name="Line 19">
            <a:extLst>
              <a:ext uri="{FF2B5EF4-FFF2-40B4-BE49-F238E27FC236}">
                <a16:creationId xmlns:a16="http://schemas.microsoft.com/office/drawing/2014/main" id="{5FEEA8CB-B79D-FA4E-92E8-D763B6E096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65625" y="4371975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9465" name="Text Box 20">
            <a:extLst>
              <a:ext uri="{FF2B5EF4-FFF2-40B4-BE49-F238E27FC236}">
                <a16:creationId xmlns:a16="http://schemas.microsoft.com/office/drawing/2014/main" id="{A83F6ACA-7DE7-654C-8A76-392D8C494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2975" y="4586288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400" i="1">
                <a:latin typeface="Helvetica" pitchFamily="2" charset="0"/>
              </a:rPr>
              <a:t>R </a:t>
            </a:r>
            <a:r xmlns:a="http://schemas.openxmlformats.org/drawingml/2006/main">
              <a:rPr lang="pt" altLang="pt-BR" sz="1400" i="1" baseline="-25000">
                <a:latin typeface="Helvetica" pitchFamily="2" charset="0"/>
              </a:rPr>
              <a:t>j</a:t>
            </a:r>
            <a:endParaRPr xmlns:a="http://schemas.openxmlformats.org/drawingml/2006/main" lang="en-US" altLang="pt-BR" sz="1400" i="1">
              <a:latin typeface="Helvetica" pitchFamily="2" charset="0"/>
            </a:endParaRPr>
          </a:p>
        </p:txBody>
      </p:sp>
      <p:grpSp>
        <p:nvGrpSpPr>
          <p:cNvPr id="19466" name="Group 21">
            <a:extLst>
              <a:ext uri="{FF2B5EF4-FFF2-40B4-BE49-F238E27FC236}">
                <a16:creationId xmlns:a16="http://schemas.microsoft.com/office/drawing/2014/main" id="{F83A3112-4D58-8D4A-AAF6-DCB496BAF0FB}"/>
              </a:ext>
            </a:extLst>
          </p:cNvPr>
          <p:cNvGrpSpPr>
            <a:grpSpLocks/>
          </p:cNvGrpSpPr>
          <p:nvPr/>
        </p:nvGrpSpPr>
        <p:grpSpPr bwMode="auto">
          <a:xfrm>
            <a:off x="4451350" y="5626100"/>
            <a:ext cx="438150" cy="419100"/>
            <a:chOff x="2666" y="1966"/>
            <a:chExt cx="276" cy="264"/>
          </a:xfrm>
        </p:grpSpPr>
        <p:sp>
          <p:nvSpPr>
            <p:cNvPr id="19469" name="Rectangle 22">
              <a:extLst>
                <a:ext uri="{FF2B5EF4-FFF2-40B4-BE49-F238E27FC236}">
                  <a16:creationId xmlns:a16="http://schemas.microsoft.com/office/drawing/2014/main" id="{44FEC5D2-8BCF-7B49-A90E-A457B327E1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19470" name="Rectangle 23">
              <a:extLst>
                <a:ext uri="{FF2B5EF4-FFF2-40B4-BE49-F238E27FC236}">
                  <a16:creationId xmlns:a16="http://schemas.microsoft.com/office/drawing/2014/main" id="{1C0D430A-DED1-0C46-ABF7-38731DB51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19471" name="Rectangle 24">
              <a:extLst>
                <a:ext uri="{FF2B5EF4-FFF2-40B4-BE49-F238E27FC236}">
                  <a16:creationId xmlns:a16="http://schemas.microsoft.com/office/drawing/2014/main" id="{8DF94F79-0FDC-C748-BB87-F98CCA57F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19472" name="Rectangle 25">
              <a:extLst>
                <a:ext uri="{FF2B5EF4-FFF2-40B4-BE49-F238E27FC236}">
                  <a16:creationId xmlns:a16="http://schemas.microsoft.com/office/drawing/2014/main" id="{09197F5E-7C42-4340-830B-22945B760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19473" name="Rectangle 26">
              <a:extLst>
                <a:ext uri="{FF2B5EF4-FFF2-40B4-BE49-F238E27FC236}">
                  <a16:creationId xmlns:a16="http://schemas.microsoft.com/office/drawing/2014/main" id="{855AE8FF-6798-1B47-9635-92CB77800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</p:grpSp>
      <p:sp>
        <p:nvSpPr>
          <p:cNvPr id="19467" name="Line 27">
            <a:extLst>
              <a:ext uri="{FF2B5EF4-FFF2-40B4-BE49-F238E27FC236}">
                <a16:creationId xmlns:a16="http://schemas.microsoft.com/office/drawing/2014/main" id="{2FED794A-D937-FA42-B601-79194B49C7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24325" y="5772150"/>
            <a:ext cx="476250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9468" name="Text Box 28">
            <a:extLst>
              <a:ext uri="{FF2B5EF4-FFF2-40B4-BE49-F238E27FC236}">
                <a16:creationId xmlns:a16="http://schemas.microsoft.com/office/drawing/2014/main" id="{662E2812-70BA-534A-B9B3-A238312CB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2150" y="6015038"/>
            <a:ext cx="338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400" i="1">
                <a:latin typeface="Helvetica" pitchFamily="2" charset="0"/>
              </a:rPr>
              <a:t>R </a:t>
            </a:r>
            <a:r xmlns:a="http://schemas.openxmlformats.org/drawingml/2006/main">
              <a:rPr lang="pt" altLang="pt-BR" sz="1400" i="1" baseline="-25000">
                <a:latin typeface="Helvetica" pitchFamily="2" charset="0"/>
              </a:rPr>
              <a:t>j</a:t>
            </a:r>
            <a:endParaRPr xmlns:a="http://schemas.openxmlformats.org/drawingml/2006/main" lang="en-US" altLang="pt-BR" sz="1400" i="1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026">
            <a:extLst>
              <a:ext uri="{FF2B5EF4-FFF2-40B4-BE49-F238E27FC236}">
                <a16:creationId xmlns:a16="http://schemas.microsoft.com/office/drawing/2014/main" id="{0155625A-DF70-1749-B6F2-C58CC50E2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8038" y="319088"/>
            <a:ext cx="8150225" cy="5127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Exemplo de um gráfico de alocação de recursos</a:t>
            </a:r>
          </a:p>
        </p:txBody>
      </p:sp>
      <p:pic>
        <p:nvPicPr>
          <p:cNvPr id="21506" name="Picture 1032">
            <a:extLst>
              <a:ext uri="{FF2B5EF4-FFF2-40B4-BE49-F238E27FC236}">
                <a16:creationId xmlns:a16="http://schemas.microsoft.com/office/drawing/2014/main" id="{04E79397-C0A7-F140-AB7C-4093E9326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3146425" y="1804988"/>
            <a:ext cx="2741613" cy="405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CF6F36B1-D8CA-7442-A20B-C794B21005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2800" y="384175"/>
            <a:ext cx="8378825" cy="4699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Gráfico de alocação de recursos com deadlock</a:t>
            </a:r>
          </a:p>
        </p:txBody>
      </p:sp>
      <p:pic>
        <p:nvPicPr>
          <p:cNvPr id="23554" name="Picture 7">
            <a:extLst>
              <a:ext uri="{FF2B5EF4-FFF2-40B4-BE49-F238E27FC236}">
                <a16:creationId xmlns:a16="http://schemas.microsoft.com/office/drawing/2014/main" id="{B47E3931-FAF7-7448-9526-F19508AF7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0700" y="1528763"/>
            <a:ext cx="278130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8F4BEC38-91FD-0B4E-A4A7-79ADD310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9638" y="400050"/>
            <a:ext cx="7954962" cy="4572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Gráfico com um ciclo, mas sem deadlock</a:t>
            </a:r>
          </a:p>
        </p:txBody>
      </p:sp>
      <p:pic>
        <p:nvPicPr>
          <p:cNvPr id="25602" name="Picture 4" descr="7">
            <a:extLst>
              <a:ext uri="{FF2B5EF4-FFF2-40B4-BE49-F238E27FC236}">
                <a16:creationId xmlns:a16="http://schemas.microsoft.com/office/drawing/2014/main" id="{CFC8488D-D54F-834A-8FA2-3BCEDD917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375" y="1066800"/>
            <a:ext cx="4040188" cy="51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9FA9CE37-2E57-364F-BE13-66E4A8EAE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Fatos básicos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0A8857AF-D105-6C48-96E2-EB849517B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454150"/>
            <a:ext cx="7599362" cy="44005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 gráfico não contém ciclos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não há deadlock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o gráfico contém um ciclo 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houver apenas uma instância por tipo de recurso, então haverá um deadlock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houver várias instâncias por tipo de recurso, possibilidade de deadlock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E715ABD9-C234-B14D-B61E-A47A36D87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9663" y="277813"/>
            <a:ext cx="7577137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Métodos para lidar com deadlocks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CE7B9E58-791B-C742-AB0E-65B029EDDE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485900"/>
            <a:ext cx="7718425" cy="32956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Garantir que o sistema </a:t>
            </a:r>
            <a:r xmlns:a="http://schemas.openxmlformats.org/drawingml/2006/main">
              <a:rPr lang="pt" altLang="pt-BR" b="1" i="1">
                <a:solidFill>
                  <a:srgbClr val="FF0066"/>
                </a:solidFill>
                <a:ea typeface="ＭＳ Ｐゴシック" panose="020B0600070205080204" pitchFamily="34" charset="-128"/>
              </a:rPr>
              <a:t>nunca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entrará em estado de deadlock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Permitir que o sistema entre em um estado de deadlock e então se recupere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Ignore o problema e finja que os deadlocks nunca ocorrem no sistema; usado pela maioria dos sistemas operacionais, incluindo UNIX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026">
            <a:extLst>
              <a:ext uri="{FF2B5EF4-FFF2-40B4-BE49-F238E27FC236}">
                <a16:creationId xmlns:a16="http://schemas.microsoft.com/office/drawing/2014/main" id="{3C5F988B-260E-CC4C-85A4-FF6666741A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5825" y="277813"/>
            <a:ext cx="7800975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Prevenção de Deadlock</a:t>
            </a:r>
          </a:p>
        </p:txBody>
      </p:sp>
      <p:sp>
        <p:nvSpPr>
          <p:cNvPr id="31746" name="Rectangle 1027">
            <a:extLst>
              <a:ext uri="{FF2B5EF4-FFF2-40B4-BE49-F238E27FC236}">
                <a16:creationId xmlns:a16="http://schemas.microsoft.com/office/drawing/2014/main" id="{C09F1BA6-DF9E-784C-B502-B357945339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60463" y="1870075"/>
            <a:ext cx="7245350" cy="3822700"/>
          </a:xfrm>
        </p:spPr>
        <p:txBody>
          <a:bodyPr/>
          <a:lstStyle/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Exclusão mútua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não é necessária para recursos compartilháveis; deve ser válida para recursos não compartilháveis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Hold and Wait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deve garantir que sempre que um processo solicitar um recurso, ele não retenha nenhum outro recurso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Exigir que o processo solicite e tenha alocados todos os seus recursos antes de iniciar a execução, ou permitir que o processo solicite recursos somente quando não tiver nenhum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Baixa utilização de recursos; possível fome</a:t>
            </a:r>
          </a:p>
        </p:txBody>
      </p:sp>
      <p:sp>
        <p:nvSpPr>
          <p:cNvPr id="31747" name="Text Box 1028">
            <a:extLst>
              <a:ext uri="{FF2B5EF4-FFF2-40B4-BE49-F238E27FC236}">
                <a16:creationId xmlns:a16="http://schemas.microsoft.com/office/drawing/2014/main" id="{0BA26FC7-E9DF-B84B-8521-9C754ABB1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50" y="1400175"/>
            <a:ext cx="427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Restringir as formas como as solicitações podem ser feitas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026">
            <a:extLst>
              <a:ext uri="{FF2B5EF4-FFF2-40B4-BE49-F238E27FC236}">
                <a16:creationId xmlns:a16="http://schemas.microsoft.com/office/drawing/2014/main" id="{03603598-D37B-014A-B9A4-9C17EDF6AB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300" y="277813"/>
            <a:ext cx="76835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Prevenção de Deadlock (Cont.)</a:t>
            </a:r>
          </a:p>
        </p:txBody>
      </p:sp>
      <p:sp>
        <p:nvSpPr>
          <p:cNvPr id="33794" name="Rectangle 1027">
            <a:extLst>
              <a:ext uri="{FF2B5EF4-FFF2-40B4-BE49-F238E27FC236}">
                <a16:creationId xmlns:a16="http://schemas.microsoft.com/office/drawing/2014/main" id="{ABD26F9E-2AA3-064B-8FBE-FFFA8DCB1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639050" cy="4446587"/>
          </a:xfrm>
        </p:spPr>
        <p:txBody>
          <a:bodyPr/>
          <a:lstStyle/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Sem Preempção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um processo que está mantendo alguns recursos solicitar outro recurso que não possa ser imediatamente alocado a ele, todos os recursos atualmente mantidos serão liberados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recursos preemptados são adicionados à lista de recursos pelos quais o processo está aguardando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processo será reiniciado somente quando puder recuperar seus recursos antigos, bem como os novos que está solicitando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Espera Circular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impõe uma ordenação total de todos os tipos de recursos e exige que cada processo solicite recursos em uma ordem crescente de enumeração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026">
            <a:extLst>
              <a:ext uri="{FF2B5EF4-FFF2-40B4-BE49-F238E27FC236}">
                <a16:creationId xmlns:a16="http://schemas.microsoft.com/office/drawing/2014/main" id="{494E4520-86A3-3C4D-9BDB-12DDEDB84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300" y="277813"/>
            <a:ext cx="76835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Deadlock</a:t>
            </a:r>
          </a:p>
        </p:txBody>
      </p:sp>
      <p:sp>
        <p:nvSpPr>
          <p:cNvPr id="35842" name="Rectangle 1027">
            <a:extLst>
              <a:ext uri="{FF2B5EF4-FFF2-40B4-BE49-F238E27FC236}">
                <a16:creationId xmlns:a16="http://schemas.microsoft.com/office/drawing/2014/main" id="{069A937A-F0B3-BA41-881F-01156638F8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639050" cy="4446587"/>
          </a:xfrm>
        </p:spPr>
        <p:txBody>
          <a:bodyPr/>
          <a:lstStyle/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o thread um é executado nesta função */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void *do work one(void *param) </a:t>
            </a:r>
            <a:br xmlns:a="http://schemas.openxmlformats.org/drawingml/2006/main">
              <a:rPr lang="en-US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11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{</a:t>
            </a:r>
            <a:endParaRPr xmlns:a="http://schemas.openxmlformats.org/drawingml/2006/main" lang="en-US" altLang="pt-BR" sz="1400" b="1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mutex lock(&amp;primeiro mutex);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mutex lock(&amp;segundo mutex);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/** * Faça algum trabalho */ </a:t>
            </a:r>
            <a:br xmlns:a="http://schemas.openxmlformats.org/drawingml/2006/main">
              <a:rPr lang="en-US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mutex unlock(&amp;second mutex);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mutex unlock(&amp;primeiro mutex);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saída(0);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 o thread dois é executado nesta função */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void *do work two(void *param) </a:t>
            </a:r>
            <a:br xmlns:a="http://schemas.openxmlformats.org/drawingml/2006/main">
              <a:rPr lang="en-US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11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{</a:t>
            </a:r>
            <a:endParaRPr xmlns:a="http://schemas.openxmlformats.org/drawingml/2006/main" lang="en-US" altLang="pt-BR" sz="1400" b="1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mutex lock(&amp;segundo mutex);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mutex lock(&amp;primeiro mutex);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/** * Faça algum trabalho */ </a:t>
            </a:r>
            <a:br xmlns:a="http://schemas.openxmlformats.org/drawingml/2006/main">
              <a:rPr lang="en-US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mutex unlock(&amp;first mutex);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mutex unlock(&amp;segundo mutex);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 saída(0);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026">
            <a:extLst>
              <a:ext uri="{FF2B5EF4-FFF2-40B4-BE49-F238E27FC236}">
                <a16:creationId xmlns:a16="http://schemas.microsoft.com/office/drawing/2014/main" id="{4350C05E-2A50-9345-ACEB-D3A9D0EB46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3300" y="277813"/>
            <a:ext cx="76835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Deadlock com Ordem de Bloqueio</a:t>
            </a:r>
          </a:p>
        </p:txBody>
      </p:sp>
      <p:sp>
        <p:nvSpPr>
          <p:cNvPr id="37890" name="Rectangle 1027">
            <a:extLst>
              <a:ext uri="{FF2B5EF4-FFF2-40B4-BE49-F238E27FC236}">
                <a16:creationId xmlns:a16="http://schemas.microsoft.com/office/drawing/2014/main" id="{3488F51D-4536-524D-B2E6-926E9CA907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639050" cy="4446587"/>
          </a:xfrm>
        </p:spPr>
        <p:txBody>
          <a:bodyPr/>
          <a:lstStyle/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transação nula (conta de origem, conta de destino, valor duplo)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{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mutex lock1, lock2;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lock1 = obter bloqueio(de);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lock2 = obter lock(para);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adquirir(bloqueio1);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adquirir(lock2);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retirar(de, quantia);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depósito(para, valor);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liberação(bloqueio2);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liberação(bloqueio1);</a:t>
            </a:r>
          </a:p>
          <a:p>
            <a:pPr xmlns:a="http://schemas.openxmlformats.org/drawingml/2006/main" marL="0" indent="0">
              <a:buFont typeface="Monotype Sorts" pitchFamily="2" charset="2"/>
              <a:buNone/>
            </a:pPr>
            <a:r xmlns:a="http://schemas.openxmlformats.org/drawingml/2006/main">
              <a:rPr lang="pt" altLang="pt-BR" sz="1400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000E9E71-ED1D-084B-B631-FCA38FF85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3925" y="277813"/>
            <a:ext cx="7762875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Prevenção de Deadlock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4A1CAA7F-B645-9A47-B453-86D40CD697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2838" y="2038350"/>
            <a:ext cx="7402512" cy="3783013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modelo mais simples e útil requer que cada processo declare 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número máximo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recursos de cada tipo que possa necessitar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algoritmo de prevenção de deadlock examina dinamicamente o estado de alocação de recursos para garantir que nunca possa haver uma condição de espera circular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O estado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alocação de recursos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definido pelo número de recursos disponíveis e alocados e pelas demandas máximas dos processos</a:t>
            </a:r>
          </a:p>
        </p:txBody>
      </p:sp>
      <p:sp>
        <p:nvSpPr>
          <p:cNvPr id="39939" name="Text Box 4">
            <a:extLst>
              <a:ext uri="{FF2B5EF4-FFF2-40B4-BE49-F238E27FC236}">
                <a16:creationId xmlns:a16="http://schemas.microsoft.com/office/drawing/2014/main" id="{D55ED5D7-6EFA-3442-BB63-DB29B0DB1A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1271588"/>
            <a:ext cx="77168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Requer que o sistema tenha alguma </a:t>
            </a:r>
            <a:r xmlns:a="http://schemas.openxmlformats.org/drawingml/2006/main">
              <a:rPr lang="pt" altLang="pt-BR" sz="1800">
                <a:latin typeface="Helvetica" pitchFamily="2" charset="0"/>
              </a:rPr>
              <a:t>informação </a:t>
            </a:r>
            <a:br xmlns:a="http://schemas.openxmlformats.org/drawingml/2006/main">
              <a:rPr lang="en-US" altLang="pt-BR" sz="1800">
                <a:latin typeface="Helvetica" pitchFamily="2" charset="0"/>
              </a:rPr>
            </a:br>
            <a:r xmlns:a="http://schemas.openxmlformats.org/drawingml/2006/main">
              <a:rPr lang="pt" altLang="pt-BR" sz="1800" b="1" i="1">
                <a:latin typeface="Helvetica" pitchFamily="2" charset="0"/>
              </a:rPr>
              <a:t>a priori adicional </a:t>
            </a:r>
            <a:r xmlns:a="http://schemas.openxmlformats.org/drawingml/2006/main">
              <a:rPr lang="pt" altLang="pt-BR" sz="1800">
                <a:latin typeface="Helvetica" pitchFamily="2" charset="0"/>
              </a:rPr>
              <a:t>disponível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20A89A5E-E373-B443-9F33-50B9A2B39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Estado seguro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5D425D1F-CB3B-414D-BFAA-480A25BC21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306513"/>
            <a:ext cx="7656512" cy="49974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um processo solicita um recurso disponível, o sistema deve decidir se a alocação imediata deixa o sistema em um estado seguro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está em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estado seguro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existe uma sequência &lt;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, 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, …, 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&gt; de TODOS os processos nos sistemas tal que para cada 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os recursos que 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ainda pode solicitar podem ser satisfeitos pelos recursos atualmente disponíveis + recursos mantidos por todos os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com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&lt;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I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Aquilo é: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as necessidades de recursos de 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não estiverem imediatamente disponíveis, então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esperar até que todos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os 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j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terminei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estiver concluído,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obter os recursos necessários, executar, retornar os recursos alocados e encerrar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termina,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+1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obter os recursos necessários e assim por diante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>
            <a:extLst>
              <a:ext uri="{FF2B5EF4-FFF2-40B4-BE49-F238E27FC236}">
                <a16:creationId xmlns:a16="http://schemas.microsoft.com/office/drawing/2014/main" id="{95424E05-7738-794B-B30C-6668684A75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Fatos básicos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629B2285-A096-6D41-B373-2AA9B9D0D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411288"/>
            <a:ext cx="7459662" cy="4414837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um sistema estiver em estado seguro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sem deadlocks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um sistema estiver em estado inseguro  possibilidade de deadlock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Prevenção  garante que um sistema nunca entre em um estado inseguro.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AB7EF4BB-1FEF-2E4C-9F0C-2167441DF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77813"/>
            <a:ext cx="7840662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Estado seguro, inseguro e de deadlock</a:t>
            </a:r>
          </a:p>
        </p:txBody>
      </p:sp>
      <p:pic>
        <p:nvPicPr>
          <p:cNvPr id="46082" name="Picture 4">
            <a:extLst>
              <a:ext uri="{FF2B5EF4-FFF2-40B4-BE49-F238E27FC236}">
                <a16:creationId xmlns:a16="http://schemas.microsoft.com/office/drawing/2014/main" id="{7878D35E-961C-9840-BFFA-0052BB0CF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7" t="1572" r="13683" b="2194"/>
          <a:stretch>
            <a:fillRect/>
          </a:stretch>
        </p:blipFill>
        <p:spPr bwMode="auto">
          <a:xfrm>
            <a:off x="2282825" y="1716088"/>
            <a:ext cx="4391025" cy="434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85E46E85-BD04-8C41-AA06-B929E1569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1400" y="277813"/>
            <a:ext cx="76454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Algoritmos de prevenção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5A968CFF-7D28-D844-9503-ED9B8E31A4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439863"/>
            <a:ext cx="6659562" cy="448310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Instância única de um tipo de recurso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Use um gráfico de alocação de recursos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Várias instâncias de um tipo de recurso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Use o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algoritmo do 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banqueiro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D051E1BA-6130-1D43-802B-7BA06047B3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77813"/>
            <a:ext cx="7831137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Esquema de gráfico de alocação de recursos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F085F646-F5E5-0645-9DB6-D861F14127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439863"/>
            <a:ext cx="7515225" cy="4483100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Reivindicar vantagem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Pi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​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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R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indica que o processo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pode solicitar o recurso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R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; representado por uma linha tracejada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A aresta de reivindicação é convertida em aresta de solicitação quando um processo solicita um recurso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A aresta de solicitação é convertida em uma aresta de atribuição quando o recurso é alocado ao processo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Quando um recurso é liberado por um processo, a aresta de atribuição é reconvertida em uma aresta de reivindicação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Os recursos devem ser reivindicados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a priori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no sistema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7AA1405E-9DEC-EA4F-A52C-FA25D86D7B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1363" y="404813"/>
            <a:ext cx="8224837" cy="4572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Gráfico de alocação de recursos</a:t>
            </a:r>
          </a:p>
        </p:txBody>
      </p:sp>
      <p:pic>
        <p:nvPicPr>
          <p:cNvPr id="52226" name="Picture 4" descr="7">
            <a:extLst>
              <a:ext uri="{FF2B5EF4-FFF2-40B4-BE49-F238E27FC236}">
                <a16:creationId xmlns:a16="http://schemas.microsoft.com/office/drawing/2014/main" id="{934C8F53-7CDE-F448-B670-6F96B3698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338" y="1725613"/>
            <a:ext cx="3681412" cy="373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8017998F-186B-834E-9D2A-75D6FBA39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0563" y="401638"/>
            <a:ext cx="8243887" cy="4572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Estado inseguro no gráfico de alocação de recursos</a:t>
            </a:r>
          </a:p>
        </p:txBody>
      </p:sp>
      <p:pic>
        <p:nvPicPr>
          <p:cNvPr id="54274" name="Picture 4" descr="7">
            <a:extLst>
              <a:ext uri="{FF2B5EF4-FFF2-40B4-BE49-F238E27FC236}">
                <a16:creationId xmlns:a16="http://schemas.microsoft.com/office/drawing/2014/main" id="{218E013E-DCAE-8649-B897-3016E4237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613" y="1743075"/>
            <a:ext cx="3717925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4D8A325F-57A3-E24F-86FE-F336B610B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0288" y="277813"/>
            <a:ext cx="7656512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 de gráfico de alocação de recursos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1261A1E9-BFDD-9A4A-9AA5-018C0E94E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392238"/>
            <a:ext cx="7675563" cy="4303712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Suponha que o processo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solicite um recurso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R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  <a:sym typeface="Symbol" pitchFamily="2" charset="2"/>
              </a:rPr>
              <a:t>j</a:t>
            </a:r>
          </a:p>
          <a:p>
            <a:endParaRPr lang="en-US" altLang="pt-BR" i="1" baseline="-25000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A solicitação pode ser atendida somente se a conversão da aresta de solicitação em uma aresta de atribuição não resultar na formação de um ciclo no gráfico de alocação de recursos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2B1ED9FD-F55A-D94F-BD27-12B81E2A8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277813"/>
            <a:ext cx="77724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do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banqueiro</a:t>
            </a:r>
          </a:p>
        </p:txBody>
      </p:sp>
      <p:sp>
        <p:nvSpPr>
          <p:cNvPr id="58370" name="Rectangle 3">
            <a:extLst>
              <a:ext uri="{FF2B5EF4-FFF2-40B4-BE49-F238E27FC236}">
                <a16:creationId xmlns:a16="http://schemas.microsoft.com/office/drawing/2014/main" id="{38206278-E9EC-2940-ADF6-818802B16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397000"/>
            <a:ext cx="7448550" cy="44418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Várias instâncias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processo deve, a priori, reivindicar o uso máximo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um processo solicita um recurso, ele pode ter que esperar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um processo obtém todos os seus recursos, ele deve devolvê-los em um período de tempo finito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85814389-6D37-9945-A001-F7FE69030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1713" y="422275"/>
            <a:ext cx="7586662" cy="4318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Estruturas de Dados para o </a:t>
            </a:r>
            <a:r xmlns:a="http://schemas.openxmlformats.org/drawingml/2006/main">
              <a:rPr lang="pt" altLang="ja-JP" sz="2800">
                <a:ea typeface="ＭＳ Ｐゴシック" panose="020B0600070205080204" pitchFamily="34" charset="-128"/>
              </a:rPr>
              <a:t>Algoritmo do </a:t>
            </a:r>
            <a:endParaRPr xmlns:a="http://schemas.openxmlformats.org/drawingml/2006/main" lang="en-US" altLang="pt-BR" sz="2800">
              <a:ea typeface="ＭＳ Ｐゴシック" panose="020B0600070205080204" pitchFamily="34" charset="-128"/>
            </a:endParaRPr>
            <a:r xmlns:a="http://schemas.openxmlformats.org/drawingml/2006/main">
              <a:rPr lang="pt" altLang="en-US" sz="2800">
                <a:ea typeface="ＭＳ Ｐゴシック" panose="020B0600070205080204" pitchFamily="34" charset="-128"/>
              </a:rPr>
              <a:t>Banqueiro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0494CF30-032F-CE42-AF40-33F97B3B49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92213" y="1843088"/>
            <a:ext cx="7370762" cy="4387850"/>
          </a:xfrm>
        </p:spPr>
        <p:txBody>
          <a:bodyPr/>
          <a:lstStyle/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Disponível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: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Vetor de comprimento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. Se disponível [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] =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há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instâncias do tipo de recurso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j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disponível</a:t>
            </a:r>
          </a:p>
          <a:p>
            <a:endParaRPr lang="en-US" altLang="pt-BR" sz="8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000000"/>
                </a:solidFill>
                <a:ea typeface="ＭＳ Ｐゴシック" panose="020B0600070205080204" pitchFamily="34" charset="-128"/>
              </a:rPr>
              <a:t>Máx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.: matriz nxm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. Se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Max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i,j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] =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então processe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i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solicitar no máximo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instâncias do tipo de recurso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j</a:t>
            </a:r>
          </a:p>
          <a:p>
            <a:endParaRPr lang="en-US" altLang="pt-BR" sz="800" i="1" baseline="-250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000000"/>
                </a:solidFill>
                <a:ea typeface="ＭＳ Ｐゴシック" panose="020B0600070205080204" pitchFamily="34" charset="-128"/>
              </a:rPr>
              <a:t>Alocação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: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matriz 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x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m . Se Alocação[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i,j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] =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então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está atualmente alocado em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instâncias de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j</a:t>
            </a:r>
          </a:p>
          <a:p>
            <a:endParaRPr lang="en-US" altLang="pt-BR" sz="800" i="1" baseline="-250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000000"/>
                </a:solidFill>
                <a:ea typeface="ＭＳ Ｐゴシック" panose="020B0600070205080204" pitchFamily="34" charset="-128"/>
              </a:rPr>
              <a:t>Necessidade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: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matriz 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x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m . Se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Need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i, 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] =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então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precisar de mais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instâncias de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j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completar sua tarefa</a:t>
            </a:r>
          </a:p>
          <a:p>
            <a:pPr xmlns:a="http://schemas.openxmlformats.org/drawingml/2006/main" lvl="2">
              <a:buFont typeface="Webdings" pitchFamily="2" charset="2"/>
              <a:buNone/>
            </a:pP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Necessidade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i,j ]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Máx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i,j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] –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Alocação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i,j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]</a:t>
            </a:r>
          </a:p>
        </p:txBody>
      </p:sp>
      <p:sp>
        <p:nvSpPr>
          <p:cNvPr id="60419" name="Text Box 4">
            <a:extLst>
              <a:ext uri="{FF2B5EF4-FFF2-40B4-BE49-F238E27FC236}">
                <a16:creationId xmlns:a16="http://schemas.microsoft.com/office/drawing/2014/main" id="{F648F53A-A189-9442-8071-C33033B2C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25" y="1408113"/>
            <a:ext cx="6934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Seja </a:t>
            </a:r>
            <a:r xmlns:a="http://schemas.openxmlformats.org/drawingml/2006/main">
              <a:rPr lang="pt" altLang="pt-BR" sz="1800" i="1">
                <a:latin typeface="Helvetica" pitchFamily="2" charset="0"/>
              </a:rPr>
              <a:t>n </a:t>
            </a:r>
            <a:r xmlns:a="http://schemas.openxmlformats.org/drawingml/2006/main">
              <a:rPr lang="pt" altLang="pt-BR" sz="1800">
                <a:latin typeface="Helvetica" pitchFamily="2" charset="0"/>
              </a:rPr>
              <a:t>= número de processos e </a:t>
            </a:r>
            <a:r xmlns:a="http://schemas.openxmlformats.org/drawingml/2006/main">
              <a:rPr lang="pt" altLang="pt-BR" sz="1800" i="1">
                <a:latin typeface="Helvetica" pitchFamily="2" charset="0"/>
              </a:rPr>
              <a:t>m </a:t>
            </a:r>
            <a:r xmlns:a="http://schemas.openxmlformats.org/drawingml/2006/main">
              <a:rPr lang="pt" altLang="pt-BR" sz="1800">
                <a:latin typeface="Helvetica" pitchFamily="2" charset="0"/>
              </a:rPr>
              <a:t>= número de tipos de recursos.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EFDA61E2-7F0C-0D4F-9393-CABD31171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 de Segurança</a:t>
            </a:r>
          </a:p>
        </p:txBody>
      </p:sp>
      <p:sp>
        <p:nvSpPr>
          <p:cNvPr id="62466" name="Rectangle 3">
            <a:extLst>
              <a:ext uri="{FF2B5EF4-FFF2-40B4-BE49-F238E27FC236}">
                <a16:creationId xmlns:a16="http://schemas.microsoft.com/office/drawing/2014/main" id="{8758F63E-8822-F143-B38D-EBBB5B29F3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2800" y="1282700"/>
            <a:ext cx="7372350" cy="4943475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1. Deixe </a:t>
            </a:r>
            <a:r xmlns:a="http://schemas.openxmlformats.org/drawingml/2006/main">
              <a:rPr lang="pt" altLang="pt-BR" b="1" i="1">
                <a:solidFill>
                  <a:srgbClr val="000000"/>
                </a:solidFill>
                <a:ea typeface="ＭＳ Ｐゴシック" panose="020B0600070205080204" pitchFamily="34" charset="-128"/>
              </a:rPr>
              <a:t>o trabalho</a:t>
            </a:r>
            <a:r xmlns:a="http://schemas.openxmlformats.org/drawingml/2006/main">
              <a:rPr lang="pt" altLang="pt-BR" i="1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 b="1" i="1">
                <a:solidFill>
                  <a:srgbClr val="000000"/>
                </a:solidFill>
                <a:ea typeface="ＭＳ Ｐゴシック" panose="020B0600070205080204" pitchFamily="34" charset="-128"/>
              </a:rPr>
              <a:t>terminar</a:t>
            </a:r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sejam vetores de comprimento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respectivamente. Inicialize:</a:t>
            </a:r>
          </a:p>
          <a:p>
            <a:pPr xmlns:a="http://schemas.openxmlformats.org/drawingml/2006/main" marL="1543050" lvl="3" indent="-342900">
              <a:lnSpc>
                <a:spcPct val="90000"/>
              </a:lnSpc>
              <a:buFontTx/>
              <a:buNone/>
            </a:pP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Trabalho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Disponível</a:t>
            </a:r>
          </a:p>
          <a:p>
            <a:pPr xmlns:a="http://schemas.openxmlformats.org/drawingml/2006/main" marL="1543050" lvl="3" indent="-342900">
              <a:lnSpc>
                <a:spcPct val="90000"/>
              </a:lnSpc>
              <a:buFontTx/>
              <a:buNone/>
            </a:pP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Finish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] 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falso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para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= 0, 1, …,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n-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1</a:t>
            </a:r>
          </a:p>
          <a:p>
            <a:pPr marL="1543050" lvl="3" indent="-342900">
              <a:lnSpc>
                <a:spcPct val="90000"/>
              </a:lnSpc>
              <a:buFontTx/>
              <a:buNone/>
            </a:pPr>
            <a:endParaRPr lang="en-US" altLang="pt-BR" sz="8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2. Encontre um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modo que ambos:</a:t>
            </a:r>
          </a:p>
          <a:p>
            <a:pPr xmlns:a="http://schemas.openxmlformats.org/drawingml/2006/main" marL="800100" lvl="1" indent="-342900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(a)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Concluir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] 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falso</a:t>
            </a:r>
            <a:endParaRPr xmlns:a="http://schemas.openxmlformats.org/drawingml/2006/main" lang="en-US" altLang="pt-BR" b="1">
              <a:ea typeface="ＭＳ Ｐゴシック" panose="020B0600070205080204" pitchFamily="34" charset="-128"/>
            </a:endParaRPr>
          </a:p>
          <a:p>
            <a:pPr xmlns:a="http://schemas.openxmlformats.org/drawingml/2006/main" marL="800100" lvl="1" indent="-342900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(b)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Preciso de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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Trabalho</a:t>
            </a:r>
          </a:p>
          <a:p>
            <a:pPr xmlns:a="http://schemas.openxmlformats.org/drawingml/2006/main" marL="800100" lvl="1" indent="-342900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não houver tal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eu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existo, vá para o passo 4</a:t>
            </a:r>
          </a:p>
          <a:p>
            <a:pPr marL="800100" lvl="1" indent="-342900">
              <a:lnSpc>
                <a:spcPct val="90000"/>
              </a:lnSpc>
              <a:buFont typeface="Monotype Sorts" pitchFamily="2" charset="2"/>
              <a:buNone/>
            </a:pPr>
            <a:endParaRPr lang="en-US" altLang="pt-BR" sz="800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3.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Trabalho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Trabalho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+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Alocação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 </a:t>
            </a:r>
            <a:br xmlns:a="http://schemas.openxmlformats.org/drawingml/2006/main">
              <a:rPr lang="en-US" altLang="pt-BR" b="1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Concluir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] 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verdadeiro </a:t>
            </a:r>
            <a:br xmlns:a="http://schemas.openxmlformats.org/drawingml/2006/main">
              <a:rPr lang="en-US" altLang="pt-BR" b="1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 para a etapa 2</a:t>
            </a:r>
          </a:p>
          <a:p>
            <a:pPr>
              <a:lnSpc>
                <a:spcPct val="90000"/>
              </a:lnSpc>
            </a:pPr>
            <a:endParaRPr lang="en-US" altLang="pt-BR" sz="8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4. Se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Finish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] ==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true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todo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então o sistema está em um estado seguro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EB8CD113-C5F8-5D4B-9B51-900E9E2152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3138" y="404813"/>
            <a:ext cx="7924800" cy="4572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Algoritmo de solicitação de recursos para o processo </a:t>
            </a:r>
            <a:r xmlns:a="http://schemas.openxmlformats.org/drawingml/2006/main">
              <a:rPr lang="pt" altLang="pt-BR" sz="2800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sz="2800" i="1" baseline="-25000">
                <a:ea typeface="ＭＳ Ｐゴシック" panose="020B0600070205080204" pitchFamily="34" charset="-128"/>
              </a:rPr>
              <a:t>i</a:t>
            </a:r>
            <a:endParaRPr xmlns:a="http://schemas.openxmlformats.org/drawingml/2006/main" lang="en-US" altLang="pt-BR" sz="2800">
              <a:ea typeface="ＭＳ Ｐゴシック" panose="020B0600070205080204" pitchFamily="34" charset="-128"/>
            </a:endParaRPr>
          </a:p>
        </p:txBody>
      </p:sp>
      <p:sp>
        <p:nvSpPr>
          <p:cNvPr id="64514" name="Rectangle 3">
            <a:extLst>
              <a:ext uri="{FF2B5EF4-FFF2-40B4-BE49-F238E27FC236}">
                <a16:creationId xmlns:a16="http://schemas.microsoft.com/office/drawing/2014/main" id="{E8883FFA-36CB-1446-9336-96B58085C9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2325" y="1271588"/>
            <a:ext cx="7642225" cy="4686300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   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Solicitação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= vetor de solicitação para o processo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. Se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Solicitação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j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] 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k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então o processo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quer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instâncias do tipo de recurso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j</a:t>
            </a:r>
            <a:endParaRPr xmlns:a="http://schemas.openxmlformats.org/drawingml/2006/main" lang="en-US" altLang="pt-BR" b="1" baseline="-25000">
              <a:ea typeface="ＭＳ Ｐゴシック" panose="020B0600070205080204" pitchFamily="34" charset="-128"/>
            </a:endParaRPr>
          </a:p>
          <a:p>
            <a:pPr xmlns:a="http://schemas.openxmlformats.org/drawingml/2006/main" lvl="1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1. Se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a solicitação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for i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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Preciso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de mim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vá para a etapa 2. Caso contrário, levante uma condição de erro, pois o processo excedeu sua reivindicação máxima</a:t>
            </a:r>
          </a:p>
          <a:p>
            <a:pPr xmlns:a="http://schemas.openxmlformats.org/drawingml/2006/main" lvl="1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2. Se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a solicitação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for i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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Disponível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, vá para a etapa 3. Caso contrário,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deve esperar, pois os recursos não estão disponíveis</a:t>
            </a:r>
          </a:p>
          <a:p>
            <a:pPr xmlns:a="http://schemas.openxmlformats.org/drawingml/2006/main" lvl="1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3. Finja alocar os recursos solicitados para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modificando o estado da seguinte forma:</a:t>
            </a:r>
          </a:p>
          <a:p>
            <a:pPr xmlns:a="http://schemas.openxmlformats.org/drawingml/2006/main" lvl="3">
              <a:lnSpc>
                <a:spcPct val="90000"/>
              </a:lnSpc>
              <a:buFontTx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 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Disponível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Disponível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–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Solicitar;</a:t>
            </a:r>
          </a:p>
          <a:p>
            <a:pPr xmlns:a="http://schemas.openxmlformats.org/drawingml/2006/main" lvl="3">
              <a:lnSpc>
                <a:spcPct val="90000"/>
              </a:lnSpc>
              <a:buFontTx/>
              <a:buNone/>
            </a:pP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 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Alocação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i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Alocação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+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Solicitação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;</a:t>
            </a:r>
          </a:p>
          <a:p>
            <a:pPr xmlns:a="http://schemas.openxmlformats.org/drawingml/2006/main" lvl="3">
              <a:lnSpc>
                <a:spcPct val="90000"/>
              </a:lnSpc>
              <a:buFontTx/>
              <a:buNone/>
            </a:pP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 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Preciso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de mim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Necessidade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–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Solicitação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;</a:t>
            </a:r>
          </a:p>
          <a:p>
            <a:pPr xmlns:a="http://schemas.openxmlformats.org/drawingml/2006/main"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seguro  os recursos são alocados para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Pi</a:t>
            </a:r>
          </a:p>
          <a:p>
            <a:pPr xmlns:a="http://schemas.openxmlformats.org/drawingml/2006/main"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inseguro 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Pi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deve esperar e o antigo estado de alocação de recursos é restaurado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A22B4C3E-1F19-9745-94A1-F136C4D5B4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350" y="277813"/>
            <a:ext cx="766445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Algoritmo de 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Banker</a:t>
            </a:r>
          </a:p>
        </p:txBody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3099A8E9-07B1-2245-A67B-44B74998A3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2488" y="1360488"/>
            <a:ext cx="7923212" cy="4540250"/>
          </a:xfrm>
        </p:spPr>
        <p:txBody>
          <a:bodyPr/>
          <a:lstStyle/>
          <a:p>
            <a:pPr xmlns:a="http://schemas.openxmlformats.org/drawingml/2006/main"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5 processos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4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;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 tipos de recursos: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        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(10 instâncias),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B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(5 instâncias) 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C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(7 instâncias)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Instantâneo no momento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T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 u="sng">
                <a:ea typeface="ＭＳ Ｐゴシック" panose="020B0600070205080204" pitchFamily="34" charset="-128"/>
              </a:rPr>
              <a:t>Alocação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 u="sng">
                <a:ea typeface="ＭＳ Ｐゴシック" panose="020B0600070205080204" pitchFamily="34" charset="-128"/>
              </a:rPr>
              <a:t>Máx.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i="1" u="sng">
                <a:ea typeface="ＭＳ Ｐゴシック" panose="020B0600070205080204" pitchFamily="34" charset="-128"/>
              </a:rPr>
              <a:t>Disponível</a:t>
            </a:r>
            <a:endParaRPr xmlns:a="http://schemas.openxmlformats.org/drawingml/2006/main" lang="en-US" altLang="pt-BR" i="1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ABCABCABC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0 1 0 7 5 3 3 3 2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2 0 0 3 2 2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3 0 2 9 0 2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2 1 1 2 2 2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4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0 0 2 4 3 3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9166294E-00B2-BB47-AE53-E715A7710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(Cont.)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47C5DA0A-2A47-8E40-AF3C-FEABEB9FE3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8363" y="1293813"/>
            <a:ext cx="7724775" cy="4640262"/>
          </a:xfrm>
        </p:spPr>
        <p:txBody>
          <a:bodyPr/>
          <a:lstStyle/>
          <a:p>
            <a:pPr xmlns:a="http://schemas.openxmlformats.org/drawingml/2006/main">
              <a:tabLst>
                <a:tab pos="2452688" algn="l"/>
                <a:tab pos="3492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conteúdo da matriz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Necessidade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definido como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Máx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–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Alocação</a:t>
            </a:r>
            <a:endParaRPr xmlns:a="http://schemas.openxmlformats.org/drawingml/2006/main" lang="en-US" altLang="pt-BR" b="1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  <a:tabLst>
                <a:tab pos="2452688" algn="l"/>
                <a:tab pos="3492500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452688" algn="l"/>
                <a:tab pos="3492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 u="sng">
                <a:ea typeface="ＭＳ Ｐゴシック" panose="020B0600070205080204" pitchFamily="34" charset="-128"/>
              </a:rPr>
              <a:t>Precisar</a:t>
            </a:r>
            <a:endParaRPr xmlns:a="http://schemas.openxmlformats.org/drawingml/2006/main" lang="en-US" altLang="pt-BR" u="sng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452688" algn="l"/>
                <a:tab pos="3492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abc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452688" algn="l"/>
                <a:tab pos="3492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7 4 3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452688" algn="l"/>
                <a:tab pos="3492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1 2 2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452688" algn="l"/>
                <a:tab pos="3492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6 0 0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452688" algn="l"/>
                <a:tab pos="3492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0 1 1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452688" algn="l"/>
                <a:tab pos="3492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4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4 3 1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2452688" algn="l"/>
                <a:tab pos="34925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está em um estado seguro, pois a sequência &lt;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4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&gt; satisfaz os critérios de segurança</a:t>
            </a:r>
            <a:endParaRPr xmlns:a="http://schemas.openxmlformats.org/drawingml/2006/main" lang="en-US" altLang="pt-BR" baseline="-25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63E489FC-C52C-B54B-95CF-A4626D267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563" y="277813"/>
            <a:ext cx="7869237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Exemplo: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Solicitação (1,0,2)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37C836AC-5F21-4546-996F-3932317560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3438" y="1292225"/>
            <a:ext cx="7766050" cy="5103813"/>
          </a:xfrm>
        </p:spPr>
        <p:txBody>
          <a:bodyPr/>
          <a:lstStyle/>
          <a:p>
            <a:pPr xmlns:a="http://schemas.openxmlformats.org/drawingml/2006/main"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Verifique se a solicitação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 disponível (ou seja, (1,0,2)  (3,3,2)  verdadeiro</a:t>
            </a:r>
            <a:endParaRPr xmlns:a="http://schemas.openxmlformats.org/drawingml/2006/main" lang="en-US" altLang="pt-BR" i="1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 u="sng">
                <a:ea typeface="ＭＳ Ｐゴシック" panose="020B0600070205080204" pitchFamily="34" charset="-128"/>
              </a:rPr>
              <a:t>Alocação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i="1" u="sng">
                <a:ea typeface="ＭＳ Ｐゴシック" panose="020B0600070205080204" pitchFamily="34" charset="-128"/>
              </a:rPr>
              <a:t>Precisar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   </a:t>
            </a:r>
            <a:r xmlns:a="http://schemas.openxmlformats.org/drawingml/2006/main">
              <a:rPr lang="pt" altLang="pt-BR" i="1" u="sng">
                <a:ea typeface="ＭＳ Ｐゴシック" panose="020B0600070205080204" pitchFamily="34" charset="-128"/>
              </a:rPr>
              <a:t>Disponível</a:t>
            </a:r>
            <a:endParaRPr xmlns:a="http://schemas.openxmlformats.org/drawingml/2006/main" lang="en-US" altLang="pt-BR" i="1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ABCABCABC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0 1 0 7 4 3 2 3 0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3 0 2 0 2 0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3 0 2 6 0 0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2 1 1 0 1 1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4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0 0 2 4 3 1</a:t>
            </a:r>
          </a:p>
          <a:p>
            <a:pPr>
              <a:buFont typeface="Monotype Sort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pt-BR" sz="8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execução do algoritmo de segurança mostra que a sequência &lt;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4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&gt; satisfaz o requisito de segurança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pt-BR" sz="8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pedido de (3,3,0) de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4 pode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ser atendido?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pt-BR" sz="8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solicitação de (0,2,0) por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0 pode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ser atendida?</a:t>
            </a:r>
          </a:p>
          <a:p>
            <a:pPr>
              <a:buFont typeface="Monotype Sorts" pitchFamily="2" charset="2"/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A83612CC-4E92-D44A-B4A3-5FD551045E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1413" y="277813"/>
            <a:ext cx="7421562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Detecção de Deadlock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538F974A-053B-6D46-8FDE-E0F113755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Permitir que o sistema entre em estado de deadlock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 de detecção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Esquema de recuperação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3A097B38-A6C8-1E42-9A72-4DD35E10A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7750" y="0"/>
            <a:ext cx="7772400" cy="8445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Instância única de cada tipo de recurso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EB3F477B-915F-4B45-94FB-6A547A4B55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425575"/>
            <a:ext cx="7585075" cy="45116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Manter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gráfico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de espera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nós são processos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Pi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​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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i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está esperando por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j</a:t>
            </a:r>
            <a:br xmlns:a="http://schemas.openxmlformats.org/drawingml/2006/main">
              <a:rPr lang="en-US" altLang="pt-BR" b="1" i="1">
                <a:ea typeface="ＭＳ Ｐゴシック" panose="020B0600070205080204" pitchFamily="34" charset="-128"/>
                <a:sym typeface="Symbol" pitchFamily="2" charset="2"/>
              </a:rPr>
            </a:br>
            <a:endParaRPr xmlns:a="http://schemas.openxmlformats.org/drawingml/2006/main" lang="en-US" altLang="pt-BR" b="1" i="1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Invoque periodicamente um algoritmo que busca um ciclo no grafo. Se houver um ciclo, existe um deadlock.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algoritmo para detectar um ciclo em um gráfico requer uma ordem de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 b="1" baseline="30000">
                <a:ea typeface="ＭＳ Ｐゴシック" panose="020B0600070205080204" pitchFamily="34" charset="-128"/>
              </a:rPr>
              <a:t>2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operações, onde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o número de vértices no gráfico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F997D324-60A8-E640-B87C-3841B95B4A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013" y="428625"/>
            <a:ext cx="7654925" cy="4572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400">
                <a:ea typeface="ＭＳ Ｐゴシック" panose="020B0600070205080204" pitchFamily="34" charset="-128"/>
              </a:rPr>
              <a:t>Gráfico de alocação de recursos e gráfico de espera</a:t>
            </a:r>
          </a:p>
        </p:txBody>
      </p:sp>
      <p:sp>
        <p:nvSpPr>
          <p:cNvPr id="76802" name="Text Box 5">
            <a:extLst>
              <a:ext uri="{FF2B5EF4-FFF2-40B4-BE49-F238E27FC236}">
                <a16:creationId xmlns:a16="http://schemas.microsoft.com/office/drawing/2014/main" id="{16E2F305-F67F-5D40-9C4C-950B74EBA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5294313"/>
            <a:ext cx="292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Gráfico de alocação de recursos</a:t>
            </a:r>
          </a:p>
        </p:txBody>
      </p:sp>
      <p:sp>
        <p:nvSpPr>
          <p:cNvPr id="76803" name="Text Box 6">
            <a:extLst>
              <a:ext uri="{FF2B5EF4-FFF2-40B4-BE49-F238E27FC236}">
                <a16:creationId xmlns:a16="http://schemas.microsoft.com/office/drawing/2014/main" id="{972112B0-2A5C-2D49-AA8A-4EBB4DCBE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5294313"/>
            <a:ext cx="3143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Gráfico de espera correspondente</a:t>
            </a:r>
          </a:p>
        </p:txBody>
      </p:sp>
      <p:pic>
        <p:nvPicPr>
          <p:cNvPr id="76804" name="Picture 6" descr="7">
            <a:extLst>
              <a:ext uri="{FF2B5EF4-FFF2-40B4-BE49-F238E27FC236}">
                <a16:creationId xmlns:a16="http://schemas.microsoft.com/office/drawing/2014/main" id="{904CD51E-DF76-3E41-94EE-6FB13DD5E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257300"/>
            <a:ext cx="5937250" cy="383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E21595A0-3672-4B4C-BBDF-73B11A6D8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225425"/>
            <a:ext cx="7772400" cy="6286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Várias instâncias de um tipo de recurso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7FBBCB79-FCB7-184F-A0CE-ADB89009DB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5025" y="1344613"/>
            <a:ext cx="7594600" cy="3851275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000000"/>
                </a:solidFill>
                <a:ea typeface="ＭＳ Ｐゴシック" panose="020B0600070205080204" pitchFamily="34" charset="-128"/>
              </a:rPr>
              <a:t>Disponível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: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vetor de comprimento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indica o número de recursos disponíveis de cada tipo</a:t>
            </a:r>
          </a:p>
          <a:p>
            <a:r xmlns:a="http://schemas.openxmlformats.org/drawingml/2006/main">
              <a:rPr lang="pt" altLang="pt-BR" b="1">
                <a:solidFill>
                  <a:srgbClr val="000000"/>
                </a:solidFill>
                <a:ea typeface="ＭＳ Ｐゴシック" panose="020B0600070205080204" pitchFamily="34" charset="-128"/>
              </a:rPr>
              <a:t>Alocação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: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x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m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matriz define o número de recursos de cada tipo atualmente alocados para cada processo</a:t>
            </a:r>
          </a:p>
          <a:p>
            <a:r xmlns:a="http://schemas.openxmlformats.org/drawingml/2006/main">
              <a:rPr lang="pt" altLang="pt-BR" b="1">
                <a:solidFill>
                  <a:srgbClr val="000000"/>
                </a:solidFill>
                <a:ea typeface="ＭＳ Ｐゴシック" panose="020B0600070205080204" pitchFamily="34" charset="-128"/>
              </a:rPr>
              <a:t>Solicitação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: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An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x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m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matriz indica a solicitação atual de cada processo. Se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Request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][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j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] 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então o processo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está solicitando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mais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instâncias do tipo de recurso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R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j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D8130035-C11F-814A-A788-E11CC3028F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7400" y="277813"/>
            <a:ext cx="789940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 de detecção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1CFF2E92-026D-1647-9D4C-2938EFE45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53350" cy="4530725"/>
          </a:xfrm>
        </p:spPr>
        <p:txBody>
          <a:bodyPr/>
          <a:lstStyle/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1. Sejam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Trabalho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Fim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vetores de comprimento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respectivamente Inicialize:</a:t>
            </a:r>
          </a:p>
          <a:p>
            <a:pPr xmlns:a="http://schemas.openxmlformats.org/drawingml/2006/main" marL="850900" lvl="1" indent="-393700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(a)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Trabalho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Disponível</a:t>
            </a:r>
            <a:endParaRPr xmlns:a="http://schemas.openxmlformats.org/drawingml/2006/main" lang="en-US" altLang="pt-BR" b="1">
              <a:ea typeface="ＭＳ Ｐゴシック" panose="020B0600070205080204" pitchFamily="34" charset="-128"/>
            </a:endParaRPr>
          </a:p>
          <a:p>
            <a:pPr xmlns:a="http://schemas.openxmlformats.org/drawingml/2006/main" marL="850900" lvl="1" indent="-393700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(b) Para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= 1,2, …,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se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Alocação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 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, então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  <a:sym typeface="Symbol" pitchFamily="2" charset="2"/>
              </a:rPr>
            </a:b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Finish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[i]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= falso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; caso contrário,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Finish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[i] 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verdadeiro</a:t>
            </a:r>
          </a:p>
          <a:p>
            <a:pPr marL="850900" lvl="1" indent="-393700"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2. Encontre um índice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modo que ambos:</a:t>
            </a:r>
          </a:p>
          <a:p>
            <a:pPr xmlns:a="http://schemas.openxmlformats.org/drawingml/2006/main" marL="850900" lvl="1" indent="-393700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(a)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Concluir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] ==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falso</a:t>
            </a:r>
            <a:endParaRPr xmlns:a="http://schemas.openxmlformats.org/drawingml/2006/main" lang="en-US" altLang="pt-BR" b="1">
              <a:ea typeface="ＭＳ Ｐゴシック" panose="020B0600070205080204" pitchFamily="34" charset="-128"/>
            </a:endParaRPr>
          </a:p>
          <a:p>
            <a:pPr xmlns:a="http://schemas.openxmlformats.org/drawingml/2006/main" marL="850900" lvl="1" indent="-393700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(b)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Solicitação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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Trabalho</a:t>
            </a:r>
            <a:br xmlns:a="http://schemas.openxmlformats.org/drawingml/2006/main">
              <a:rPr lang="en-US" altLang="pt-BR" b="1" i="1">
                <a:ea typeface="ＭＳ Ｐゴシック" panose="020B0600070205080204" pitchFamily="34" charset="-128"/>
                <a:sym typeface="Symbol" pitchFamily="2" charset="2"/>
              </a:rPr>
            </a:br>
            <a:endParaRPr xmlns:a="http://schemas.openxmlformats.org/drawingml/2006/main" lang="en-US" altLang="pt-BR" b="1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 marL="850900" lvl="1" indent="-393700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Se não houver tal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i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existe, vá para a etapa 4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1AF39EB2-3A8F-EC40-BFED-773FF2EE0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77813"/>
            <a:ext cx="7558087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Algoritmo de detecção (cont.)</a:t>
            </a:r>
          </a:p>
        </p:txBody>
      </p:sp>
      <p:sp>
        <p:nvSpPr>
          <p:cNvPr id="82946" name="Rectangle 3">
            <a:extLst>
              <a:ext uri="{FF2B5EF4-FFF2-40B4-BE49-F238E27FC236}">
                <a16:creationId xmlns:a16="http://schemas.microsoft.com/office/drawing/2014/main" id="{EF816AAE-2F95-3249-BB78-D8FBC585E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439863"/>
            <a:ext cx="7723188" cy="2297112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3.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Trabalho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Trabalho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+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Alocação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i </a:t>
            </a:r>
            <a:br xmlns:a="http://schemas.openxmlformats.org/drawingml/2006/main">
              <a:rPr lang="en-US" altLang="pt-BR" b="1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Concluir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[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] 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verdadeiro </a:t>
            </a:r>
            <a:br xmlns:a="http://schemas.openxmlformats.org/drawingml/2006/main">
              <a:rPr lang="en-US" altLang="pt-BR" b="1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 para a etapa 2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4. Se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Finish[i] == false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para algum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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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, então o sistema está em estado de deadlock. Além disso, se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Finish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[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  <a:sym typeface="Symbol" pitchFamily="2" charset="2"/>
              </a:rPr>
              <a:t>] ==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false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, então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  <a:sym typeface="Symbol" pitchFamily="2" charset="2"/>
              </a:rPr>
              <a:t>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  <a:sym typeface="Symbol" pitchFamily="2" charset="2"/>
              </a:rPr>
              <a:t>i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está em estado de deadlock.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 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</p:txBody>
      </p:sp>
      <p:sp>
        <p:nvSpPr>
          <p:cNvPr id="82947" name="Text Box 4">
            <a:extLst>
              <a:ext uri="{FF2B5EF4-FFF2-40B4-BE49-F238E27FC236}">
                <a16:creationId xmlns:a16="http://schemas.microsoft.com/office/drawing/2014/main" id="{89258170-B89A-F04E-8AB2-4506477C9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88" y="3824288"/>
            <a:ext cx="7694612" cy="106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 xmlns:a="http://schemas.openxmlformats.org/drawingml/2006/main">
              <a:rPr lang="pt" altLang="pt-BR" sz="1800" b="1">
                <a:solidFill>
                  <a:srgbClr val="FF0066"/>
                </a:solidFill>
                <a:latin typeface="Helvetica" pitchFamily="2" charset="0"/>
                <a:sym typeface="Symbol" pitchFamily="2" charset="2"/>
              </a:rPr>
              <a:t>O algoritmo requer uma ordem de operações O( </a:t>
            </a:r>
            <a:r xmlns:a="http://schemas.openxmlformats.org/drawingml/2006/main">
              <a:rPr lang="pt" altLang="pt-BR" sz="1800" b="1" i="1">
                <a:solidFill>
                  <a:srgbClr val="FF0066"/>
                </a:solidFill>
                <a:latin typeface="Helvetica" pitchFamily="2" charset="0"/>
                <a:sym typeface="Symbol" pitchFamily="2" charset="2"/>
              </a:rPr>
              <a:t>m </a:t>
            </a:r>
            <a:r xmlns:a="http://schemas.openxmlformats.org/drawingml/2006/main">
              <a:rPr lang="pt" altLang="pt-BR" sz="1800" b="1">
                <a:solidFill>
                  <a:srgbClr val="FF0066"/>
                </a:solidFill>
                <a:latin typeface="Helvetica" pitchFamily="2" charset="0"/>
                <a:sym typeface="Symbol" pitchFamily="2" charset="2"/>
              </a:rPr>
              <a:t>x </a:t>
            </a:r>
            <a:r xmlns:a="http://schemas.openxmlformats.org/drawingml/2006/main">
              <a:rPr lang="pt" altLang="pt-BR" sz="1800" b="1" i="1">
                <a:solidFill>
                  <a:srgbClr val="FF0066"/>
                </a:solidFill>
                <a:latin typeface="Helvetica" pitchFamily="2" charset="0"/>
                <a:sym typeface="Symbol" pitchFamily="2" charset="2"/>
              </a:rPr>
              <a:t>n </a:t>
            </a:r>
            <a:r xmlns:a="http://schemas.openxmlformats.org/drawingml/2006/main">
              <a:rPr lang="pt" altLang="pt-BR" sz="1800" b="1" baseline="30000">
                <a:solidFill>
                  <a:srgbClr val="FF0066"/>
                </a:solidFill>
                <a:latin typeface="Helvetica" pitchFamily="2" charset="0"/>
                <a:sym typeface="Symbol" pitchFamily="2" charset="2"/>
              </a:rPr>
              <a:t>2 </a:t>
            </a:r>
            <a:r xmlns:a="http://schemas.openxmlformats.org/drawingml/2006/main">
              <a:rPr lang="pt" altLang="pt-BR" sz="1800" b="1">
                <a:solidFill>
                  <a:srgbClr val="FF0066"/>
                </a:solidFill>
                <a:latin typeface="Helvetica" pitchFamily="2" charset="0"/>
                <a:sym typeface="Symbol" pitchFamily="2" charset="2"/>
              </a:rPr>
              <a:t>) para detectar se o sistema está em estado de deadlock</a:t>
            </a:r>
            <a:endParaRPr xmlns:a="http://schemas.openxmlformats.org/drawingml/2006/main" lang="en-US" altLang="pt-BR" sz="1800">
              <a:solidFill>
                <a:srgbClr val="FF0066"/>
              </a:solidFill>
              <a:latin typeface="Helvetica" pitchFamily="2" charset="0"/>
            </a:endParaRPr>
          </a:p>
          <a:p>
            <a:pPr>
              <a:spcBef>
                <a:spcPct val="50000"/>
              </a:spcBef>
            </a:pPr>
            <a:endParaRPr lang="en-US" altLang="pt-BR" sz="1800">
              <a:solidFill>
                <a:srgbClr val="FF0066"/>
              </a:solidFill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3501C388-D13F-DB48-B82F-66B7DE9020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2350" y="277813"/>
            <a:ext cx="7664450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algoritmo de detecção</a:t>
            </a:r>
          </a:p>
        </p:txBody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D13BB3E9-9183-B946-A2A1-B2965BBEDB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8037513" cy="5121275"/>
          </a:xfrm>
        </p:spPr>
        <p:txBody>
          <a:bodyPr/>
          <a:lstStyle/>
          <a:p>
            <a:pPr xmlns:a="http://schemas.openxmlformats.org/drawingml/2006/main"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Cinco processos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4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;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três tipos de recursos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(7 instâncias),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B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(2 instâncias) 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C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(6 instâncias)</a:t>
            </a:r>
          </a:p>
          <a:p>
            <a:pPr>
              <a:buFont typeface="Monotype Sort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Instantâneo no momento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T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 </a:t>
            </a:r>
            <a:r xmlns:a="http://schemas.openxmlformats.org/drawingml/2006/main">
              <a:rPr lang="pt" altLang="pt-BR" i="1" u="sng">
                <a:ea typeface="ＭＳ Ｐゴシック" panose="020B0600070205080204" pitchFamily="34" charset="-128"/>
              </a:rPr>
              <a:t>Alocação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i="1" u="sng">
                <a:ea typeface="ＭＳ Ｐゴシック" panose="020B0600070205080204" pitchFamily="34" charset="-128"/>
              </a:rPr>
              <a:t>Solicitar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i="1" u="sng">
                <a:ea typeface="ＭＳ Ｐゴシック" panose="020B0600070205080204" pitchFamily="34" charset="-128"/>
              </a:rPr>
              <a:t>Disponível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ABCABCABC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   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0 1 0 0 0 0 0 0 0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2 0 0 2 0 2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3 0 3 0 0 0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2 1 1 1 0 0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  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4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0 0 2 0 0 2</a:t>
            </a:r>
          </a:p>
          <a:p>
            <a:pPr>
              <a:buFont typeface="Monotype Sort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Sequência &lt;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, 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, 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, 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, P </a:t>
            </a:r>
            <a:r xmlns:a="http://schemas.openxmlformats.org/drawingml/2006/main">
              <a:rPr lang="pt" altLang="pt-BR" b="1" i="1" baseline="-25000">
                <a:ea typeface="ＭＳ Ｐゴシック" panose="020B0600070205080204" pitchFamily="34" charset="-128"/>
              </a:rPr>
              <a:t>4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&gt; resultará em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Finish[i] = true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todos os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</a:t>
            </a:r>
            <a:endParaRPr xmlns:a="http://schemas.openxmlformats.org/drawingml/2006/main" lang="en-US" altLang="pt-BR" b="1">
              <a:ea typeface="ＭＳ Ｐゴシック" panose="020B0600070205080204" pitchFamily="34" charset="-128"/>
            </a:endParaRPr>
          </a:p>
          <a:p>
            <a:pPr>
              <a:buFont typeface="Monotype Sorts" pitchFamily="2" charset="2"/>
              <a:buNone/>
              <a:tabLst>
                <a:tab pos="1428750" algn="l"/>
                <a:tab pos="2338388" algn="ctr"/>
                <a:tab pos="3594100" algn="ctr"/>
                <a:tab pos="4921250" algn="ctr"/>
              </a:tabLst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F0468F8F-EE10-1244-BD34-C24652262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(Cont.)</a:t>
            </a:r>
          </a:p>
        </p:txBody>
      </p:sp>
      <p:sp>
        <p:nvSpPr>
          <p:cNvPr id="87042" name="Rectangle 3">
            <a:extLst>
              <a:ext uri="{FF2B5EF4-FFF2-40B4-BE49-F238E27FC236}">
                <a16:creationId xmlns:a16="http://schemas.microsoft.com/office/drawing/2014/main" id="{4E5DE1BB-F474-CF4B-8158-D4FAE85E6F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81925" cy="5037137"/>
          </a:xfrm>
        </p:spPr>
        <p:txBody>
          <a:bodyPr/>
          <a:lstStyle/>
          <a:p>
            <a:pPr xmlns:a="http://schemas.openxmlformats.org/drawingml/2006/main">
              <a:tabLst>
                <a:tab pos="2800350" algn="l"/>
                <a:tab pos="3708400" algn="ctr"/>
              </a:tabLst>
            </a:pP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solicita uma instância adicional do tipo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C</a:t>
            </a:r>
            <a:endParaRPr xmlns:a="http://schemas.openxmlformats.org/drawingml/2006/main" lang="en-US" altLang="pt-BR" b="1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800350" algn="l"/>
                <a:tab pos="37084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 u="sng">
                <a:ea typeface="ＭＳ Ｐゴシック" panose="020B0600070205080204" pitchFamily="34" charset="-128"/>
              </a:rPr>
              <a:t>Solicitar</a:t>
            </a:r>
            <a:endParaRPr xmlns:a="http://schemas.openxmlformats.org/drawingml/2006/main" lang="en-US" altLang="pt-BR" i="1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800350" algn="l"/>
                <a:tab pos="3708400" algn="ctr"/>
              </a:tabLst>
            </a:pP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abc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800350" algn="l"/>
                <a:tab pos="37084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0 0 0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800350" algn="l"/>
                <a:tab pos="37084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2 0 2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800350" algn="l"/>
                <a:tab pos="37084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0 0 1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800350" algn="l"/>
                <a:tab pos="37084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1 0 0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800350" algn="l"/>
                <a:tab pos="37084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 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aseline="-25000">
                <a:ea typeface="ＭＳ Ｐゴシック" panose="020B0600070205080204" pitchFamily="34" charset="-128"/>
              </a:rPr>
              <a:t>4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0 0 2</a:t>
            </a:r>
          </a:p>
          <a:p>
            <a:pPr>
              <a:buFont typeface="Monotype Sorts" pitchFamily="2" charset="2"/>
              <a:buNone/>
              <a:tabLst>
                <a:tab pos="2800350" algn="l"/>
                <a:tab pos="3708400" algn="ctr"/>
              </a:tabLst>
            </a:pPr>
            <a:endParaRPr lang="en-US" altLang="pt-BR" sz="8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2800350" algn="l"/>
                <a:tab pos="37084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Estado do sistema?</a:t>
            </a:r>
          </a:p>
          <a:p>
            <a:pPr xmlns:a="http://schemas.openxmlformats.org/drawingml/2006/main" lvl="1">
              <a:tabLst>
                <a:tab pos="2800350" algn="l"/>
                <a:tab pos="37084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recuperar recursos mantidos pelo processo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mas recursos insuficientes para atender outros processos; solicitações</a:t>
            </a:r>
          </a:p>
          <a:p>
            <a:pPr xmlns:a="http://schemas.openxmlformats.org/drawingml/2006/main" lvl="1">
              <a:tabLst>
                <a:tab pos="2800350" algn="l"/>
                <a:tab pos="3708400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Existe um deadlock, constituído pelos processos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,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,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3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b="1" baseline="-25000">
                <a:ea typeface="ＭＳ Ｐゴシック" panose="020B0600070205080204" pitchFamily="34" charset="-128"/>
              </a:rPr>
              <a:t>4</a:t>
            </a:r>
            <a:endParaRPr xmlns:a="http://schemas.openxmlformats.org/drawingml/2006/main" lang="en-US" altLang="pt-BR" b="1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3F3641A1-3DC1-BA46-8E4A-ACD2AB1698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0138" y="277813"/>
            <a:ext cx="7586662" cy="57626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Uso do Algoritmo de Detecção</a:t>
            </a:r>
          </a:p>
        </p:txBody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F82E7238-252E-3941-BBB4-AD113CA09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713663" cy="45307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e com que frequência invocar depende de: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 que frequência é provável que um impasse ocorra?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Quantos processos precisarão ser revertidos?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para cada ciclo disjunto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 algoritmo de detecção for invocado arbitrariamente, pode haver muitos ciclos no gráfico de recursos e, portanto, não seríamos capazes de dizer qual dos muitos processos em deadlock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“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causou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o deadlock.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31AFB064-64BA-6D44-9C9C-0B227F5B9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8000" y="465138"/>
            <a:ext cx="8588375" cy="4572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Recuperação de Deadlock: </a:t>
            </a:r>
            <a:br xmlns:a="http://schemas.openxmlformats.org/drawingml/2006/main">
              <a:rPr lang="en-US" altLang="pt-BR" sz="28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Término do Processo</a:t>
            </a:r>
          </a:p>
        </p:txBody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0F4F17F4-6D16-2045-AD53-B6D2E9471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694613" cy="45307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Abortar todos os processos travados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Abortar um processo de cada vez até que o ciclo de deadlock seja eliminado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que ordem devemos escolher abortar?</a:t>
            </a:r>
          </a:p>
          <a:p>
            <a:pPr xmlns:a="http://schemas.openxmlformats.org/drawingml/2006/main" marL="800100" lvl="1" indent="-342900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Prioridade do processo</a:t>
            </a:r>
          </a:p>
          <a:p>
            <a:pPr xmlns:a="http://schemas.openxmlformats.org/drawingml/2006/main" marL="800100" lvl="1" indent="-342900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Quanto tempo o processo foi computado e quanto tempo ainda falta para ser concluído</a:t>
            </a:r>
          </a:p>
          <a:p>
            <a:pPr xmlns:a="http://schemas.openxmlformats.org/drawingml/2006/main" marL="800100" lvl="1" indent="-342900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Recursos que o processo utilizou</a:t>
            </a:r>
          </a:p>
          <a:p>
            <a:pPr xmlns:a="http://schemas.openxmlformats.org/drawingml/2006/main" marL="800100" lvl="1" indent="-342900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processo de recursos precisa ser concluído</a:t>
            </a:r>
          </a:p>
          <a:p>
            <a:pPr xmlns:a="http://schemas.openxmlformats.org/drawingml/2006/main" marL="800100" lvl="1" indent="-342900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Quantos processos precisarão ser encerrados</a:t>
            </a:r>
          </a:p>
          <a:p>
            <a:pPr xmlns:a="http://schemas.openxmlformats.org/drawingml/2006/main" marL="800100" lvl="1" indent="-342900">
              <a:buFont typeface="Arial" panose="020B0604020202020204" pitchFamily="34" charset="0"/>
              <a:buAutoNum type="arabicPeriod"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processo é interativo ou em lote?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61286BC6-B416-4848-B0F9-C2EFAFD9D8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8188" y="417513"/>
            <a:ext cx="8020050" cy="4572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Recuperação de Deadlock: </a:t>
            </a:r>
            <a:br xmlns:a="http://schemas.openxmlformats.org/drawingml/2006/main">
              <a:rPr lang="en-US" altLang="pt-BR" sz="28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2800">
                <a:ea typeface="ＭＳ Ｐゴシック" panose="020B0600070205080204" pitchFamily="34" charset="-128"/>
              </a:rPr>
              <a:t>Preempção de Recursos</a:t>
            </a:r>
          </a:p>
        </p:txBody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955B2E9A-3E1A-4346-985D-5AF7BA696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482725"/>
            <a:ext cx="7351712" cy="4483100"/>
          </a:xfrm>
        </p:spPr>
        <p:txBody>
          <a:bodyPr/>
          <a:lstStyle/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Selecionando uma vítima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minimizar custos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Rollback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retornar a algum estado seguro, reiniciar o processo para esse estado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Fome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o mesmo processo pode sempre ser escolhido como vítima, inclua o número de rollbacks no fator de custo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EC967023-E906-FC41-8C56-5FD1CBBF7FF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Fim do Capítulo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2622</TotalTime>
  <Words>2962</Words>
  <Application>Microsoft Macintosh PowerPoint</Application>
  <PresentationFormat>Apresentação na tela (4:3)</PresentationFormat>
  <Paragraphs>351</Paragraphs>
  <Slides>45</Slides>
  <Notes>45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5" baseType="lpstr">
      <vt:lpstr>Verdana</vt:lpstr>
      <vt:lpstr>ＭＳ Ｐゴシック</vt:lpstr>
      <vt:lpstr>Arial</vt:lpstr>
      <vt:lpstr>Helvetica</vt:lpstr>
      <vt:lpstr>Monotype Sorts</vt:lpstr>
      <vt:lpstr>Webdings</vt:lpstr>
      <vt:lpstr>Times New Roman</vt:lpstr>
      <vt:lpstr>Symbol</vt:lpstr>
      <vt:lpstr>Courier New</vt:lpstr>
      <vt:lpstr>os-8</vt:lpstr>
      <vt:lpstr>Chapter 7:  Deadlocks</vt:lpstr>
      <vt:lpstr>Chapter 7:  Deadlocks</vt:lpstr>
      <vt:lpstr>Chapter Objectives</vt:lpstr>
      <vt:lpstr>System Model</vt:lpstr>
      <vt:lpstr>Deadlock Characterization</vt:lpstr>
      <vt:lpstr>Deadlock with Mutex Locks</vt:lpstr>
      <vt:lpstr>Resource-Allocation Graph</vt:lpstr>
      <vt:lpstr>Resource-Allocation Graph (Cont.)</vt:lpstr>
      <vt:lpstr>Example of a Resource Allocation Graph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Deadlock Prevention (Cont.)</vt:lpstr>
      <vt:lpstr>Deadlock Example</vt:lpstr>
      <vt:lpstr>Deadlock Example with Lock Ordering</vt:lpstr>
      <vt:lpstr>Deadlock Avoidance</vt:lpstr>
      <vt:lpstr>Safe State</vt:lpstr>
      <vt:lpstr>Basic Facts</vt:lpstr>
      <vt:lpstr>Safe, Unsafe,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(Cont.)</vt:lpstr>
      <vt:lpstr>Example:  P1 Request (1,0,2)</vt:lpstr>
      <vt:lpstr>Deadlock Detection</vt:lpstr>
      <vt:lpstr>Single Instance of Each Resource Type</vt:lpstr>
      <vt:lpstr>Resource-Allocation Graph and Wait-for Graph</vt:lpstr>
      <vt:lpstr>Several Instances of a Resource Type</vt:lpstr>
      <vt:lpstr>Detection Algorithm</vt:lpstr>
      <vt:lpstr>Detection Algorithm (Cont.)</vt:lpstr>
      <vt:lpstr>Example of Detection Algorithm</vt:lpstr>
      <vt:lpstr>Example (Cont.)</vt:lpstr>
      <vt:lpstr>Detection-Algorithm Usage</vt:lpstr>
      <vt:lpstr>Recovery from Deadlock:   Process Termination</vt:lpstr>
      <vt:lpstr>Recovery from Deadlock:  Resource Preemption</vt:lpstr>
      <vt:lpstr>End of Chapter 7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Marilyn Turnamian</dc:creator>
  <cp:lastModifiedBy>Getulio Pereira</cp:lastModifiedBy>
  <cp:revision>155</cp:revision>
  <cp:lastPrinted>2001-06-14T19:16:14Z</cp:lastPrinted>
  <dcterms:created xsi:type="dcterms:W3CDTF">2008-08-18T22:49:08Z</dcterms:created>
  <dcterms:modified xsi:type="dcterms:W3CDTF">2020-10-08T15:09:11Z</dcterms:modified>
</cp:coreProperties>
</file>