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60" r:id="rId1"/>
  </p:sldMasterIdLst>
  <p:notesMasterIdLst>
    <p:notesMasterId r:id="rId69"/>
  </p:notesMasterIdLst>
  <p:handoutMasterIdLst>
    <p:handoutMasterId r:id="rId70"/>
  </p:handoutMasterIdLst>
  <p:sldIdLst>
    <p:sldId id="318" r:id="rId2"/>
    <p:sldId id="256" r:id="rId3"/>
    <p:sldId id="353" r:id="rId4"/>
    <p:sldId id="257" r:id="rId5"/>
    <p:sldId id="27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352" r:id="rId15"/>
    <p:sldId id="291" r:id="rId16"/>
    <p:sldId id="343" r:id="rId17"/>
    <p:sldId id="360" r:id="rId18"/>
    <p:sldId id="269" r:id="rId19"/>
    <p:sldId id="361" r:id="rId20"/>
    <p:sldId id="270" r:id="rId21"/>
    <p:sldId id="271" r:id="rId22"/>
    <p:sldId id="281" r:id="rId23"/>
    <p:sldId id="282" r:id="rId24"/>
    <p:sldId id="272" r:id="rId25"/>
    <p:sldId id="283" r:id="rId26"/>
    <p:sldId id="273" r:id="rId27"/>
    <p:sldId id="274" r:id="rId28"/>
    <p:sldId id="320" r:id="rId29"/>
    <p:sldId id="354" r:id="rId30"/>
    <p:sldId id="355" r:id="rId31"/>
    <p:sldId id="322" r:id="rId32"/>
    <p:sldId id="275" r:id="rId33"/>
    <p:sldId id="356" r:id="rId34"/>
    <p:sldId id="372" r:id="rId35"/>
    <p:sldId id="357" r:id="rId36"/>
    <p:sldId id="358" r:id="rId37"/>
    <p:sldId id="373" r:id="rId38"/>
    <p:sldId id="374" r:id="rId39"/>
    <p:sldId id="375" r:id="rId40"/>
    <p:sldId id="362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29" r:id="rId49"/>
    <p:sldId id="301" r:id="rId50"/>
    <p:sldId id="383" r:id="rId51"/>
    <p:sldId id="384" r:id="rId52"/>
    <p:sldId id="367" r:id="rId53"/>
    <p:sldId id="365" r:id="rId54"/>
    <p:sldId id="366" r:id="rId55"/>
    <p:sldId id="290" r:id="rId56"/>
    <p:sldId id="363" r:id="rId57"/>
    <p:sldId id="348" r:id="rId58"/>
    <p:sldId id="359" r:id="rId59"/>
    <p:sldId id="364" r:id="rId60"/>
    <p:sldId id="326" r:id="rId61"/>
    <p:sldId id="385" r:id="rId62"/>
    <p:sldId id="368" r:id="rId63"/>
    <p:sldId id="369" r:id="rId64"/>
    <p:sldId id="370" r:id="rId65"/>
    <p:sldId id="351" r:id="rId66"/>
    <p:sldId id="371" r:id="rId67"/>
    <p:sldId id="319" r:id="rId68"/>
  </p:sldIdLst>
  <p:sldSz cx="13716000" cy="9144000"/>
  <p:notesSz cx="6997700" cy="92837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650875" indent="-1936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1303338" indent="-3889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957388" indent="-5857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2609850" indent="-78105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7">
          <p15:clr>
            <a:srgbClr val="A4A3A4"/>
          </p15:clr>
        </p15:guide>
        <p15:guide id="2" pos="19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71" d="100"/>
          <a:sy n="71" d="100"/>
        </p:scale>
        <p:origin x="1248" y="168"/>
      </p:cViewPr>
      <p:guideLst>
        <p:guide orient="horz" pos="1517"/>
        <p:guide pos="19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976EC9D8-F489-9E45-8D99-C359B84898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C0DCD9E-23E6-834C-9FE9-E6DFC81528F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6936628D-2045-6943-B9EB-37778A40F7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30D3959C-12A7-F540-87D5-841A2872385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pitchFamily="2" charset="0"/>
              </a:defRPr>
            </a:lvl1pPr>
          </a:lstStyle>
          <a:p>
            <a:fld id="{273EC5CA-615E-4F4D-8A92-76D9F25DD0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BF93694-2B1F-B247-8AAF-425F4A8826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3408B5F-47F5-A344-A2A1-D9D056C5FB4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CB0BF50-98B9-204F-8D6F-72A8865B444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90588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F1A916C-EE30-3443-AC9B-611E87AD77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501BA63-4C51-5046-AF7B-69B328E36D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FBB082DE-45DF-7540-A33C-D5291B4CA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533AF2B1-BB71-8D4A-99D3-90C1C87D5A7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08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33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738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09850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4898" algn="l" defTabSz="65297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7878" algn="l" defTabSz="65297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0857" algn="l" defTabSz="65297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3836" algn="l" defTabSz="65297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A6894A30-E9BF-1446-B999-2CB06B40B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BE03CEB-5EC8-4C4B-90B2-EBB62D047F6A}" type="slidenum">
              <a:rPr lang="en-US" altLang="pt-BR" sz="1300">
                <a:latin typeface="Times New Roman" panose="02020603050405020304" pitchFamily="18" charset="0"/>
              </a:rPr>
              <a:pPr/>
              <a:t>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E152E890-4FE0-CD43-B57A-185B2DE7D5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01E5733-31B7-9240-A9AD-89E733D1D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CC8A37FB-D006-4644-B1D5-8FA0A412D0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C51F841-D904-AB47-8F3F-DC38CBDB15D7}" type="slidenum">
              <a:rPr lang="en-US" altLang="pt-BR" sz="1300">
                <a:latin typeface="Times New Roman" panose="02020603050405020304" pitchFamily="18" charset="0"/>
              </a:rPr>
              <a:pPr/>
              <a:t>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9752522E-393F-0441-8F3E-FADD2559B5F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1C20E88-7638-CA4C-97A2-3ADA3E6B6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86CFCA35-78B9-4748-B9A5-2FA03CC4A2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B3431F60-FFFE-634D-872C-EF16FEA2C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DCAD2BF1-5670-BB4C-8CB3-05F2026CC3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08ABD6E-6E5D-A546-B224-114496DBDA8A}" type="slidenum">
              <a:rPr lang="en-US" altLang="pt-BR" sz="1300">
                <a:latin typeface="Times New Roman" panose="02020603050405020304" pitchFamily="18" charset="0"/>
              </a:rPr>
              <a:pPr/>
              <a:t>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4AFA354D-1F04-8249-9678-79FB107B28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EC46659-2DB0-FF4D-AC36-AA5465090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2FEBC6D8-2191-8C40-92E2-A4F7267ABC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7119A01-A0BA-B84A-B7D4-FDCC8878A8E9}" type="slidenum">
              <a:rPr lang="en-US" altLang="pt-BR" sz="1300">
                <a:latin typeface="Times New Roman" panose="02020603050405020304" pitchFamily="18" charset="0"/>
              </a:rPr>
              <a:pPr/>
              <a:t>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B89925C-3807-7E4D-9CF0-4014AC757F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3363E6-F0FB-3448-A842-F4793D499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6A27C57-AAF2-B34D-AF55-A465787B17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B2DE9ED-6FE3-A640-B1BC-9EAC8DEA6766}" type="slidenum">
              <a:rPr lang="en-US" altLang="pt-BR" sz="1300">
                <a:latin typeface="Times New Roman" panose="02020603050405020304" pitchFamily="18" charset="0"/>
              </a:rPr>
              <a:pPr/>
              <a:t>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E2DFE68F-3BFC-404F-9666-F36C8126C2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009EDEA-EABB-7F49-916B-2B1DFACDC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8F2C78E8-3E87-3B44-BA8F-015B9BCC26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47D2428-3E35-934E-A699-6840D887E424}" type="slidenum">
              <a:rPr lang="en-US" altLang="pt-BR" sz="1300">
                <a:latin typeface="Times New Roman" panose="02020603050405020304" pitchFamily="18" charset="0"/>
              </a:rPr>
              <a:pPr/>
              <a:t>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CAA0A151-BB74-114E-A6D7-981B995D83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72A7070-E66D-3649-8D2C-1DE5BCB0F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C4A47AA9-99D0-E745-B6D4-02DAB460FD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1AF3E73-ACCB-3844-B4D3-B700A0FB9050}" type="slidenum">
              <a:rPr lang="en-US" altLang="pt-BR" sz="1300">
                <a:latin typeface="Times New Roman" panose="02020603050405020304" pitchFamily="18" charset="0"/>
              </a:rPr>
              <a:pPr/>
              <a:t>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A06763A9-4795-F24D-B477-FA53B65185E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518FA6D-6F75-9F4F-B72F-A9219D306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1C71E52-BC88-DF44-A4C0-75D0A14C3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3C54093-C321-FA48-8EC0-CEF11DD5A075}" type="slidenum">
              <a:rPr lang="en-US" altLang="pt-BR" sz="1300">
                <a:latin typeface="Times New Roman" panose="02020603050405020304" pitchFamily="18" charset="0"/>
              </a:rPr>
              <a:pPr/>
              <a:t>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AA5F3BD1-D5F0-D841-9558-4B61579201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FB3216E-D884-4247-954A-1F4EDCAE12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E9CCBA65-D204-3844-9FE3-F568C02D74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B288D69-B9C2-2D4D-A800-EE9ACA9DE66E}" type="slidenum">
              <a:rPr lang="en-US" altLang="pt-BR" sz="1300">
                <a:latin typeface="Times New Roman" panose="02020603050405020304" pitchFamily="18" charset="0"/>
              </a:rPr>
              <a:pPr/>
              <a:t>10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AF23546D-DA17-9046-AFB2-5328BA6977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0DEEAB1-7D6F-9B44-BAA9-7DBD8A495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4D5B661B-233E-FD4A-A0F3-D5ECAF708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047E6A8-F09B-FE4A-8670-DA94D03F696D}" type="slidenum">
              <a:rPr lang="en-US" altLang="pt-BR" sz="1300">
                <a:latin typeface="Times New Roman" panose="02020603050405020304" pitchFamily="18" charset="0"/>
              </a:rPr>
              <a:pPr/>
              <a:t>11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D752D269-7B02-ED40-8551-4CA1505F34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A0463B4-1B02-7246-A414-964CD1371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CB7C69D5-16A2-CF46-9C9A-80E0A38107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1174706-1295-4541-BE64-021539F56B5B}" type="slidenum">
              <a:rPr lang="en-US" altLang="pt-BR" sz="1300">
                <a:latin typeface="Times New Roman" panose="02020603050405020304" pitchFamily="18" charset="0"/>
              </a:rPr>
              <a:pPr/>
              <a:t>12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DDC697C-5168-F64D-9210-8A246A7DCD5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055552B-B397-F946-96AC-BDE9F2F71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F08D5903-ABEA-F647-80BE-2AECC9E8E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E4B6C6F-DB52-5045-B03B-93C49147B0E6}" type="slidenum">
              <a:rPr lang="en-US" altLang="pt-BR" sz="1300">
                <a:latin typeface="Times New Roman" panose="02020603050405020304" pitchFamily="18" charset="0"/>
              </a:rPr>
              <a:pPr/>
              <a:t>13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621B9427-F879-2646-8F6D-D3FC2CD606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C1EA328-143C-1B4E-B90A-B6D4BC022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5954F2B7-0252-9A4A-946A-B8370A8659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C159780-80CA-8346-93F4-DEFBE19314EB}" type="slidenum">
              <a:rPr lang="en-US" altLang="pt-BR" sz="1300">
                <a:latin typeface="Times New Roman" panose="02020603050405020304" pitchFamily="18" charset="0"/>
              </a:rPr>
              <a:pPr/>
              <a:t>14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FAD2EFC3-36AB-3949-8DDE-83AA7BACBCC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3E5F4C9-C39B-E944-A385-72754FDA1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5EB8BB35-02CC-1042-9017-C7E6824429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7AE534B-D01C-054B-85A3-45A663FAEC7A}" type="slidenum">
              <a:rPr lang="en-US" altLang="pt-BR" sz="1300">
                <a:latin typeface="Times New Roman" panose="02020603050405020304" pitchFamily="18" charset="0"/>
              </a:rPr>
              <a:pPr/>
              <a:t>15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0010406E-BAAD-1149-B169-3EA962F30AC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72E6507-B352-DB4C-AE74-8F82F0A97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31E2991C-632E-274B-89B9-F18208F559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20758A7-F07B-1E4B-AAE9-4DF9EAC881DC}" type="slidenum">
              <a:rPr lang="en-US" altLang="pt-BR" sz="1300">
                <a:latin typeface="Times New Roman" panose="02020603050405020304" pitchFamily="18" charset="0"/>
              </a:rPr>
              <a:pPr/>
              <a:t>16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FB791EC9-3E54-3D40-87EA-6055446F795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968E452-578D-D24E-9066-E89870A3D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9E2BD4D0-A5AF-4942-9566-AC161812F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A529A2C-29B7-0A47-A8AE-8EB3FA8250F0}" type="slidenum">
              <a:rPr lang="en-US" altLang="pt-BR" sz="1300">
                <a:latin typeface="Times New Roman" panose="02020603050405020304" pitchFamily="18" charset="0"/>
              </a:rPr>
              <a:pPr/>
              <a:t>17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1B652A9-8A53-3141-96C1-882C5172C0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2759127-4EF6-7E43-B40C-9807F481D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6350D956-D885-3142-8172-020139EE01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5B3C0DB-C75B-5E4A-A400-12CFEBC28AEF}" type="slidenum">
              <a:rPr lang="en-US" altLang="pt-BR" sz="1300">
                <a:latin typeface="Times New Roman" panose="02020603050405020304" pitchFamily="18" charset="0"/>
              </a:rPr>
              <a:pPr/>
              <a:t>18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88A6526-F192-F34D-8C80-1AB2AB214EB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30BD075-E11B-A444-8A88-1490BFEBE2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4EEC01B4-EF5A-004B-9B11-444CABD7A3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70696BC-2D58-DE49-B48B-A922CE70E40A}" type="slidenum">
              <a:rPr lang="en-US" altLang="pt-BR" sz="1300">
                <a:latin typeface="Times New Roman" panose="02020603050405020304" pitchFamily="18" charset="0"/>
              </a:rPr>
              <a:pPr/>
              <a:t>19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79BC4BA3-BD4B-9543-B2F3-E558566F692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C1F8D3D-6884-AB49-9C8B-FF2790D6CC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B2012A3A-D7BB-1249-8B1A-2F7C525FCB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4DF3966-7780-7F4B-B953-8AC52518C899}" type="slidenum">
              <a:rPr lang="en-US" altLang="pt-BR" sz="1300">
                <a:latin typeface="Times New Roman" panose="02020603050405020304" pitchFamily="18" charset="0"/>
              </a:rPr>
              <a:pPr/>
              <a:t>20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84C82D78-5ED8-B44D-A868-482B92D6E1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8E4C203-40A8-1F4A-A377-7B073CEE5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B6377F4A-3D49-124E-8AE6-22DED5D4FD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28CC576-2616-0441-BF7A-8EDC88D325C7}" type="slidenum">
              <a:rPr lang="en-US" altLang="pt-BR" sz="1300">
                <a:latin typeface="Times New Roman" panose="02020603050405020304" pitchFamily="18" charset="0"/>
              </a:rPr>
              <a:pPr/>
              <a:t>21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82D449FA-7CDD-0C41-B7C4-74BF45A510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621BDC7-E965-B94C-83BD-361AF4CE4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B57FC321-BD82-FF4A-95C7-F8887E7DC2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BA979DA-8D58-C040-AD3C-2957B9FDAFA6}" type="slidenum">
              <a:rPr lang="en-US" altLang="pt-BR" sz="1300">
                <a:latin typeface="Times New Roman" panose="02020603050405020304" pitchFamily="18" charset="0"/>
              </a:rPr>
              <a:pPr/>
              <a:t>22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2E3AF0FE-B656-E946-91DC-D37F89811F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3719BA9-1903-8F40-AB5C-A3008E8D0C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81B214A1-4F1D-6349-8B8D-78B56B44CB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9AA4995-52C0-4949-B3B7-21F8C7ED5B80}" type="slidenum">
              <a:rPr lang="en-US" altLang="pt-BR" sz="1300">
                <a:latin typeface="Times New Roman" panose="02020603050405020304" pitchFamily="18" charset="0"/>
              </a:rPr>
              <a:pPr/>
              <a:t>23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819EEB29-4295-7043-8E8E-73430DEB123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75EA76D-3EE3-8248-A081-C78A92088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9E761309-02EE-A441-88BF-4E607E2738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253FDF7-8129-D249-B392-B643A571794F}" type="slidenum">
              <a:rPr lang="en-US" altLang="pt-BR" sz="1300">
                <a:latin typeface="Times New Roman" panose="02020603050405020304" pitchFamily="18" charset="0"/>
              </a:rPr>
              <a:pPr/>
              <a:t>24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408AD300-7397-C848-82C4-444E99C3B4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BD48A68-F69B-4E44-9FBB-0F658D3EC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579CD1AD-8D85-8146-82EF-9A8523558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A7057B0-1CC9-6143-B86E-1317645D99CE}" type="slidenum">
              <a:rPr lang="en-US" altLang="pt-BR" sz="1300">
                <a:latin typeface="Times New Roman" panose="02020603050405020304" pitchFamily="18" charset="0"/>
              </a:rPr>
              <a:pPr/>
              <a:t>25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8FA0CEA9-FAF1-5E4B-A9D2-F64FD26053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664191E-0FC8-B041-826F-E1718E175A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A45CF7B1-4AA7-0A4B-AD3A-AA812E906E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6B0437F-3BE2-F640-8E0C-7D6C90A21D2B}" type="slidenum">
              <a:rPr lang="en-US" altLang="pt-BR" sz="1300">
                <a:latin typeface="Times New Roman" panose="02020603050405020304" pitchFamily="18" charset="0"/>
              </a:rPr>
              <a:pPr/>
              <a:t>26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B6D5688F-0A2D-A74F-B592-D76150A9D3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E91AF48-CCE3-B842-9F1B-63CBFAAB8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98460F69-DF91-5648-93D8-5BAE3D852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211CD3A-DEA9-5247-86F4-189C764B483F}" type="slidenum">
              <a:rPr lang="en-US" altLang="pt-BR" sz="1300">
                <a:latin typeface="Times New Roman" panose="02020603050405020304" pitchFamily="18" charset="0"/>
              </a:rPr>
              <a:pPr/>
              <a:t>27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4C47EA1-E687-2F4A-885E-B7229B3CE7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52699F3-A7D9-5948-8A70-5E4A92441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3F99F334-FE2F-D54D-BDBE-CE47E5A13F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9017A7A-2060-BA43-BA9C-66F43EFD97DB}" type="slidenum">
              <a:rPr lang="en-US" altLang="pt-BR" sz="1300">
                <a:latin typeface="Times New Roman" panose="02020603050405020304" pitchFamily="18" charset="0"/>
              </a:rPr>
              <a:pPr/>
              <a:t>28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8C253B38-440D-354D-9850-2E08051BAE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E35F60E-A577-5F47-8154-198C0A5EAE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61289CCF-A1ED-EF49-8534-86E7E144F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DA28B42-D786-EF46-AAB5-87C162D5380E}" type="slidenum">
              <a:rPr lang="en-US" altLang="pt-BR" sz="1300">
                <a:latin typeface="Times New Roman" panose="02020603050405020304" pitchFamily="18" charset="0"/>
              </a:rPr>
              <a:pPr/>
              <a:t>29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17CAB12C-E7A8-C941-9C44-5B548B1D451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2EE07B4-62B1-1F4B-ADDE-784B3B6B1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A90E26A8-9EC9-324D-938B-4E69B607E4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0C3BC49-1E13-DC46-960B-1EAE62A7F3D3}" type="slidenum">
              <a:rPr lang="en-US" altLang="pt-BR" sz="1300">
                <a:latin typeface="Times New Roman" panose="02020603050405020304" pitchFamily="18" charset="0"/>
              </a:rPr>
              <a:pPr/>
              <a:t>30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AA7718A1-378D-5B4D-A0B4-07A0E51EE4F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C5C754C-B9CE-0E47-86FA-C51B68FFE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3D425FD2-E765-A445-8394-59A8EC457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F181914-18DD-4545-ADC3-234254E35338}" type="slidenum">
              <a:rPr lang="en-US" altLang="pt-BR" sz="1300">
                <a:latin typeface="Times New Roman" panose="02020603050405020304" pitchFamily="18" charset="0"/>
              </a:rPr>
              <a:pPr/>
              <a:t>31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C4FBA3A7-327D-704E-8107-44739C2B80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0203EC2D-1F6E-0042-9A58-13E27ED8E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DED30F77-F411-484F-9300-AE1535E800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E92370C-130F-6D49-8736-BD061FDB2589}" type="slidenum">
              <a:rPr lang="en-US" altLang="pt-BR" sz="1300">
                <a:latin typeface="Times New Roman" panose="02020603050405020304" pitchFamily="18" charset="0"/>
              </a:rPr>
              <a:pPr/>
              <a:t>32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9963AF58-8B1F-B040-94ED-EBEDB05D3E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F7F75C6-00C0-0B41-8EB4-D58917BC7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A78A0526-4546-B246-92D9-A519DA9B5D6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A15499E2-89FE-EC47-8498-5DA750813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34E1761F-DE4E-8645-9FED-C0F10F7D04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000121C-C6EC-F246-AFE9-4474CDB25AE0}" type="slidenum">
              <a:rPr lang="en-US" altLang="pt-BR" sz="1300">
                <a:latin typeface="Times New Roman" panose="02020603050405020304" pitchFamily="18" charset="0"/>
              </a:rPr>
              <a:pPr/>
              <a:t>34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D2790DE-4395-9A4D-A094-1E56140E9D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B0FDD16-5C1A-3F46-91B3-1E5AF9D436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D6FDA24F-BB3B-3E4E-8D3E-BC6D8F3A6B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907737D5-D2F7-2B41-8F74-3F302E219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B02712EA-2B3E-4B46-BC9D-69A3B7D722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9B67A74E-AB6E-BD4F-B5A1-5C0E0BB32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6DCCABA9-D883-7F48-BAD7-CC96712D25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61722665-7AA4-8A48-99D1-1F1D5DCF6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8C3A3366-6039-074C-AF72-897C5BA569C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7C02C2CD-50E6-AD46-A74D-960642B0E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21E6BA62-9A0D-B248-80EB-7BDB3D8775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E12C35FB-5FDC-2348-A3F6-E98367B9C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9581E54F-E3C5-D641-A2BF-C4B194C7E0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62946BC-BCFD-814E-8BE3-DABD0B850FEA}" type="slidenum">
              <a:rPr lang="en-US" altLang="pt-BR" sz="1300">
                <a:latin typeface="Times New Roman" panose="02020603050405020304" pitchFamily="18" charset="0"/>
              </a:rPr>
              <a:pPr/>
              <a:t>41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6B7865C3-A7CA-9948-9681-6306E7C3B0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B38C9CAF-3EB2-9A41-ACF6-F86D0CDB7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74C355FB-A845-4147-A2E9-1A81931325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73960B9-4CD5-D24E-B760-97E26D19B765}" type="slidenum">
              <a:rPr lang="en-US" altLang="pt-BR" sz="1300">
                <a:latin typeface="Times New Roman" panose="02020603050405020304" pitchFamily="18" charset="0"/>
              </a:rPr>
              <a:pPr/>
              <a:t>42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725A5A60-7429-A447-90F7-31D90484FC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F1CE272-52F9-5943-82ED-B375C2E1F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AE87E4C1-77C8-FB40-9251-630E761878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25F500B-1C65-F04F-988F-6943D4AE01F7}" type="slidenum">
              <a:rPr lang="en-US" altLang="pt-BR" sz="1300">
                <a:latin typeface="Times New Roman" panose="02020603050405020304" pitchFamily="18" charset="0"/>
              </a:rPr>
              <a:pPr/>
              <a:t>43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6592EE7C-C481-8D43-B244-A6C1C20409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F3D759D-F771-0F46-B214-9FE6E5A4D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9596791A-E2EB-F343-A5E0-DDF1C2C8D9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DE77BC9-9B9A-3448-9DD0-A386E29F510A}" type="slidenum">
              <a:rPr lang="en-US" altLang="pt-BR" sz="1300">
                <a:latin typeface="Times New Roman" panose="02020603050405020304" pitchFamily="18" charset="0"/>
              </a:rPr>
              <a:pPr/>
              <a:t>44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D53A8529-5779-6B41-8742-F71AA502D0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D72389B-5C4F-D94C-B2C8-CD1EBEBFC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828DA771-3D61-F94F-ABE0-DC78938940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0A7EE44-84C6-004B-B015-F242EEB8DB63}" type="slidenum">
              <a:rPr lang="en-US" altLang="pt-BR" sz="1300">
                <a:latin typeface="Times New Roman" panose="02020603050405020304" pitchFamily="18" charset="0"/>
              </a:rPr>
              <a:pPr/>
              <a:t>45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1EE32802-92F1-9C4C-8EE0-D297A725E3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AA05DF79-93E7-9740-AB97-CE88C53CD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18987856-B3A8-1B4B-B27F-D4B1BBB58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EC90D7A-6CAF-A54A-9E6E-56C64ABA55D2}" type="slidenum">
              <a:rPr lang="en-US" altLang="pt-BR" sz="1300">
                <a:latin typeface="Times New Roman" panose="02020603050405020304" pitchFamily="18" charset="0"/>
              </a:rPr>
              <a:pPr/>
              <a:t>46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07F4020B-77BA-CB4B-8CAB-5CF4BCB3A7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E21BE2A8-8D23-B34A-8CD8-08C494336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079EA594-7BC5-6A4A-BB03-738583BDD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1DA1635-AD83-FA4D-80D8-612BF85F380B}" type="slidenum">
              <a:rPr lang="en-US" altLang="pt-BR" sz="1300">
                <a:latin typeface="Times New Roman" panose="02020603050405020304" pitchFamily="18" charset="0"/>
              </a:rPr>
              <a:pPr/>
              <a:t>47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1B08ADC1-3331-1C43-B4A7-8CB7477879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B4894E66-C757-F241-BDA6-D8E76F100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E96512A0-FC33-724D-882F-CC3B119E40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7B0DACE-4BE9-774E-9515-8604341AD627}" type="slidenum">
              <a:rPr lang="en-US" altLang="pt-BR" sz="1300">
                <a:latin typeface="Times New Roman" panose="02020603050405020304" pitchFamily="18" charset="0"/>
              </a:rPr>
              <a:pPr/>
              <a:t>48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6F26F21A-17D4-1749-8B85-1CED568BC3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084334B-B1C1-6648-A930-5972F4F20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1A6E6F4C-7B38-2343-A077-8A2E9747C4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1ACA43B-9E5C-4640-96B3-F40FE64FC9F4}" type="slidenum">
              <a:rPr lang="en-US" altLang="pt-BR" sz="1300">
                <a:latin typeface="Times New Roman" panose="02020603050405020304" pitchFamily="18" charset="0"/>
              </a:rPr>
              <a:pPr/>
              <a:t>49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C1B15EA7-D6FA-A24E-B3C6-D23669B716F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F3C8635B-C3A0-D249-96FB-F96DED2BA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C8CAAF85-CBAA-4B4A-B2AF-337359B6A7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17AE7E1-EE6E-9A42-B4A4-F05892EFE6D5}" type="slidenum">
              <a:rPr lang="en-US" altLang="pt-BR" sz="1300">
                <a:latin typeface="Times New Roman" panose="02020603050405020304" pitchFamily="18" charset="0"/>
              </a:rPr>
              <a:pPr/>
              <a:t>50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D1A3ACC1-9DD5-5F49-8AB4-7987F5F6A6B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34794CE-0769-7F49-95BA-6ACE53F9A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48E88C15-9AC7-3644-A77F-336E58256B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A77E29D-198C-7845-803D-A7397BF23CA2}" type="slidenum">
              <a:rPr lang="en-US" altLang="pt-BR" sz="1300">
                <a:latin typeface="Times New Roman" panose="02020603050405020304" pitchFamily="18" charset="0"/>
              </a:rPr>
              <a:pPr/>
              <a:t>51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21D5A613-3F99-0644-940E-58B1A68DF3E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A995BA5-CEC7-DE4E-A86F-142ECA1B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034FF5BF-8317-D94B-8EF3-90638F5EBF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1C0AB41-A4CF-704A-BEFA-A11173C2D58A}" type="slidenum">
              <a:rPr lang="en-US" altLang="pt-BR" sz="1300">
                <a:latin typeface="Times New Roman" panose="02020603050405020304" pitchFamily="18" charset="0"/>
              </a:rPr>
              <a:pPr/>
              <a:t>55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4CD924A7-BBD6-414D-A809-F019D8C204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DA828641-71A5-7E49-865E-55592AA67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>
            <a:extLst>
              <a:ext uri="{FF2B5EF4-FFF2-40B4-BE49-F238E27FC236}">
                <a16:creationId xmlns:a16="http://schemas.microsoft.com/office/drawing/2014/main" id="{3B7CB788-8385-B84F-AA1B-D20E2EF819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F1D2DC3-0E30-0B4F-BD1E-8B4BBF20DB5E}" type="slidenum">
              <a:rPr lang="en-US" altLang="pt-BR" sz="1300">
                <a:latin typeface="Times New Roman" panose="02020603050405020304" pitchFamily="18" charset="0"/>
              </a:rPr>
              <a:pPr/>
              <a:t>57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7A6831F0-FCEA-8A41-91A7-0C917910F6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72816EFE-7583-D542-942F-929059F1C7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531CBD67-3693-644B-B245-00002DA450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AAC2ACB3-1788-924A-93E7-F47D83E0F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>
            <a:extLst>
              <a:ext uri="{FF2B5EF4-FFF2-40B4-BE49-F238E27FC236}">
                <a16:creationId xmlns:a16="http://schemas.microsoft.com/office/drawing/2014/main" id="{34942BB9-75AB-7145-8D65-FB8016F93A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46FBA1A-5319-9B4E-A1FF-896C9952D6C8}" type="slidenum">
              <a:rPr lang="en-US" altLang="pt-BR" sz="1300">
                <a:latin typeface="Times New Roman" panose="02020603050405020304" pitchFamily="18" charset="0"/>
              </a:rPr>
              <a:pPr/>
              <a:t>60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0064FC42-B989-B14D-8480-F446F7E4BC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4A91108-EB90-B547-AB3B-1B8B4D376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>
            <a:extLst>
              <a:ext uri="{FF2B5EF4-FFF2-40B4-BE49-F238E27FC236}">
                <a16:creationId xmlns:a16="http://schemas.microsoft.com/office/drawing/2014/main" id="{752FC6FD-F77D-F841-BC6D-AD34B4E304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DB09306-F209-144E-A850-2B111ABE3AD3}" type="slidenum">
              <a:rPr lang="en-US" altLang="pt-BR" sz="1300">
                <a:latin typeface="Times New Roman" panose="02020603050405020304" pitchFamily="18" charset="0"/>
              </a:rPr>
              <a:pPr/>
              <a:t>61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79053487-DD49-B549-9B6B-DC3FC930C32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7F900497-B487-0B45-AB97-CF021525E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>
            <a:extLst>
              <a:ext uri="{FF2B5EF4-FFF2-40B4-BE49-F238E27FC236}">
                <a16:creationId xmlns:a16="http://schemas.microsoft.com/office/drawing/2014/main" id="{69FEDF4A-7909-F64E-A3FC-0D882CA23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4DAF867-9632-B741-A6F1-339CD3B05CFA}" type="slidenum">
              <a:rPr lang="en-US" altLang="pt-BR" sz="1300">
                <a:latin typeface="Times New Roman" panose="02020603050405020304" pitchFamily="18" charset="0"/>
              </a:rPr>
              <a:pPr/>
              <a:t>65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02D0B876-D368-CE46-A81A-1CC4ABD5E6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A417A7C3-3E91-5742-B35D-F3C1055E9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>
            <a:extLst>
              <a:ext uri="{FF2B5EF4-FFF2-40B4-BE49-F238E27FC236}">
                <a16:creationId xmlns:a16="http://schemas.microsoft.com/office/drawing/2014/main" id="{E1E65573-1E19-314E-9F96-D6E1BEE0D9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694EA7C-6CC4-0B43-BA17-3E0E670A961D}" type="slidenum">
              <a:rPr lang="en-US" altLang="pt-BR" sz="1300">
                <a:latin typeface="Times New Roman" panose="02020603050405020304" pitchFamily="18" charset="0"/>
              </a:rPr>
              <a:pPr/>
              <a:t>67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34907E18-835D-6F4B-B193-A6050D02AD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2CFCD8B9-6113-4C4C-B060-3B306B2CC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9BA60C6-FD4E-9044-83A8-4D1DA3D8C45B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39B04756-4707-4849-94F2-D826A2CA6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A74B87EC-25A1-E04A-8DBA-069D49E1D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B03BA8F-62AC-5D48-8137-0D3D24081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07487EC6-6AEF-D443-B8E9-751E1DD42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595" tIns="65298" rIns="130595" bIns="6529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C54D5C6-AA52-4347-8F5D-F6A1EE8DE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8818563"/>
            <a:ext cx="378936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595" tIns="65298" rIns="130595" bIns="6529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Operating System Concepts  – 9</a:t>
            </a:r>
            <a:r>
              <a:rPr lang="en-US" altLang="pt-BR" sz="14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C38757C0-EC47-D84D-B419-FC66153EB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D9564079-3014-1840-BF2F-A13ABB9FA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30595" tIns="65298" rIns="130595" bIns="65298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791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815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24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2979" indent="0">
              <a:buNone/>
              <a:defRPr sz="2600"/>
            </a:lvl2pPr>
            <a:lvl3pPr marL="1305960" indent="0">
              <a:buNone/>
              <a:defRPr sz="2300"/>
            </a:lvl3pPr>
            <a:lvl4pPr marL="1958941" indent="0">
              <a:buNone/>
              <a:defRPr sz="2000"/>
            </a:lvl4pPr>
            <a:lvl5pPr marL="2611921" indent="0">
              <a:buNone/>
              <a:defRPr sz="2000"/>
            </a:lvl5pPr>
            <a:lvl6pPr marL="3264898" indent="0">
              <a:buNone/>
              <a:defRPr sz="2000"/>
            </a:lvl6pPr>
            <a:lvl7pPr marL="3917878" indent="0">
              <a:buNone/>
              <a:defRPr sz="2000"/>
            </a:lvl7pPr>
            <a:lvl8pPr marL="4570857" indent="0">
              <a:buNone/>
              <a:defRPr sz="2000"/>
            </a:lvl8pPr>
            <a:lvl9pPr marL="5223836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17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7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7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247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2979" indent="0">
              <a:buNone/>
              <a:defRPr sz="2900" b="1"/>
            </a:lvl2pPr>
            <a:lvl3pPr marL="1305960" indent="0">
              <a:buNone/>
              <a:defRPr sz="2600" b="1"/>
            </a:lvl3pPr>
            <a:lvl4pPr marL="1958941" indent="0">
              <a:buNone/>
              <a:defRPr sz="2300" b="1"/>
            </a:lvl4pPr>
            <a:lvl5pPr marL="2611921" indent="0">
              <a:buNone/>
              <a:defRPr sz="2300" b="1"/>
            </a:lvl5pPr>
            <a:lvl6pPr marL="3264898" indent="0">
              <a:buNone/>
              <a:defRPr sz="2300" b="1"/>
            </a:lvl6pPr>
            <a:lvl7pPr marL="3917878" indent="0">
              <a:buNone/>
              <a:defRPr sz="2300" b="1"/>
            </a:lvl7pPr>
            <a:lvl8pPr marL="4570857" indent="0">
              <a:buNone/>
              <a:defRPr sz="2300" b="1"/>
            </a:lvl8pPr>
            <a:lvl9pPr marL="5223836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44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2979" indent="0">
              <a:buNone/>
              <a:defRPr sz="2900" b="1"/>
            </a:lvl2pPr>
            <a:lvl3pPr marL="1305960" indent="0">
              <a:buNone/>
              <a:defRPr sz="2600" b="1"/>
            </a:lvl3pPr>
            <a:lvl4pPr marL="1958941" indent="0">
              <a:buNone/>
              <a:defRPr sz="2300" b="1"/>
            </a:lvl4pPr>
            <a:lvl5pPr marL="2611921" indent="0">
              <a:buNone/>
              <a:defRPr sz="2300" b="1"/>
            </a:lvl5pPr>
            <a:lvl6pPr marL="3264898" indent="0">
              <a:buNone/>
              <a:defRPr sz="2300" b="1"/>
            </a:lvl6pPr>
            <a:lvl7pPr marL="3917878" indent="0">
              <a:buNone/>
              <a:defRPr sz="2300" b="1"/>
            </a:lvl7pPr>
            <a:lvl8pPr marL="4570857" indent="0">
              <a:buNone/>
              <a:defRPr sz="2300" b="1"/>
            </a:lvl8pPr>
            <a:lvl9pPr marL="5223836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44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5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732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1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7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73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7" y="1913473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2979" indent="0">
              <a:buNone/>
              <a:defRPr sz="1700"/>
            </a:lvl2pPr>
            <a:lvl3pPr marL="1305960" indent="0">
              <a:buNone/>
              <a:defRPr sz="1400"/>
            </a:lvl3pPr>
            <a:lvl4pPr marL="1958941" indent="0">
              <a:buNone/>
              <a:defRPr sz="1300"/>
            </a:lvl4pPr>
            <a:lvl5pPr marL="2611921" indent="0">
              <a:buNone/>
              <a:defRPr sz="1300"/>
            </a:lvl5pPr>
            <a:lvl6pPr marL="3264898" indent="0">
              <a:buNone/>
              <a:defRPr sz="1300"/>
            </a:lvl6pPr>
            <a:lvl7pPr marL="3917878" indent="0">
              <a:buNone/>
              <a:defRPr sz="1300"/>
            </a:lvl7pPr>
            <a:lvl8pPr marL="4570857" indent="0">
              <a:buNone/>
              <a:defRPr sz="1300"/>
            </a:lvl8pPr>
            <a:lvl9pPr marL="5223836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888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1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2979" indent="0">
              <a:buNone/>
              <a:defRPr sz="4000"/>
            </a:lvl2pPr>
            <a:lvl3pPr marL="1305960" indent="0">
              <a:buNone/>
              <a:defRPr sz="3400"/>
            </a:lvl3pPr>
            <a:lvl4pPr marL="1958941" indent="0">
              <a:buNone/>
              <a:defRPr sz="2900"/>
            </a:lvl4pPr>
            <a:lvl5pPr marL="2611921" indent="0">
              <a:buNone/>
              <a:defRPr sz="2900"/>
            </a:lvl5pPr>
            <a:lvl6pPr marL="3264898" indent="0">
              <a:buNone/>
              <a:defRPr sz="2900"/>
            </a:lvl6pPr>
            <a:lvl7pPr marL="3917878" indent="0">
              <a:buNone/>
              <a:defRPr sz="2900"/>
            </a:lvl7pPr>
            <a:lvl8pPr marL="4570857" indent="0">
              <a:buNone/>
              <a:defRPr sz="2900"/>
            </a:lvl8pPr>
            <a:lvl9pPr marL="5223836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2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2979" indent="0">
              <a:buNone/>
              <a:defRPr sz="1700"/>
            </a:lvl2pPr>
            <a:lvl3pPr marL="1305960" indent="0">
              <a:buNone/>
              <a:defRPr sz="1400"/>
            </a:lvl3pPr>
            <a:lvl4pPr marL="1958941" indent="0">
              <a:buNone/>
              <a:defRPr sz="1300"/>
            </a:lvl4pPr>
            <a:lvl5pPr marL="2611921" indent="0">
              <a:buNone/>
              <a:defRPr sz="1300"/>
            </a:lvl5pPr>
            <a:lvl6pPr marL="3264898" indent="0">
              <a:buNone/>
              <a:defRPr sz="1300"/>
            </a:lvl6pPr>
            <a:lvl7pPr marL="3917878" indent="0">
              <a:buNone/>
              <a:defRPr sz="1300"/>
            </a:lvl7pPr>
            <a:lvl8pPr marL="4570857" indent="0">
              <a:buNone/>
              <a:defRPr sz="1300"/>
            </a:lvl8pPr>
            <a:lvl9pPr marL="5223836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87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160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718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9AD98F3A-436F-4248-9033-4B2364C6F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E5BF099-7FA7-6B4B-ABF1-138C605C8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595" tIns="65298" rIns="130595" bIns="6529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2C194EA-7B5B-D543-900F-3197E1684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595" tIns="65298" rIns="130595" bIns="652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B408A5-3244-EF4A-AA3A-38156EDCB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595" tIns="65298" rIns="130595" bIns="65298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25D08D8-C15A-9644-A5CB-7C756BB7C6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30595" tIns="65298" rIns="130595" bIns="65298"/>
          <a:lstStyle/>
          <a:p>
            <a:endParaRPr 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7038E0C-EB50-0A46-B970-489539711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595" tIns="65298" rIns="130595" bIns="65298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5846C51-80A7-8F44-BB06-F03CDE2FA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595" tIns="65298" rIns="130595" bIns="65298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213001" name="Text Box 9">
            <a:extLst>
              <a:ext uri="{FF2B5EF4-FFF2-40B4-BE49-F238E27FC236}">
                <a16:creationId xmlns:a16="http://schemas.microsoft.com/office/drawing/2014/main" id="{0F75095D-9A92-A84C-8E23-0FB1EBFE2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8818563"/>
            <a:ext cx="63182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595" tIns="65298" rIns="130595" bIns="6529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6.</a:t>
            </a:r>
            <a:fld id="{6314261D-D99A-C84F-901A-C4438A3978B8}" type="slidenum"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4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213002" name="Text Box 10">
            <a:extLst>
              <a:ext uri="{FF2B5EF4-FFF2-40B4-BE49-F238E27FC236}">
                <a16:creationId xmlns:a16="http://schemas.microsoft.com/office/drawing/2014/main" id="{5E0CCAF0-1AE1-4C4C-8515-B5147734A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595" tIns="65298" rIns="130595" bIns="6529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213003" name="Text Box 11">
            <a:extLst>
              <a:ext uri="{FF2B5EF4-FFF2-40B4-BE49-F238E27FC236}">
                <a16:creationId xmlns:a16="http://schemas.microsoft.com/office/drawing/2014/main" id="{A6CCCA22-58AD-8642-9F73-F9E20EBE6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8828088"/>
            <a:ext cx="373856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595" tIns="65298" rIns="130595" bIns="6529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4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A92F80E7-F55F-7042-8C4E-EC75E9805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2979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596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89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192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7363" indent="-48736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58863" indent="-40640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49400" indent="-32385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8350" indent="-3238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28888" indent="-32385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272" indent="-3264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6255" indent="-3264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89236" indent="-3264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2214" indent="-3264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2979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5960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8941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1921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4898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7878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3836" algn="l" defTabSz="65297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DC189E7C-7C33-834D-9274-B16545C294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6: Agendamento de CPU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C247B534-27C5-7946-A4A7-F24B69EA6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69888"/>
            <a:ext cx="116586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6: Agendamento de CPU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569FD747-FE79-2941-B0B8-353D693AA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1662113"/>
            <a:ext cx="11004550" cy="503078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Conceitos básicos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Critérios de agendamento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Algoritmos de escalonamento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threads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múltiplos processadores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CPU em tempo real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operacionais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Avaliação de Algoritmos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933F711B-D20A-F941-84E4-2D7105441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FFD7D9C4-955F-7547-A06C-A0E203AE7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591925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introduzir o agendamento da CPU, que é a base dos sistemas operacionais multiprogramados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descrever vários algoritmos de agendamento de CPU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discutir os critérios de avaliação para selecionar um algoritmo de escalonamento de CPU para um sistema específico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Examinar os algoritmos de agendamento de vários sistemas operacionais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BDDDFE27-E9A2-1840-89DC-806AA23EC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Conceitos básicos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1F7444A-5449-2C4A-8EC0-764DEC419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62063" y="1700213"/>
            <a:ext cx="5967412" cy="674211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Utilização máxima da CPU obtida com multiprogramação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Ciclo de pico de CPU–E/S – A execução do processo consiste em um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ciclo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execução da CPU e espera de E/S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Explosão de CPU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seguida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explosão de E/S</a:t>
            </a:r>
            <a:br xmlns:a="http://schemas.openxmlformats.org/drawingml/2006/main">
              <a:rPr lang="en-US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distribuição de picos de CPU é a principal preocupação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11267" name="Picture 1" descr="6_01.pdf">
            <a:extLst>
              <a:ext uri="{FF2B5EF4-FFF2-40B4-BE49-F238E27FC236}">
                <a16:creationId xmlns:a16="http://schemas.microsoft.com/office/drawing/2014/main" id="{4116928B-885C-E646-A256-6A2EEBB3C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0" y="1311275"/>
            <a:ext cx="3960813" cy="740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A6D5EEA0-0CC1-7A46-86D2-FFE9E1814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369888"/>
            <a:ext cx="114300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Histograma de tempos de pico de CPU</a:t>
            </a:r>
          </a:p>
        </p:txBody>
      </p:sp>
      <p:pic>
        <p:nvPicPr>
          <p:cNvPr id="13314" name="Picture 9">
            <a:extLst>
              <a:ext uri="{FF2B5EF4-FFF2-40B4-BE49-F238E27FC236}">
                <a16:creationId xmlns:a16="http://schemas.microsoft.com/office/drawing/2014/main" id="{5C137813-4BBB-4E4F-AEAA-16D5C99BB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25" y="2033588"/>
            <a:ext cx="8582025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3F4502D-C411-B348-AF32-1B34861C2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7300" y="369888"/>
            <a:ext cx="117729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Agendador de CPU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6C90D61-8835-5043-8287-ECAF28AC88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14138" cy="6040438"/>
          </a:xfrm>
        </p:spPr>
        <p:txBody>
          <a:bodyPr/>
          <a:lstStyle/>
          <a:p>
            <a:pPr xmlns:a="http://schemas.openxmlformats.org/drawingml/2006/main" marL="489736" indent="-489736">
              <a:buFont typeface="Monotype Sorts" charset="2"/>
              <a:buChar char="n"/>
              <a:defRPr/>
            </a:pP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O agendador de curto prazo </a:t>
            </a:r>
            <a:r xmlns:a="http://schemas.openxmlformats.org/drawingml/2006/main">
              <a:rPr lang="pt" dirty="0"/>
              <a:t>seleciona entre os processos na fila de espera e aloca a CPU para um deles</a:t>
            </a:r>
          </a:p>
          <a:p>
            <a:pPr xmlns:a="http://schemas.openxmlformats.org/drawingml/2006/main" marL="1061093" lvl="1" indent="-408114">
              <a:buFont typeface="Monotype Sorts" charset="2"/>
              <a:buChar char="l"/>
              <a:defRPr/>
            </a:pPr>
            <a:r xmlns:a="http://schemas.openxmlformats.org/drawingml/2006/main">
              <a:rPr lang="pt" dirty="0"/>
              <a:t>A fila pode ser ordenada de várias maneiras</a:t>
            </a:r>
          </a:p>
          <a:p>
            <a:pPr xmlns:a="http://schemas.openxmlformats.org/drawingml/2006/main" marL="489736" indent="-489736">
              <a:buFont typeface="Monotype Sorts" charset="2"/>
              <a:buChar char="n"/>
              <a:defRPr/>
            </a:pPr>
            <a:r xmlns:a="http://schemas.openxmlformats.org/drawingml/2006/main">
              <a:rPr lang="pt" dirty="0"/>
              <a:t>As decisões de agendamento da CPU podem ocorrer quando um processo:</a:t>
            </a:r>
          </a:p>
          <a:p>
            <a:pPr xmlns:a="http://schemas.openxmlformats.org/drawingml/2006/main" marL="1142714" lvl="1" indent="-489736">
              <a:buFont typeface="Monotype Sorts" charset="0"/>
              <a:buNone/>
              <a:defRPr/>
            </a:pPr>
            <a:r xmlns:a="http://schemas.openxmlformats.org/drawingml/2006/main">
              <a:rPr lang="pt" dirty="0">
                <a:solidFill>
                  <a:srgbClr val="CC6600"/>
                </a:solidFill>
              </a:rPr>
              <a:t>1. </a:t>
            </a:r>
            <a:r xmlns:a="http://schemas.openxmlformats.org/drawingml/2006/main">
              <a:rPr lang="pt" dirty="0"/>
              <a:t>Muda do estado de execução para o estado de espera</a:t>
            </a:r>
          </a:p>
          <a:p>
            <a:pPr xmlns:a="http://schemas.openxmlformats.org/drawingml/2006/main" marL="1142714" lvl="1" indent="-489736">
              <a:buFont typeface="Monotype Sorts" charset="0"/>
              <a:buNone/>
              <a:defRPr/>
            </a:pPr>
            <a:r xmlns:a="http://schemas.openxmlformats.org/drawingml/2006/main">
              <a:rPr lang="pt" dirty="0">
                <a:solidFill>
                  <a:srgbClr val="CC6600"/>
                </a:solidFill>
              </a:rPr>
              <a:t>2. </a:t>
            </a:r>
            <a:r xmlns:a="http://schemas.openxmlformats.org/drawingml/2006/main">
              <a:rPr lang="pt" dirty="0"/>
              <a:t>Muda do estado de execução para o estado pronto</a:t>
            </a:r>
          </a:p>
          <a:p>
            <a:pPr xmlns:a="http://schemas.openxmlformats.org/drawingml/2006/main" marL="1142714" lvl="1" indent="-489736">
              <a:buFont typeface="Monotype Sorts" charset="0"/>
              <a:buNone/>
              <a:defRPr/>
            </a:pPr>
            <a:r xmlns:a="http://schemas.openxmlformats.org/drawingml/2006/main">
              <a:rPr lang="pt" dirty="0">
                <a:solidFill>
                  <a:srgbClr val="CC6600"/>
                </a:solidFill>
              </a:rPr>
              <a:t>3. </a:t>
            </a:r>
            <a:r xmlns:a="http://schemas.openxmlformats.org/drawingml/2006/main">
              <a:rPr lang="pt" dirty="0"/>
              <a:t>Muda de espera para pronto</a:t>
            </a:r>
          </a:p>
          <a:p>
            <a:pPr xmlns:a="http://schemas.openxmlformats.org/drawingml/2006/main" marL="1142714" lvl="1" indent="-489736">
              <a:buFont typeface="Monotype Sorts" charset="2"/>
              <a:buAutoNum type="arabicPeriod" startAt="4"/>
              <a:defRPr/>
            </a:pPr>
            <a:r xmlns:a="http://schemas.openxmlformats.org/drawingml/2006/main">
              <a:rPr lang="pt" dirty="0"/>
              <a:t>Termina</a:t>
            </a:r>
          </a:p>
          <a:p>
            <a:pPr xmlns:a="http://schemas.openxmlformats.org/drawingml/2006/main" marL="489736" indent="-489736">
              <a:buFont typeface="Monotype Sorts" charset="2"/>
              <a:buChar char="n"/>
              <a:defRPr/>
            </a:pPr>
            <a:r xmlns:a="http://schemas.openxmlformats.org/drawingml/2006/main">
              <a:rPr lang="pt" dirty="0"/>
              <a:t>O agendamento nos itens 1 e 4 </a:t>
            </a:r>
            <a:r xmlns:a="http://schemas.openxmlformats.org/drawingml/2006/main">
              <a:rPr lang="pt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não é preventivo</a:t>
            </a:r>
            <a:endParaRPr xmlns:a="http://schemas.openxmlformats.org/drawingml/2006/main" lang="en-US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489736" indent="-489736">
              <a:buFont typeface="Monotype Sorts" charset="2"/>
              <a:buChar char="n"/>
              <a:defRPr/>
            </a:pPr>
            <a:r xmlns:a="http://schemas.openxmlformats.org/drawingml/2006/main">
              <a:rPr lang="pt" dirty="0"/>
              <a:t>Todo o outro agendamento é </a:t>
            </a: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preventivo</a:t>
            </a:r>
          </a:p>
          <a:p>
            <a:pPr xmlns:a="http://schemas.openxmlformats.org/drawingml/2006/main" marL="1061093" lvl="1" indent="-408114">
              <a:buFont typeface="Monotype Sorts" charset="2"/>
              <a:buChar char="l"/>
              <a:defRPr/>
            </a:pPr>
            <a:r xmlns:a="http://schemas.openxmlformats.org/drawingml/2006/main">
              <a:rPr lang="pt" dirty="0"/>
              <a:t>Considere o acesso a dados compartilhados</a:t>
            </a:r>
          </a:p>
          <a:p>
            <a:pPr xmlns:a="http://schemas.openxmlformats.org/drawingml/2006/main" marL="1061093" lvl="1" indent="-408114">
              <a:buFont typeface="Monotype Sorts" charset="2"/>
              <a:buChar char="l"/>
              <a:defRPr/>
            </a:pPr>
            <a:r xmlns:a="http://schemas.openxmlformats.org/drawingml/2006/main">
              <a:rPr lang="pt" dirty="0"/>
              <a:t>Considere a preempção no modo kernel</a:t>
            </a:r>
          </a:p>
          <a:p>
            <a:pPr xmlns:a="http://schemas.openxmlformats.org/drawingml/2006/main" marL="1061093" lvl="1" indent="-408114">
              <a:buFont typeface="Monotype Sorts" charset="2"/>
              <a:buChar char="l"/>
              <a:defRPr/>
            </a:pPr>
            <a:r xmlns:a="http://schemas.openxmlformats.org/drawingml/2006/main">
              <a:rPr lang="pt" dirty="0"/>
              <a:t>Considere interrupções que ocorrem durante atividades cruciais do sistema operacional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A150D19-B431-8641-9F39-FC78DC067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Expedidor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9434F8C-A9CA-0A4B-B992-809D5BC48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43088"/>
            <a:ext cx="11596688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módulo despachante fornece o controle da CPU ao processo selecionado pelo escalonador de curto prazo; isso envolve: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troca de contexto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alternando para o modo de usuário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saltar para o local apropriado no programa do usuário para reiniciar esse programa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Latência de despacho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tempo que o despachante leva para interromper um processo e iniciar outro em execução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8F9B3D7-C66E-F241-8E4E-786092713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5900" y="369888"/>
            <a:ext cx="115443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Critérios de agendamento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B548E79F-7C01-3648-BB3F-44548DE11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1662113"/>
            <a:ext cx="11456988" cy="6611937"/>
          </a:xfrm>
        </p:spPr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Utilização da CPU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mantenha a CPU o mais ocupada possível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Taxa de transferência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# de processos que concluem sua execução por unidade de tempo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Tempo de resposta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quantidade de tempo para executar um processo específico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Tempo de espera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tempo que um processo ficou esperando na fila de espera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Tempo de resposta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tempo que leva desde o envio de uma solicitação até a produção da primeira resposta, não a saída (para ambiente de tempo compartilhado)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90DEEFBD-AB7D-3D45-A708-7316E9858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5900" y="369888"/>
            <a:ext cx="115443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Critérios de otimização do algoritmo de escalonamento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3E7C219-50CC-A84C-BBBB-6029C5270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19288"/>
            <a:ext cx="11026775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Utilização máxima da CPU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Taxa de transferência máxima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mínimo de resposta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mínimo de espera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mínimo de resposta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CA4FCCE0-B003-8143-A7E6-2996C423E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5900" y="533400"/>
            <a:ext cx="12006263" cy="6096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Agendamento por ordem de chegada (FCFS)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1A7A4DE1-BEA9-BA41-A1AA-8BAAF264A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6650" y="1854200"/>
            <a:ext cx="11349038" cy="548640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4329113" algn="ctr"/>
                <a:tab pos="6619875" algn="ctr"/>
              </a:tabLst>
            </a:pPr>
            <a:r xmlns:a="http://schemas.openxmlformats.org/drawingml/2006/main">
              <a:rPr lang="pt" altLang="pt-BR" sz="2300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Processo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Tempo de explosão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4329113" algn="ctr"/>
                <a:tab pos="6619875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24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4329113" algn="ctr"/>
                <a:tab pos="6619875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4329113" algn="ctr"/>
                <a:tab pos="6619875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4329113" algn="ctr"/>
                <a:tab pos="6619875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Suponha que os processos cheguem na ordem: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 </a:t>
            </a:r>
            <a:br xmlns:a="http://schemas.openxmlformats.org/drawingml/2006/main">
              <a:rPr lang="en-US" altLang="pt-BR" i="1" baseline="-25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diagrama de Gantt para o cronograma é: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 sz="230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4329113" algn="ctr"/>
                <a:tab pos="6619875" algn="ctr"/>
              </a:tabLst>
            </a:pPr>
            <a:endParaRPr lang="en-US" altLang="pt-BR" sz="23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4329113" algn="ctr"/>
                <a:tab pos="6619875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 espera para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0;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24;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27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4329113" algn="ctr"/>
                <a:tab pos="6619875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espera: (0 + 24 + 27)/3 = 17</a:t>
            </a:r>
          </a:p>
        </p:txBody>
      </p:sp>
      <p:grpSp>
        <p:nvGrpSpPr>
          <p:cNvPr id="23555" name="Group 18">
            <a:extLst>
              <a:ext uri="{FF2B5EF4-FFF2-40B4-BE49-F238E27FC236}">
                <a16:creationId xmlns:a16="http://schemas.microsoft.com/office/drawing/2014/main" id="{44389A94-B0B8-994C-9695-E9912884C277}"/>
              </a:ext>
            </a:extLst>
          </p:cNvPr>
          <p:cNvGrpSpPr>
            <a:grpSpLocks/>
          </p:cNvGrpSpPr>
          <p:nvPr/>
        </p:nvGrpSpPr>
        <p:grpSpPr bwMode="auto">
          <a:xfrm>
            <a:off x="1717675" y="4276725"/>
            <a:ext cx="8161338" cy="1452563"/>
            <a:chOff x="886" y="2688"/>
            <a:chExt cx="3427" cy="686"/>
          </a:xfrm>
        </p:grpSpPr>
        <p:sp>
          <p:nvSpPr>
            <p:cNvPr id="23556" name="Rectangle 4">
              <a:extLst>
                <a:ext uri="{FF2B5EF4-FFF2-40B4-BE49-F238E27FC236}">
                  <a16:creationId xmlns:a16="http://schemas.microsoft.com/office/drawing/2014/main" id="{F28BFF2F-3B74-9140-9A33-4F0DCCB24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23557" name="Text Box 5">
              <a:extLst>
                <a:ext uri="{FF2B5EF4-FFF2-40B4-BE49-F238E27FC236}">
                  <a16:creationId xmlns:a16="http://schemas.microsoft.com/office/drawing/2014/main" id="{3941B07A-62D7-3F4E-BC11-218F0335F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" y="2760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1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3558" name="Text Box 6">
              <a:extLst>
                <a:ext uri="{FF2B5EF4-FFF2-40B4-BE49-F238E27FC236}">
                  <a16:creationId xmlns:a16="http://schemas.microsoft.com/office/drawing/2014/main" id="{FF28189A-419D-674B-B849-FD040A72B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4" y="2760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2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3559" name="Text Box 7">
              <a:extLst>
                <a:ext uri="{FF2B5EF4-FFF2-40B4-BE49-F238E27FC236}">
                  <a16:creationId xmlns:a16="http://schemas.microsoft.com/office/drawing/2014/main" id="{5440BB3E-8250-1E4C-BB7A-53A7D63E6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2760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3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3560" name="Line 8">
              <a:extLst>
                <a:ext uri="{FF2B5EF4-FFF2-40B4-BE49-F238E27FC236}">
                  <a16:creationId xmlns:a16="http://schemas.microsoft.com/office/drawing/2014/main" id="{60432F21-3B91-554F-A336-BE7D67280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561" name="Line 9">
              <a:extLst>
                <a:ext uri="{FF2B5EF4-FFF2-40B4-BE49-F238E27FC236}">
                  <a16:creationId xmlns:a16="http://schemas.microsoft.com/office/drawing/2014/main" id="{893D31A1-B585-2143-852B-59F7A0215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562" name="Line 10">
              <a:extLst>
                <a:ext uri="{FF2B5EF4-FFF2-40B4-BE49-F238E27FC236}">
                  <a16:creationId xmlns:a16="http://schemas.microsoft.com/office/drawing/2014/main" id="{BE3730B7-1590-444B-BEB0-4713CF5FB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563" name="Line 11">
              <a:extLst>
                <a:ext uri="{FF2B5EF4-FFF2-40B4-BE49-F238E27FC236}">
                  <a16:creationId xmlns:a16="http://schemas.microsoft.com/office/drawing/2014/main" id="{F19F4DFA-B55C-9E4E-8063-9637BD291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564" name="Line 12">
              <a:extLst>
                <a:ext uri="{FF2B5EF4-FFF2-40B4-BE49-F238E27FC236}">
                  <a16:creationId xmlns:a16="http://schemas.microsoft.com/office/drawing/2014/main" id="{2D091B88-6ED4-E34A-9A74-BDAB4DD07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565" name="Line 13">
              <a:extLst>
                <a:ext uri="{FF2B5EF4-FFF2-40B4-BE49-F238E27FC236}">
                  <a16:creationId xmlns:a16="http://schemas.microsoft.com/office/drawing/2014/main" id="{FA85AC88-4EF5-4E41-9490-271BC610A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566" name="Text Box 14">
              <a:extLst>
                <a:ext uri="{FF2B5EF4-FFF2-40B4-BE49-F238E27FC236}">
                  <a16:creationId xmlns:a16="http://schemas.microsoft.com/office/drawing/2014/main" id="{F0E0D793-3D24-A946-AFE5-BD1BFDB84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" y="3192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24</a:t>
              </a:r>
            </a:p>
          </p:txBody>
        </p:sp>
        <p:sp>
          <p:nvSpPr>
            <p:cNvPr id="23567" name="Text Box 15">
              <a:extLst>
                <a:ext uri="{FF2B5EF4-FFF2-40B4-BE49-F238E27FC236}">
                  <a16:creationId xmlns:a16="http://schemas.microsoft.com/office/drawing/2014/main" id="{E15736B2-CFA7-7E44-B537-A5B4EBA47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6" y="3192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27</a:t>
              </a:r>
            </a:p>
          </p:txBody>
        </p:sp>
        <p:sp>
          <p:nvSpPr>
            <p:cNvPr id="23568" name="Text Box 16">
              <a:extLst>
                <a:ext uri="{FF2B5EF4-FFF2-40B4-BE49-F238E27FC236}">
                  <a16:creationId xmlns:a16="http://schemas.microsoft.com/office/drawing/2014/main" id="{0B968D87-DB4C-E947-B1CE-0C3DE5126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2" y="3192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30</a:t>
              </a:r>
            </a:p>
          </p:txBody>
        </p:sp>
        <p:sp>
          <p:nvSpPr>
            <p:cNvPr id="23569" name="Text Box 17">
              <a:extLst>
                <a:ext uri="{FF2B5EF4-FFF2-40B4-BE49-F238E27FC236}">
                  <a16:creationId xmlns:a16="http://schemas.microsoft.com/office/drawing/2014/main" id="{55DF918D-F15E-3B4B-9226-006C6158B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3192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5851030F-6596-D34C-835C-5C3956D03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FCFS (Cont.)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14A1CF3C-ABB2-8E49-B917-31BF7EC21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buFont typeface="Monotype Sorts" pitchFamily="2" charset="2"/>
              <a:buNone/>
              <a:tabLst>
                <a:tab pos="52133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Suponha que os processos cheguem na ordem: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52133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>
              <a:tabLst>
                <a:tab pos="52133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gráfico de Gantt para o cronograma é: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52133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52133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52133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52133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52133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52133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52133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 espera para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6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;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0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</a:t>
            </a:r>
            <a:endParaRPr xmlns:a="http://schemas.openxmlformats.org/drawingml/2006/main" lang="en-US" altLang="pt-BR" i="1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52133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espera: (6 + 0 + 3)/3 = 3</a:t>
            </a:r>
          </a:p>
          <a:p>
            <a:pPr xmlns:a="http://schemas.openxmlformats.org/drawingml/2006/main">
              <a:tabLst>
                <a:tab pos="52133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 melhor que o caso anterior</a:t>
            </a:r>
          </a:p>
          <a:p>
            <a:pPr xmlns:a="http://schemas.openxmlformats.org/drawingml/2006/main">
              <a:tabLst>
                <a:tab pos="5213350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Efeito comboio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 processo curto atrás de processo longo</a:t>
            </a:r>
          </a:p>
          <a:p>
            <a:pPr xmlns:a="http://schemas.openxmlformats.org/drawingml/2006/main" lvl="1">
              <a:tabLst>
                <a:tab pos="52133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um processo limitado pela CPU e muitos processos limitados pela E/S</a:t>
            </a:r>
          </a:p>
        </p:txBody>
      </p:sp>
      <p:grpSp>
        <p:nvGrpSpPr>
          <p:cNvPr id="25603" name="Group 20">
            <a:extLst>
              <a:ext uri="{FF2B5EF4-FFF2-40B4-BE49-F238E27FC236}">
                <a16:creationId xmlns:a16="http://schemas.microsoft.com/office/drawing/2014/main" id="{FDDF511A-8868-184B-826B-9A3F9D4DF67D}"/>
              </a:ext>
            </a:extLst>
          </p:cNvPr>
          <p:cNvGrpSpPr>
            <a:grpSpLocks/>
          </p:cNvGrpSpPr>
          <p:nvPr/>
        </p:nvGrpSpPr>
        <p:grpSpPr bwMode="auto">
          <a:xfrm>
            <a:off x="2905125" y="3473450"/>
            <a:ext cx="8189913" cy="1450975"/>
            <a:chOff x="882" y="1650"/>
            <a:chExt cx="3439" cy="686"/>
          </a:xfrm>
        </p:grpSpPr>
        <p:sp>
          <p:nvSpPr>
            <p:cNvPr id="25604" name="Rectangle 6">
              <a:extLst>
                <a:ext uri="{FF2B5EF4-FFF2-40B4-BE49-F238E27FC236}">
                  <a16:creationId xmlns:a16="http://schemas.microsoft.com/office/drawing/2014/main" id="{DA7F24E9-7D22-E94A-AF17-31D98A745CE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25605" name="Text Box 7">
              <a:extLst>
                <a:ext uri="{FF2B5EF4-FFF2-40B4-BE49-F238E27FC236}">
                  <a16:creationId xmlns:a16="http://schemas.microsoft.com/office/drawing/2014/main" id="{9D0F9666-8712-B346-897C-EC7D6B790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19" y="1722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1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5606" name="Text Box 8">
              <a:extLst>
                <a:ext uri="{FF2B5EF4-FFF2-40B4-BE49-F238E27FC236}">
                  <a16:creationId xmlns:a16="http://schemas.microsoft.com/office/drawing/2014/main" id="{B9CAA4A7-DDD2-D34E-81CD-30848E367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731" y="1722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3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5607" name="Text Box 9">
              <a:extLst>
                <a:ext uri="{FF2B5EF4-FFF2-40B4-BE49-F238E27FC236}">
                  <a16:creationId xmlns:a16="http://schemas.microsoft.com/office/drawing/2014/main" id="{D8E6D7BA-5CA6-2E45-BF00-9B7F5FD45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155" y="1722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2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5608" name="Line 10">
              <a:extLst>
                <a:ext uri="{FF2B5EF4-FFF2-40B4-BE49-F238E27FC236}">
                  <a16:creationId xmlns:a16="http://schemas.microsoft.com/office/drawing/2014/main" id="{609334E5-2152-7740-96A4-F31B94DD5B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0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09" name="Line 11">
              <a:extLst>
                <a:ext uri="{FF2B5EF4-FFF2-40B4-BE49-F238E27FC236}">
                  <a16:creationId xmlns:a16="http://schemas.microsoft.com/office/drawing/2014/main" id="{A2E76B58-8091-FE47-B5EB-BA0D243F4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10" name="Line 12">
              <a:extLst>
                <a:ext uri="{FF2B5EF4-FFF2-40B4-BE49-F238E27FC236}">
                  <a16:creationId xmlns:a16="http://schemas.microsoft.com/office/drawing/2014/main" id="{17E0A471-B6B1-2B42-88E5-04B79E75C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8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11" name="Line 13">
              <a:extLst>
                <a:ext uri="{FF2B5EF4-FFF2-40B4-BE49-F238E27FC236}">
                  <a16:creationId xmlns:a16="http://schemas.microsoft.com/office/drawing/2014/main" id="{E33124F6-28DE-1F47-BA0E-7E1FB7AAA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2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12" name="Line 14">
              <a:extLst>
                <a:ext uri="{FF2B5EF4-FFF2-40B4-BE49-F238E27FC236}">
                  <a16:creationId xmlns:a16="http://schemas.microsoft.com/office/drawing/2014/main" id="{1B40BD3A-04B9-744E-A4E7-DBDACE7B5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13" name="Line 15">
              <a:extLst>
                <a:ext uri="{FF2B5EF4-FFF2-40B4-BE49-F238E27FC236}">
                  <a16:creationId xmlns:a16="http://schemas.microsoft.com/office/drawing/2014/main" id="{336D4635-66E1-C945-84AF-1572C486F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2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14" name="Text Box 16">
              <a:extLst>
                <a:ext uri="{FF2B5EF4-FFF2-40B4-BE49-F238E27FC236}">
                  <a16:creationId xmlns:a16="http://schemas.microsoft.com/office/drawing/2014/main" id="{F14E7B0F-12DA-6D44-B573-C000E404D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086" y="2154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6</a:t>
              </a:r>
            </a:p>
          </p:txBody>
        </p:sp>
        <p:sp>
          <p:nvSpPr>
            <p:cNvPr id="25615" name="Text Box 17">
              <a:extLst>
                <a:ext uri="{FF2B5EF4-FFF2-40B4-BE49-F238E27FC236}">
                  <a16:creationId xmlns:a16="http://schemas.microsoft.com/office/drawing/2014/main" id="{F30E12F5-E1FF-044D-8EEA-696CC4F26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10" y="2154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3</a:t>
              </a:r>
            </a:p>
          </p:txBody>
        </p:sp>
        <p:sp>
          <p:nvSpPr>
            <p:cNvPr id="25616" name="Text Box 18">
              <a:extLst>
                <a:ext uri="{FF2B5EF4-FFF2-40B4-BE49-F238E27FC236}">
                  <a16:creationId xmlns:a16="http://schemas.microsoft.com/office/drawing/2014/main" id="{0B100370-460E-C944-96D8-2F60CB918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30" y="2154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30</a:t>
              </a:r>
            </a:p>
          </p:txBody>
        </p:sp>
        <p:sp>
          <p:nvSpPr>
            <p:cNvPr id="25617" name="Text Box 19">
              <a:extLst>
                <a:ext uri="{FF2B5EF4-FFF2-40B4-BE49-F238E27FC236}">
                  <a16:creationId xmlns:a16="http://schemas.microsoft.com/office/drawing/2014/main" id="{8E75F667-BF43-CC4E-9F41-7A6D5BA0A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82" y="2154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2E477AA-B390-B347-AF0E-EE9D774E1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4288" y="369888"/>
            <a:ext cx="117459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Tarefa Mais Curta Primeiro (SJF)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4D9F91FC-44E0-4D44-9387-80F650A65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Associe a cada processo a duração do seu próximo pico de CPU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 esses comprimentos para agendar o processo com o menor tempo possível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SJF é ótimo – fornece tempo médio de espera mínimo para um determinado conjunto de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dificuldade é saber a duração da próxima solicitação da CPU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Poderia perguntar ao usuário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134855EC-A8B9-3344-A115-A5977326F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SJF</a:t>
            </a:r>
          </a:p>
        </p:txBody>
      </p:sp>
      <p:sp>
        <p:nvSpPr>
          <p:cNvPr id="29698" name="Rectangle 36">
            <a:extLst>
              <a:ext uri="{FF2B5EF4-FFF2-40B4-BE49-F238E27FC236}">
                <a16:creationId xmlns:a16="http://schemas.microsoft.com/office/drawing/2014/main" id="{FC7350D4-679F-3549-BE30-18E1627D8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                    </a:t>
            </a:r>
            <a:r xmlns:a="http://schemas.openxmlformats.org/drawingml/2006/main">
              <a:rPr lang="pt" altLang="pt-BR" u="sng">
                <a:solidFill>
                  <a:schemeClr val="bg1"/>
                </a:solidFill>
                <a:ea typeface="ＭＳ Ｐゴシック" panose="020B0600070205080204" pitchFamily="34" charset="-128"/>
              </a:rPr>
              <a:t>Tempo de chegada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do processo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Tempo de explosão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chemeClr val="bg1"/>
                </a:solidFill>
                <a:ea typeface="ＭＳ Ｐゴシック" panose="020B0600070205080204" pitchFamily="34" charset="-128"/>
              </a:rPr>
              <a:t>0,0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6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solidFill>
                  <a:schemeClr val="bg1"/>
                </a:solidFill>
                <a:ea typeface="ＭＳ Ｐゴシック" panose="020B0600070205080204" pitchFamily="34" charset="-128"/>
              </a:rPr>
              <a:t>2.0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8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chemeClr val="bg1"/>
                </a:solidFill>
                <a:ea typeface="ＭＳ Ｐゴシック" panose="020B0600070205080204" pitchFamily="34" charset="-128"/>
              </a:rPr>
              <a:t>4.0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7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4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chemeClr val="bg1"/>
                </a:solidFill>
                <a:ea typeface="ＭＳ Ｐゴシック" panose="020B0600070205080204" pitchFamily="34" charset="-128"/>
              </a:rPr>
              <a:t>5.0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</a:t>
            </a:r>
          </a:p>
          <a:p>
            <a:pPr xmlns:a="http://schemas.openxmlformats.org/drawingml/2006/main"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 de agendamento do SJF</a:t>
            </a: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espera = (3 + 16 + 9 + 0) / 4 = 7</a:t>
            </a:r>
            <a:endParaRPr xmlns:a="http://schemas.openxmlformats.org/drawingml/2006/main" lang="en-US" altLang="pt-BR" i="1" baseline="-25000">
              <a:ea typeface="ＭＳ Ｐゴシック" panose="020B0600070205080204" pitchFamily="34" charset="-128"/>
            </a:endParaRPr>
          </a:p>
        </p:txBody>
      </p:sp>
      <p:grpSp>
        <p:nvGrpSpPr>
          <p:cNvPr id="29699" name="Group 74">
            <a:extLst>
              <a:ext uri="{FF2B5EF4-FFF2-40B4-BE49-F238E27FC236}">
                <a16:creationId xmlns:a16="http://schemas.microsoft.com/office/drawing/2014/main" id="{4DEBDFF2-DE95-B74A-9635-C02A1A4926C8}"/>
              </a:ext>
            </a:extLst>
          </p:cNvPr>
          <p:cNvGrpSpPr>
            <a:grpSpLocks/>
          </p:cNvGrpSpPr>
          <p:nvPr/>
        </p:nvGrpSpPr>
        <p:grpSpPr bwMode="auto">
          <a:xfrm>
            <a:off x="1770063" y="3992563"/>
            <a:ext cx="8716962" cy="1495425"/>
            <a:chOff x="894" y="2352"/>
            <a:chExt cx="3660" cy="707"/>
          </a:xfrm>
        </p:grpSpPr>
        <p:sp>
          <p:nvSpPr>
            <p:cNvPr id="29700" name="Rectangle 37">
              <a:extLst>
                <a:ext uri="{FF2B5EF4-FFF2-40B4-BE49-F238E27FC236}">
                  <a16:creationId xmlns:a16="http://schemas.microsoft.com/office/drawing/2014/main" id="{6C2E4C31-4361-3948-91CD-D0F704B6FB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29701" name="Text Box 38">
              <a:extLst>
                <a:ext uri="{FF2B5EF4-FFF2-40B4-BE49-F238E27FC236}">
                  <a16:creationId xmlns:a16="http://schemas.microsoft.com/office/drawing/2014/main" id="{A11A3103-4001-EA45-8F5F-F39AF0440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049" y="2437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4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9702" name="Text Box 39">
              <a:extLst>
                <a:ext uri="{FF2B5EF4-FFF2-40B4-BE49-F238E27FC236}">
                  <a16:creationId xmlns:a16="http://schemas.microsoft.com/office/drawing/2014/main" id="{73ABB75B-56DC-0843-8A60-E6898A42C2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016" y="2424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3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9703" name="Text Box 40">
              <a:extLst>
                <a:ext uri="{FF2B5EF4-FFF2-40B4-BE49-F238E27FC236}">
                  <a16:creationId xmlns:a16="http://schemas.microsoft.com/office/drawing/2014/main" id="{328A9821-E126-8847-B10B-7D77620D4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009" y="2473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1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9704" name="Line 41">
              <a:extLst>
                <a:ext uri="{FF2B5EF4-FFF2-40B4-BE49-F238E27FC236}">
                  <a16:creationId xmlns:a16="http://schemas.microsoft.com/office/drawing/2014/main" id="{8991D32A-0257-594B-845D-8B8EE6054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2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05" name="Line 42">
              <a:extLst>
                <a:ext uri="{FF2B5EF4-FFF2-40B4-BE49-F238E27FC236}">
                  <a16:creationId xmlns:a16="http://schemas.microsoft.com/office/drawing/2014/main" id="{AA3F28A3-4E48-054F-A337-6EF9D5238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06" name="Line 43">
              <a:extLst>
                <a:ext uri="{FF2B5EF4-FFF2-40B4-BE49-F238E27FC236}">
                  <a16:creationId xmlns:a16="http://schemas.microsoft.com/office/drawing/2014/main" id="{52EF1229-4030-1542-8570-A18B798BE1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07" name="Text Box 48">
              <a:extLst>
                <a:ext uri="{FF2B5EF4-FFF2-40B4-BE49-F238E27FC236}">
                  <a16:creationId xmlns:a16="http://schemas.microsoft.com/office/drawing/2014/main" id="{70AF391B-5627-1442-BA86-DE9658A15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67" y="2857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3</a:t>
              </a:r>
            </a:p>
          </p:txBody>
        </p:sp>
        <p:sp>
          <p:nvSpPr>
            <p:cNvPr id="29708" name="Text Box 49">
              <a:extLst>
                <a:ext uri="{FF2B5EF4-FFF2-40B4-BE49-F238E27FC236}">
                  <a16:creationId xmlns:a16="http://schemas.microsoft.com/office/drawing/2014/main" id="{1C579CA4-3E91-7D48-BC3D-3A8712AD3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355" y="286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16</a:t>
              </a:r>
            </a:p>
          </p:txBody>
        </p:sp>
        <p:sp>
          <p:nvSpPr>
            <p:cNvPr id="29709" name="Text Box 50">
              <a:extLst>
                <a:ext uri="{FF2B5EF4-FFF2-40B4-BE49-F238E27FC236}">
                  <a16:creationId xmlns:a16="http://schemas.microsoft.com/office/drawing/2014/main" id="{40A8F5C4-F612-4744-BC2A-7C3F3F470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94" y="2877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0</a:t>
              </a:r>
            </a:p>
          </p:txBody>
        </p:sp>
        <p:sp>
          <p:nvSpPr>
            <p:cNvPr id="29710" name="Line 52">
              <a:extLst>
                <a:ext uri="{FF2B5EF4-FFF2-40B4-BE49-F238E27FC236}">
                  <a16:creationId xmlns:a16="http://schemas.microsoft.com/office/drawing/2014/main" id="{4AD0D40D-87FA-F640-A468-9B5773AAF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11" name="Line 54">
              <a:extLst>
                <a:ext uri="{FF2B5EF4-FFF2-40B4-BE49-F238E27FC236}">
                  <a16:creationId xmlns:a16="http://schemas.microsoft.com/office/drawing/2014/main" id="{737DB0A4-7F37-C544-B9BA-13EB06778D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12" name="Line 58">
              <a:extLst>
                <a:ext uri="{FF2B5EF4-FFF2-40B4-BE49-F238E27FC236}">
                  <a16:creationId xmlns:a16="http://schemas.microsoft.com/office/drawing/2014/main" id="{94578A11-F0EB-F640-B017-2882E0273E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13" name="Line 63">
              <a:extLst>
                <a:ext uri="{FF2B5EF4-FFF2-40B4-BE49-F238E27FC236}">
                  <a16:creationId xmlns:a16="http://schemas.microsoft.com/office/drawing/2014/main" id="{9E95181C-8214-1147-BAEC-B7D9E80C3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14" name="Text Box 64">
              <a:extLst>
                <a:ext uri="{FF2B5EF4-FFF2-40B4-BE49-F238E27FC236}">
                  <a16:creationId xmlns:a16="http://schemas.microsoft.com/office/drawing/2014/main" id="{C9462BF6-36EE-CA49-9003-707760D23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623" y="2857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9</a:t>
              </a:r>
            </a:p>
          </p:txBody>
        </p:sp>
        <p:sp>
          <p:nvSpPr>
            <p:cNvPr id="29715" name="Line 69">
              <a:extLst>
                <a:ext uri="{FF2B5EF4-FFF2-40B4-BE49-F238E27FC236}">
                  <a16:creationId xmlns:a16="http://schemas.microsoft.com/office/drawing/2014/main" id="{A0485281-0327-0D4B-AC46-98424A088B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3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716" name="Text Box 70">
              <a:extLst>
                <a:ext uri="{FF2B5EF4-FFF2-40B4-BE49-F238E27FC236}">
                  <a16:creationId xmlns:a16="http://schemas.microsoft.com/office/drawing/2014/main" id="{4E0EB8FD-A431-1249-8565-0D08191AA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784" y="2424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2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29717" name="Text Box 73">
              <a:extLst>
                <a:ext uri="{FF2B5EF4-FFF2-40B4-BE49-F238E27FC236}">
                  <a16:creationId xmlns:a16="http://schemas.microsoft.com/office/drawing/2014/main" id="{63865D43-9B44-BE40-86CB-6523E8305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363" y="286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4767CCF6-6FD5-424A-95E8-57265A6E3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4488" y="323850"/>
            <a:ext cx="11658600" cy="81438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Determinando a duração do próximo pico de CPU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7AC57CCD-6CC2-CE4F-B3B4-5337BE4B7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53813" cy="65801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Só é possível estimar o comprimento – deve ser semelhante ao anterior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seguida, escolha o processo com o menor pico de CPU previsto.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ser feito usando o comprimento de rajadas de CPU anteriores, usando média exponencial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Comumente, </a:t>
            </a:r>
            <a:r xmlns:a="http://schemas.openxmlformats.org/drawingml/2006/main">
              <a:rPr lang="pt" altLang="pt-BR">
                <a:latin typeface="Lucida Grande" panose="020B0600040502020204" pitchFamily="34" charset="0"/>
                <a:ea typeface="ＭＳ Ｐゴシック" panose="020B0600070205080204" pitchFamily="34" charset="-128"/>
              </a:rPr>
              <a:t>α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definido como ½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Versão preventiva chamada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restante mais curto primeiro</a:t>
            </a: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8CDF12C8-A0DA-544A-9EDD-733871FBEB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6713" y="3659188"/>
          <a:ext cx="6640512" cy="16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4" imgW="147459700" imgH="40957500" progId="Equation.3">
                  <p:embed/>
                </p:oleObj>
              </mc:Choice>
              <mc:Fallback>
                <p:oleObj name="Equation" r:id="rId4" imgW="147459700" imgH="40957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3659188"/>
                        <a:ext cx="6640512" cy="167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3">
            <a:extLst>
              <a:ext uri="{FF2B5EF4-FFF2-40B4-BE49-F238E27FC236}">
                <a16:creationId xmlns:a16="http://schemas.microsoft.com/office/drawing/2014/main" id="{2F0D782C-44C4-A74E-B461-94B08F2D0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4550" y="4989513"/>
          <a:ext cx="33337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6" imgW="51206400" imgH="7315200" progId="Equation.3">
                  <p:embed/>
                </p:oleObj>
              </mc:Choice>
              <mc:Fallback>
                <p:oleObj name="Equation" r:id="rId6" imgW="51206400" imgH="7315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4989513"/>
                        <a:ext cx="333375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55AD8733-F17D-F54C-96C8-6551FE8E7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322263"/>
            <a:ext cx="12334875" cy="904875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Previsão da duração do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próximo pico de CPU</a:t>
            </a:r>
          </a:p>
        </p:txBody>
      </p:sp>
      <p:pic>
        <p:nvPicPr>
          <p:cNvPr id="33794" name="Picture 1" descr="6_03.pdf">
            <a:extLst>
              <a:ext uri="{FF2B5EF4-FFF2-40B4-BE49-F238E27FC236}">
                <a16:creationId xmlns:a16="http://schemas.microsoft.com/office/drawing/2014/main" id="{3DFF2604-F2A6-A540-8B82-2BD127B1C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638" y="1422400"/>
            <a:ext cx="9090025" cy="657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47B7DED-E928-1B4B-B736-3C3978D24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2613" y="369888"/>
            <a:ext cx="111775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média exponencial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AE1F342F-BD7D-114E-B143-8C89B5C45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14138" cy="6040438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 =0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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  <a:sym typeface="Symbol" pitchFamily="2" charset="2"/>
              </a:rPr>
              <a:t>n+1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= 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  <a:sym typeface="Symbol" pitchFamily="2" charset="2"/>
              </a:rPr>
              <a:t>n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A história recente não conta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 =1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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  <a:sym typeface="Symbol" pitchFamily="2" charset="2"/>
              </a:rPr>
              <a:t>n+1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= 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t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  <a:sym typeface="Symbol" pitchFamily="2" charset="2"/>
              </a:rPr>
              <a:t>n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Apenas o último pico de CPU conta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expandirmos a fórmula, obtemos:</a:t>
            </a:r>
          </a:p>
          <a:p>
            <a:pPr xmlns:a="http://schemas.openxmlformats.org/drawingml/2006/main" lvl="2">
              <a:lnSpc>
                <a:spcPct val="90000"/>
              </a:lnSpc>
              <a:buFont typeface="Webding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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n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  <a:sym typeface="Symbol" pitchFamily="2" charset="2"/>
              </a:rPr>
              <a:t>+1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=  t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+(1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-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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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t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n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-1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+ …</a:t>
            </a:r>
          </a:p>
          <a:p>
            <a:pPr xmlns:a="http://schemas.openxmlformats.org/drawingml/2006/main" lvl="2">
              <a:lnSpc>
                <a:spcPct val="90000"/>
              </a:lnSpc>
              <a:buFont typeface="Webding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         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+(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1 - 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) </a:t>
            </a:r>
            <a:r xmlns:a="http://schemas.openxmlformats.org/drawingml/2006/main">
              <a:rPr lang="pt" altLang="pt-BR" i="1" baseline="30000">
                <a:ea typeface="ＭＳ Ｐゴシック" panose="020B0600070205080204" pitchFamily="34" charset="-128"/>
                <a:sym typeface="Symbol" pitchFamily="2" charset="2"/>
              </a:rPr>
              <a:t>j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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t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n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  <a:sym typeface="Symbol" pitchFamily="2" charset="2"/>
              </a:rPr>
              <a:t>-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j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+ …</a:t>
            </a:r>
          </a:p>
          <a:p>
            <a:pPr xmlns:a="http://schemas.openxmlformats.org/drawingml/2006/main" lvl="2">
              <a:lnSpc>
                <a:spcPct val="90000"/>
              </a:lnSpc>
              <a:buFont typeface="Webding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         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+(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1 - 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) </a:t>
            </a:r>
            <a:r xmlns:a="http://schemas.openxmlformats.org/drawingml/2006/main">
              <a:rPr lang="pt" altLang="pt-BR" i="1" baseline="30000">
                <a:ea typeface="ＭＳ Ｐゴシック" panose="020B0600070205080204" pitchFamily="34" charset="-128"/>
                <a:sym typeface="Symbol" pitchFamily="2" charset="2"/>
              </a:rPr>
              <a:t>n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  <a:sym typeface="Symbol" pitchFamily="2" charset="2"/>
              </a:rPr>
              <a:t>+1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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  <a:sym typeface="Symbol" pitchFamily="2" charset="2"/>
              </a:rPr>
              <a:t>0</a:t>
            </a:r>
            <a:br xmlns:a="http://schemas.openxmlformats.org/drawingml/2006/main">
              <a:rPr lang="en-US" altLang="pt-BR" baseline="-25000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 baseline="-25000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Como  e (1 - ) são menores ou iguais a 1, cada termo sucessivo tem menos peso que seu antecessor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0D818668-A8B4-3F46-8752-8EB8415BF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9788" y="369888"/>
            <a:ext cx="109204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Exemplo de tempo restante mais curto primeiro</a:t>
            </a:r>
          </a:p>
        </p:txBody>
      </p:sp>
      <p:sp>
        <p:nvSpPr>
          <p:cNvPr id="37890" name="Rectangle 36">
            <a:extLst>
              <a:ext uri="{FF2B5EF4-FFF2-40B4-BE49-F238E27FC236}">
                <a16:creationId xmlns:a16="http://schemas.microsoft.com/office/drawing/2014/main" id="{98E03211-813D-6D4C-B65A-8B46897C3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xmlns:a="http://schemas.openxmlformats.org/drawingml/2006/main"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Agora adicionamos os conceitos de tempos de chegada variáveis e preempção à análise</a:t>
            </a:r>
          </a:p>
          <a:p>
            <a:pPr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      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pt-BR" u="sng">
                <a:solidFill>
                  <a:schemeClr val="bg1"/>
                </a:solidFill>
                <a:ea typeface="ＭＳ Ｐゴシック" panose="020B0600070205080204" pitchFamily="34" charset="-128"/>
              </a:rPr>
              <a:t>A arri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Hora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de chegada </a:t>
            </a:r>
            <a:r xmlns:a="http://schemas.openxmlformats.org/drawingml/2006/main">
              <a:rPr lang="pt" altLang="pt-BR" u="sng">
                <a:solidFill>
                  <a:schemeClr val="bg1"/>
                </a:solidFill>
                <a:ea typeface="ＭＳ Ｐゴシック" panose="020B0600070205080204" pitchFamily="34" charset="-128"/>
              </a:rPr>
              <a:t>T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Tempo de explosão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8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4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9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4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5</a:t>
            </a:r>
          </a:p>
          <a:p>
            <a:pPr xmlns:a="http://schemas.openxmlformats.org/drawingml/2006/main"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Gráfico de Gantt SJF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Preemptivo</a:t>
            </a: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espera = [(10-1)+(1-1)+(17-2)+5-3)]/4 = 26/4 = 6,5 ms</a:t>
            </a: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 i="1" baseline="-2500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endParaRPr lang="en-US" altLang="pt-BR" i="1" baseline="-25000">
              <a:ea typeface="ＭＳ Ｐゴシック" panose="020B0600070205080204" pitchFamily="34" charset="-128"/>
            </a:endParaRPr>
          </a:p>
        </p:txBody>
      </p:sp>
      <p:grpSp>
        <p:nvGrpSpPr>
          <p:cNvPr id="37891" name="Group 74">
            <a:extLst>
              <a:ext uri="{FF2B5EF4-FFF2-40B4-BE49-F238E27FC236}">
                <a16:creationId xmlns:a16="http://schemas.microsoft.com/office/drawing/2014/main" id="{85D14434-9A7D-FC43-9C64-D3B4C55725A9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4964113"/>
            <a:ext cx="8715375" cy="1392237"/>
            <a:chOff x="899" y="2366"/>
            <a:chExt cx="3660" cy="658"/>
          </a:xfrm>
        </p:grpSpPr>
        <p:sp>
          <p:nvSpPr>
            <p:cNvPr id="37892" name="Rectangle 37">
              <a:extLst>
                <a:ext uri="{FF2B5EF4-FFF2-40B4-BE49-F238E27FC236}">
                  <a16:creationId xmlns:a16="http://schemas.microsoft.com/office/drawing/2014/main" id="{E242D038-71AE-624E-A3E7-6289BD68750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37893" name="Text Box 38">
              <a:extLst>
                <a:ext uri="{FF2B5EF4-FFF2-40B4-BE49-F238E27FC236}">
                  <a16:creationId xmlns:a16="http://schemas.microsoft.com/office/drawing/2014/main" id="{6E3B40B7-54AA-9F4A-8576-D86A6C092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049" y="2437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1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37894" name="Text Box 39">
              <a:extLst>
                <a:ext uri="{FF2B5EF4-FFF2-40B4-BE49-F238E27FC236}">
                  <a16:creationId xmlns:a16="http://schemas.microsoft.com/office/drawing/2014/main" id="{C2874962-C4A7-D042-B15B-5CA01BA06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016" y="2424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1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37895" name="Text Box 40">
              <a:extLst>
                <a:ext uri="{FF2B5EF4-FFF2-40B4-BE49-F238E27FC236}">
                  <a16:creationId xmlns:a16="http://schemas.microsoft.com/office/drawing/2014/main" id="{841E7BDD-D666-AA4B-9DCB-EADBEC8D5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495" y="2435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2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37896" name="Line 43">
              <a:extLst>
                <a:ext uri="{FF2B5EF4-FFF2-40B4-BE49-F238E27FC236}">
                  <a16:creationId xmlns:a16="http://schemas.microsoft.com/office/drawing/2014/main" id="{AD79D746-04AD-9D4D-A6BA-519A8D5E2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897" name="Text Box 48">
              <a:extLst>
                <a:ext uri="{FF2B5EF4-FFF2-40B4-BE49-F238E27FC236}">
                  <a16:creationId xmlns:a16="http://schemas.microsoft.com/office/drawing/2014/main" id="{F429C33D-8494-5C40-8CA8-98EDD736C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242" y="2841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</a:t>
              </a:r>
            </a:p>
          </p:txBody>
        </p:sp>
        <p:sp>
          <p:nvSpPr>
            <p:cNvPr id="37898" name="Text Box 49">
              <a:extLst>
                <a:ext uri="{FF2B5EF4-FFF2-40B4-BE49-F238E27FC236}">
                  <a16:creationId xmlns:a16="http://schemas.microsoft.com/office/drawing/2014/main" id="{FA182AC4-4D97-F846-8D37-6BE274FE1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350" y="2842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17</a:t>
              </a:r>
            </a:p>
          </p:txBody>
        </p:sp>
        <p:sp>
          <p:nvSpPr>
            <p:cNvPr id="37899" name="Text Box 50">
              <a:extLst>
                <a:ext uri="{FF2B5EF4-FFF2-40B4-BE49-F238E27FC236}">
                  <a16:creationId xmlns:a16="http://schemas.microsoft.com/office/drawing/2014/main" id="{28C6EA27-550C-A849-8934-52021CC3D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99" y="2839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0</a:t>
              </a:r>
            </a:p>
          </p:txBody>
        </p:sp>
        <p:sp>
          <p:nvSpPr>
            <p:cNvPr id="37900" name="Line 52">
              <a:extLst>
                <a:ext uri="{FF2B5EF4-FFF2-40B4-BE49-F238E27FC236}">
                  <a16:creationId xmlns:a16="http://schemas.microsoft.com/office/drawing/2014/main" id="{52271FAB-AA14-DF44-9992-A39E7F5B4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901" name="Text Box 64">
              <a:extLst>
                <a:ext uri="{FF2B5EF4-FFF2-40B4-BE49-F238E27FC236}">
                  <a16:creationId xmlns:a16="http://schemas.microsoft.com/office/drawing/2014/main" id="{FB9DB9A0-5FD1-D54A-89ED-145A4ED78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594" y="2841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10</a:t>
              </a:r>
            </a:p>
          </p:txBody>
        </p:sp>
        <p:sp>
          <p:nvSpPr>
            <p:cNvPr id="37902" name="Line 69">
              <a:extLst>
                <a:ext uri="{FF2B5EF4-FFF2-40B4-BE49-F238E27FC236}">
                  <a16:creationId xmlns:a16="http://schemas.microsoft.com/office/drawing/2014/main" id="{ADE00B95-FEF0-564C-B335-38D423305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903" name="Text Box 70">
              <a:extLst>
                <a:ext uri="{FF2B5EF4-FFF2-40B4-BE49-F238E27FC236}">
                  <a16:creationId xmlns:a16="http://schemas.microsoft.com/office/drawing/2014/main" id="{1717B82E-F476-A84C-A78B-7246AA37B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784" y="2424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3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37904" name="Text Box 73">
              <a:extLst>
                <a:ext uri="{FF2B5EF4-FFF2-40B4-BE49-F238E27FC236}">
                  <a16:creationId xmlns:a16="http://schemas.microsoft.com/office/drawing/2014/main" id="{E864FE3A-E191-9446-8E35-41CF856C2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368" y="2842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26</a:t>
              </a:r>
            </a:p>
          </p:txBody>
        </p:sp>
        <p:sp>
          <p:nvSpPr>
            <p:cNvPr id="37905" name="Line 43">
              <a:extLst>
                <a:ext uri="{FF2B5EF4-FFF2-40B4-BE49-F238E27FC236}">
                  <a16:creationId xmlns:a16="http://schemas.microsoft.com/office/drawing/2014/main" id="{2AA45C4C-F5CC-4E48-B57F-CA6AACFC5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906" name="Text Box 64">
              <a:extLst>
                <a:ext uri="{FF2B5EF4-FFF2-40B4-BE49-F238E27FC236}">
                  <a16:creationId xmlns:a16="http://schemas.microsoft.com/office/drawing/2014/main" id="{72D325A1-5299-D94C-8B18-701D70A62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859" y="2839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5</a:t>
              </a:r>
            </a:p>
          </p:txBody>
        </p:sp>
        <p:sp>
          <p:nvSpPr>
            <p:cNvPr id="37907" name="Text Box 39">
              <a:extLst>
                <a:ext uri="{FF2B5EF4-FFF2-40B4-BE49-F238E27FC236}">
                  <a16:creationId xmlns:a16="http://schemas.microsoft.com/office/drawing/2014/main" id="{46AC6C51-E765-E744-8FB9-80423119C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182" y="2434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4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3C1BA81D-B3D2-A64C-B114-075FB2016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prioritário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D040825C-26DE-E544-991A-E1C256C9A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712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número de prioridade (inteiro) é associado a cada processo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CPU é alocada ao processo com a maior prioridade (menor inteiro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 maior prioridade)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Preemptivo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preemptivo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SJF é um agendamento de prioridade onde a prioridade é o inverso do próximo tempo de pico de CPU previsto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Problema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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Fome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– processos de baixa prioridade podem nunca ser executados</a:t>
            </a:r>
          </a:p>
          <a:p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Solução 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Envelhecimento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– à medida que o tempo avança, aumente a prioridade do processo</a:t>
            </a:r>
          </a:p>
          <a:p>
            <a:pPr>
              <a:buFont typeface="Monotype Sorts" pitchFamily="2" charset="2"/>
              <a:buNone/>
            </a:pPr>
            <a:endParaRPr lang="en-US" altLang="pt-BR" b="1">
              <a:solidFill>
                <a:srgbClr val="3366FF"/>
              </a:solidFill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9AC2F909-8D1C-E844-BA01-5EC506553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9788" y="369888"/>
            <a:ext cx="109204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Exemplo de agendamento prioritário</a:t>
            </a:r>
          </a:p>
        </p:txBody>
      </p:sp>
      <p:sp>
        <p:nvSpPr>
          <p:cNvPr id="41986" name="Rectangle 36">
            <a:extLst>
              <a:ext uri="{FF2B5EF4-FFF2-40B4-BE49-F238E27FC236}">
                <a16:creationId xmlns:a16="http://schemas.microsoft.com/office/drawing/2014/main" id="{7CE55FCC-67A5-0249-8F2E-6A5603BD2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      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Tempo de explosão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do processo </a:t>
            </a:r>
            <a:r xmlns:a="http://schemas.openxmlformats.org/drawingml/2006/main">
              <a:rPr lang="pt" altLang="pt-BR" u="sng">
                <a:solidFill>
                  <a:schemeClr val="bg1"/>
                </a:solidFill>
                <a:ea typeface="ＭＳ Ｐゴシック" panose="020B0600070205080204" pitchFamily="34" charset="-128"/>
              </a:rPr>
              <a:t>A arri </a:t>
            </a:r>
            <a:r xmlns:a="http://schemas.openxmlformats.org/drawingml/2006/main">
              <a:rPr lang="pt" altLang="pt-BR" u="sng">
                <a:solidFill>
                  <a:schemeClr val="bg1"/>
                </a:solidFill>
                <a:ea typeface="ＭＳ Ｐゴシック" panose="020B0600070205080204" pitchFamily="34" charset="-128"/>
              </a:rPr>
              <a:t>T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Prioridade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4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4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5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5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5 2</a:t>
            </a:r>
            <a:endParaRPr xmlns:a="http://schemas.openxmlformats.org/drawingml/2006/main" lang="en-US" altLang="pt-BR" baseline="-250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Diagrama de Gantt de agendamento prioritário</a:t>
            </a: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287588" algn="ctr"/>
                <a:tab pos="4646613" algn="ctr"/>
                <a:tab pos="734536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287588" algn="ctr"/>
                <a:tab pos="4646613" algn="ctr"/>
                <a:tab pos="734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espera = 8,2 mseg</a:t>
            </a:r>
            <a:endParaRPr xmlns:a="http://schemas.openxmlformats.org/drawingml/2006/main" lang="en-US" altLang="pt-BR" i="1" baseline="-25000">
              <a:ea typeface="ＭＳ Ｐゴシック" panose="020B0600070205080204" pitchFamily="34" charset="-128"/>
            </a:endParaRPr>
          </a:p>
        </p:txBody>
      </p:sp>
      <p:grpSp>
        <p:nvGrpSpPr>
          <p:cNvPr id="41987" name="Group 74">
            <a:extLst>
              <a:ext uri="{FF2B5EF4-FFF2-40B4-BE49-F238E27FC236}">
                <a16:creationId xmlns:a16="http://schemas.microsoft.com/office/drawing/2014/main" id="{BC5895CD-F34F-2E48-ADE1-AEF61B8269AB}"/>
              </a:ext>
            </a:extLst>
          </p:cNvPr>
          <p:cNvGrpSpPr>
            <a:grpSpLocks/>
          </p:cNvGrpSpPr>
          <p:nvPr/>
        </p:nvGrpSpPr>
        <p:grpSpPr bwMode="auto">
          <a:xfrm>
            <a:off x="1962150" y="4392613"/>
            <a:ext cx="7570788" cy="1392237"/>
            <a:chOff x="899" y="2366"/>
            <a:chExt cx="3179" cy="658"/>
          </a:xfrm>
        </p:grpSpPr>
        <p:sp>
          <p:nvSpPr>
            <p:cNvPr id="41988" name="Rectangle 37">
              <a:extLst>
                <a:ext uri="{FF2B5EF4-FFF2-40B4-BE49-F238E27FC236}">
                  <a16:creationId xmlns:a16="http://schemas.microsoft.com/office/drawing/2014/main" id="{C1787F2F-8D5D-8547-9A95-99667D32064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2373"/>
              <a:ext cx="302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41989" name="Text Box 38">
              <a:extLst>
                <a:ext uri="{FF2B5EF4-FFF2-40B4-BE49-F238E27FC236}">
                  <a16:creationId xmlns:a16="http://schemas.microsoft.com/office/drawing/2014/main" id="{2CB5CAC5-89FA-C64D-9F77-4F7C283BC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049" y="2437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2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41990" name="Text Box 39">
              <a:extLst>
                <a:ext uri="{FF2B5EF4-FFF2-40B4-BE49-F238E27FC236}">
                  <a16:creationId xmlns:a16="http://schemas.microsoft.com/office/drawing/2014/main" id="{BC496D89-EFAE-424C-829C-7CC51F229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32" y="2435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3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41991" name="Text Box 40">
              <a:extLst>
                <a:ext uri="{FF2B5EF4-FFF2-40B4-BE49-F238E27FC236}">
                  <a16:creationId xmlns:a16="http://schemas.microsoft.com/office/drawing/2014/main" id="{3D6D2435-23D2-E94E-81DE-55F238694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495" y="2435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5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41992" name="Line 43">
              <a:extLst>
                <a:ext uri="{FF2B5EF4-FFF2-40B4-BE49-F238E27FC236}">
                  <a16:creationId xmlns:a16="http://schemas.microsoft.com/office/drawing/2014/main" id="{B76DCA47-86EF-3745-9EE1-8FAC8E56C1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4" y="237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993" name="Text Box 48">
              <a:extLst>
                <a:ext uri="{FF2B5EF4-FFF2-40B4-BE49-F238E27FC236}">
                  <a16:creationId xmlns:a16="http://schemas.microsoft.com/office/drawing/2014/main" id="{EBEFE136-D6B3-B34F-9CC5-F63C2ADE6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242" y="2841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</a:t>
              </a:r>
            </a:p>
          </p:txBody>
        </p:sp>
        <p:sp>
          <p:nvSpPr>
            <p:cNvPr id="41994" name="Text Box 49">
              <a:extLst>
                <a:ext uri="{FF2B5EF4-FFF2-40B4-BE49-F238E27FC236}">
                  <a16:creationId xmlns:a16="http://schemas.microsoft.com/office/drawing/2014/main" id="{6DF17420-633E-EB41-B634-1BD89E79A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577" y="2842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18</a:t>
              </a:r>
            </a:p>
          </p:txBody>
        </p:sp>
        <p:sp>
          <p:nvSpPr>
            <p:cNvPr id="41995" name="Text Box 50">
              <a:extLst>
                <a:ext uri="{FF2B5EF4-FFF2-40B4-BE49-F238E27FC236}">
                  <a16:creationId xmlns:a16="http://schemas.microsoft.com/office/drawing/2014/main" id="{CBE89EEA-6220-4A45-B907-43596606A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99" y="2839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0</a:t>
              </a:r>
            </a:p>
          </p:txBody>
        </p:sp>
        <p:sp>
          <p:nvSpPr>
            <p:cNvPr id="41996" name="Line 52">
              <a:extLst>
                <a:ext uri="{FF2B5EF4-FFF2-40B4-BE49-F238E27FC236}">
                  <a16:creationId xmlns:a16="http://schemas.microsoft.com/office/drawing/2014/main" id="{AB400519-B8F8-404C-8CB6-F625D2125E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3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997" name="Text Box 64">
              <a:extLst>
                <a:ext uri="{FF2B5EF4-FFF2-40B4-BE49-F238E27FC236}">
                  <a16:creationId xmlns:a16="http://schemas.microsoft.com/office/drawing/2014/main" id="{BAD1177D-CDA8-0F46-BB22-7852964BF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086" y="2841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16</a:t>
              </a:r>
            </a:p>
          </p:txBody>
        </p:sp>
        <p:sp>
          <p:nvSpPr>
            <p:cNvPr id="41998" name="Line 69">
              <a:extLst>
                <a:ext uri="{FF2B5EF4-FFF2-40B4-BE49-F238E27FC236}">
                  <a16:creationId xmlns:a16="http://schemas.microsoft.com/office/drawing/2014/main" id="{166CE86E-E885-8B44-91FE-2D050DC1DD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999" name="Text Box 70">
              <a:extLst>
                <a:ext uri="{FF2B5EF4-FFF2-40B4-BE49-F238E27FC236}">
                  <a16:creationId xmlns:a16="http://schemas.microsoft.com/office/drawing/2014/main" id="{01B10161-40EC-2D44-8300-3E248464E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719" y="2435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4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  <p:sp>
          <p:nvSpPr>
            <p:cNvPr id="42000" name="Text Box 73">
              <a:extLst>
                <a:ext uri="{FF2B5EF4-FFF2-40B4-BE49-F238E27FC236}">
                  <a16:creationId xmlns:a16="http://schemas.microsoft.com/office/drawing/2014/main" id="{8FD4610D-E89B-6342-BCF2-B7C1C58E9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887" y="2842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19</a:t>
              </a:r>
            </a:p>
          </p:txBody>
        </p:sp>
        <p:sp>
          <p:nvSpPr>
            <p:cNvPr id="42001" name="Line 43">
              <a:extLst>
                <a:ext uri="{FF2B5EF4-FFF2-40B4-BE49-F238E27FC236}">
                  <a16:creationId xmlns:a16="http://schemas.microsoft.com/office/drawing/2014/main" id="{0E2215F0-2AAC-E442-B462-471361B71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2002" name="Text Box 64">
              <a:extLst>
                <a:ext uri="{FF2B5EF4-FFF2-40B4-BE49-F238E27FC236}">
                  <a16:creationId xmlns:a16="http://schemas.microsoft.com/office/drawing/2014/main" id="{8C3F9221-2FB1-364E-B1FB-861870969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859" y="2839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6</a:t>
              </a:r>
            </a:p>
          </p:txBody>
        </p:sp>
        <p:sp>
          <p:nvSpPr>
            <p:cNvPr id="42003" name="Text Box 39">
              <a:extLst>
                <a:ext uri="{FF2B5EF4-FFF2-40B4-BE49-F238E27FC236}">
                  <a16:creationId xmlns:a16="http://schemas.microsoft.com/office/drawing/2014/main" id="{9F544E68-0750-D442-ABC2-777170C48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566" y="2434"/>
              <a:ext cx="18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P </a:t>
              </a:r>
              <a:r xmlns:a="http://schemas.openxmlformats.org/drawingml/2006/main">
                <a:rPr lang="pt" altLang="pt-BR" sz="1900" baseline="-25000">
                  <a:latin typeface="Helvetica" pitchFamily="2" charset="0"/>
                </a:rPr>
                <a:t>1</a:t>
              </a:r>
              <a:endParaRPr xmlns:a="http://schemas.openxmlformats.org/drawingml/2006/main" lang="en-US" altLang="pt-BR" sz="1900">
                <a:latin typeface="Helvetica" pitchFamily="2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0F4A8555-3BF2-EB4B-8E81-9B897FE8A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Round Robin (RR)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97AF0E8-1BA9-4D45-98F9-9B19590F8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862138"/>
            <a:ext cx="11553825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processo recebe uma pequena unidade de tempo de CPU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quântico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), geralmente de 10 a 100 milissegundos. Após esse tempo, o processo é interrompido e adicionado ao final da fila de processos prontos.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houver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processos na fila de prontos e o quantum de tempo for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cada processo recebe 1/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 tempo de CPU em blocos de no máximo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unidades de tempo de uma só vez. Nenhum processo espera mais do que (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-1)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unidades de tempo.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temporizador interrompe cada quantum para agendar o próximo processo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grande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FIFO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pequeno 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deve ser grande em relação à troca de contexto, caso contrário, a sobrecarga será muito alta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43FF0145-66E5-7C4C-876C-91514C381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25400"/>
            <a:ext cx="12082463" cy="112553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RR com Quantum de Tempo = 4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A1ADEC1A-4879-E14B-B653-1C8EA4BC2C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2014538"/>
            <a:ext cx="11026775" cy="597852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Processo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u="sng">
                <a:ea typeface="ＭＳ Ｐゴシック" panose="020B0600070205080204" pitchFamily="34" charset="-128"/>
              </a:rPr>
              <a:t>Tempo de explosão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24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gráfico de Gantt é: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Normalmente, maior tempo de resposta médio do que o SJF, mas melhor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resposta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 deve ser grande em comparação ao tempo de troca de contexto</a:t>
            </a:r>
          </a:p>
          <a:p>
            <a:pPr xmlns:a="http://schemas.openxmlformats.org/drawingml/2006/main">
              <a:lnSpc>
                <a:spcPct val="90000"/>
              </a:lnSpc>
              <a:tabLst>
                <a:tab pos="3171825" algn="ctr"/>
                <a:tab pos="57070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 geralmente 10ms a 100ms, troca de contexto &lt; 10 usec</a:t>
            </a:r>
          </a:p>
        </p:txBody>
      </p:sp>
      <p:grpSp>
        <p:nvGrpSpPr>
          <p:cNvPr id="46083" name="Group 27">
            <a:extLst>
              <a:ext uri="{FF2B5EF4-FFF2-40B4-BE49-F238E27FC236}">
                <a16:creationId xmlns:a16="http://schemas.microsoft.com/office/drawing/2014/main" id="{58580AF6-0A20-6345-94CA-6A3C3CF7F251}"/>
              </a:ext>
            </a:extLst>
          </p:cNvPr>
          <p:cNvGrpSpPr>
            <a:grpSpLocks/>
          </p:cNvGrpSpPr>
          <p:nvPr/>
        </p:nvGrpSpPr>
        <p:grpSpPr bwMode="auto">
          <a:xfrm>
            <a:off x="2262188" y="4298950"/>
            <a:ext cx="7040562" cy="1266825"/>
            <a:chOff x="1086" y="2640"/>
            <a:chExt cx="2956" cy="598"/>
          </a:xfrm>
        </p:grpSpPr>
        <p:grpSp>
          <p:nvGrpSpPr>
            <p:cNvPr id="46084" name="Group 14">
              <a:extLst>
                <a:ext uri="{FF2B5EF4-FFF2-40B4-BE49-F238E27FC236}">
                  <a16:creationId xmlns:a16="http://schemas.microsoft.com/office/drawing/2014/main" id="{A9A7C26E-9263-AA46-9910-65F18A3DC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640"/>
              <a:ext cx="2842" cy="384"/>
              <a:chOff x="1152" y="2736"/>
              <a:chExt cx="2304" cy="288"/>
            </a:xfrm>
          </p:grpSpPr>
          <p:sp>
            <p:nvSpPr>
              <p:cNvPr id="46094" name="Rectangle 4">
                <a:extLst>
                  <a:ext uri="{FF2B5EF4-FFF2-40B4-BE49-F238E27FC236}">
                    <a16:creationId xmlns:a16="http://schemas.microsoft.com/office/drawing/2014/main" id="{4D35E480-7006-7E4E-BCEA-A406A04C0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1</a:t>
                </a:r>
                <a:endParaRPr xmlns:a="http://schemas.openxmlformats.org/drawingml/2006/main" lang="en-US" altLang="pt-BR" sz="1800">
                  <a:latin typeface="Helvetica" pitchFamily="2" charset="0"/>
                </a:endParaRPr>
              </a:p>
            </p:txBody>
          </p:sp>
          <p:sp>
            <p:nvSpPr>
              <p:cNvPr id="46095" name="Rectangle 5">
                <a:extLst>
                  <a:ext uri="{FF2B5EF4-FFF2-40B4-BE49-F238E27FC236}">
                    <a16:creationId xmlns:a16="http://schemas.microsoft.com/office/drawing/2014/main" id="{02DC6B36-2D71-5A41-8AD8-7A5CFFEAA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46096" name="Rectangle 6">
                <a:extLst>
                  <a:ext uri="{FF2B5EF4-FFF2-40B4-BE49-F238E27FC236}">
                    <a16:creationId xmlns:a16="http://schemas.microsoft.com/office/drawing/2014/main" id="{810EC8C3-6243-1841-8A2C-74BB0D2CA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46097" name="Rectangle 7">
                <a:extLst>
                  <a:ext uri="{FF2B5EF4-FFF2-40B4-BE49-F238E27FC236}">
                    <a16:creationId xmlns:a16="http://schemas.microsoft.com/office/drawing/2014/main" id="{AD533812-461A-4544-BCDA-2A25E9BD6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46098" name="Rectangle 8">
                <a:extLst>
                  <a:ext uri="{FF2B5EF4-FFF2-40B4-BE49-F238E27FC236}">
                    <a16:creationId xmlns:a16="http://schemas.microsoft.com/office/drawing/2014/main" id="{AD89BE32-F9A8-9642-A632-02A233B3C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46099" name="Rectangle 9">
                <a:extLst>
                  <a:ext uri="{FF2B5EF4-FFF2-40B4-BE49-F238E27FC236}">
                    <a16:creationId xmlns:a16="http://schemas.microsoft.com/office/drawing/2014/main" id="{5C70D19A-79E2-F741-A878-F0228F545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46100" name="Rectangle 10">
                <a:extLst>
                  <a:ext uri="{FF2B5EF4-FFF2-40B4-BE49-F238E27FC236}">
                    <a16:creationId xmlns:a16="http://schemas.microsoft.com/office/drawing/2014/main" id="{6BDAFC02-0E99-724A-B09F-74A63FC2C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46101" name="Rectangle 11">
                <a:extLst>
                  <a:ext uri="{FF2B5EF4-FFF2-40B4-BE49-F238E27FC236}">
                    <a16:creationId xmlns:a16="http://schemas.microsoft.com/office/drawing/2014/main" id="{19DB25A6-428D-9B4E-9991-790CB2B45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xmlns:a="http://schemas.openxmlformats.org/drawingml/2006/main" algn="ctr"/>
                <a:r xmlns:a="http://schemas.openxmlformats.org/drawingml/2006/main">
                  <a:rPr lang="pt" altLang="pt-BR" sz="1800">
                    <a:latin typeface="Helvetica" pitchFamily="2" charset="0"/>
                  </a:rPr>
                  <a:t>P </a:t>
                </a:r>
                <a:r xmlns:a="http://schemas.openxmlformats.org/drawingml/2006/main">
                  <a:rPr lang="pt" altLang="pt-BR" sz="1800" baseline="-25000">
                    <a:latin typeface="Helvetica" pitchFamily="2" charset="0"/>
                  </a:rPr>
                  <a:t>1</a:t>
                </a:r>
              </a:p>
            </p:txBody>
          </p:sp>
        </p:grpSp>
        <p:sp>
          <p:nvSpPr>
            <p:cNvPr id="46085" name="Text Box 15">
              <a:extLst>
                <a:ext uri="{FF2B5EF4-FFF2-40B4-BE49-F238E27FC236}">
                  <a16:creationId xmlns:a16="http://schemas.microsoft.com/office/drawing/2014/main" id="{992FC9E9-B818-E74D-A791-9E3BA257F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" y="3048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0</a:t>
              </a:r>
            </a:p>
          </p:txBody>
        </p:sp>
        <p:sp>
          <p:nvSpPr>
            <p:cNvPr id="46086" name="Text Box 16">
              <a:extLst>
                <a:ext uri="{FF2B5EF4-FFF2-40B4-BE49-F238E27FC236}">
                  <a16:creationId xmlns:a16="http://schemas.microsoft.com/office/drawing/2014/main" id="{494331EB-11B1-CC46-97DC-5A852FA6F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3054"/>
              <a:ext cx="19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4</a:t>
              </a:r>
            </a:p>
          </p:txBody>
        </p:sp>
        <p:sp>
          <p:nvSpPr>
            <p:cNvPr id="46087" name="Text Box 17">
              <a:extLst>
                <a:ext uri="{FF2B5EF4-FFF2-40B4-BE49-F238E27FC236}">
                  <a16:creationId xmlns:a16="http://schemas.microsoft.com/office/drawing/2014/main" id="{76F5F82F-0DAD-1140-ACF7-175EC81B1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3055"/>
              <a:ext cx="13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7</a:t>
              </a:r>
            </a:p>
          </p:txBody>
        </p:sp>
        <p:sp>
          <p:nvSpPr>
            <p:cNvPr id="46088" name="Text Box 18">
              <a:extLst>
                <a:ext uri="{FF2B5EF4-FFF2-40B4-BE49-F238E27FC236}">
                  <a16:creationId xmlns:a16="http://schemas.microsoft.com/office/drawing/2014/main" id="{D0A0F748-614D-CC47-8D4B-EE0D37601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1" y="304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10</a:t>
              </a:r>
            </a:p>
          </p:txBody>
        </p:sp>
        <p:sp>
          <p:nvSpPr>
            <p:cNvPr id="46089" name="Text Box 19">
              <a:extLst>
                <a:ext uri="{FF2B5EF4-FFF2-40B4-BE49-F238E27FC236}">
                  <a16:creationId xmlns:a16="http://schemas.microsoft.com/office/drawing/2014/main" id="{E716FE88-F3A1-184C-821C-108BC5863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9" y="304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14</a:t>
              </a:r>
            </a:p>
          </p:txBody>
        </p:sp>
        <p:sp>
          <p:nvSpPr>
            <p:cNvPr id="46090" name="Text Box 20">
              <a:extLst>
                <a:ext uri="{FF2B5EF4-FFF2-40B4-BE49-F238E27FC236}">
                  <a16:creationId xmlns:a16="http://schemas.microsoft.com/office/drawing/2014/main" id="{FA875455-0616-B648-A546-8DC9BDEF4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304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18</a:t>
              </a:r>
            </a:p>
          </p:txBody>
        </p:sp>
        <p:sp>
          <p:nvSpPr>
            <p:cNvPr id="46091" name="Text Box 21">
              <a:extLst>
                <a:ext uri="{FF2B5EF4-FFF2-40B4-BE49-F238E27FC236}">
                  <a16:creationId xmlns:a16="http://schemas.microsoft.com/office/drawing/2014/main" id="{0D6F4E62-A685-794A-B51A-657BE8B12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1" y="304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22</a:t>
              </a:r>
            </a:p>
          </p:txBody>
        </p:sp>
        <p:sp>
          <p:nvSpPr>
            <p:cNvPr id="46092" name="Text Box 22">
              <a:extLst>
                <a:ext uri="{FF2B5EF4-FFF2-40B4-BE49-F238E27FC236}">
                  <a16:creationId xmlns:a16="http://schemas.microsoft.com/office/drawing/2014/main" id="{F8D1CF60-6F11-B74C-8F0F-C403D043F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304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26</a:t>
              </a:r>
            </a:p>
          </p:txBody>
        </p:sp>
        <p:sp>
          <p:nvSpPr>
            <p:cNvPr id="46093" name="Text Box 24">
              <a:extLst>
                <a:ext uri="{FF2B5EF4-FFF2-40B4-BE49-F238E27FC236}">
                  <a16:creationId xmlns:a16="http://schemas.microsoft.com/office/drawing/2014/main" id="{6BDB92A5-3FBD-7B44-8463-2CD881649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" y="3049"/>
              <a:ext cx="19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900">
                  <a:latin typeface="Helvetica" pitchFamily="2" charset="0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6F1AD260-2F92-1145-8DAE-800C4182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8288" y="514350"/>
            <a:ext cx="11744325" cy="70008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400">
                <a:ea typeface="ＭＳ Ｐゴシック" panose="020B0600070205080204" pitchFamily="34" charset="-128"/>
              </a:rPr>
              <a:t>Tempo Quântico e Tempo de Troca de Contexto</a:t>
            </a:r>
          </a:p>
        </p:txBody>
      </p:sp>
      <p:pic>
        <p:nvPicPr>
          <p:cNvPr id="48130" name="Picture 7">
            <a:extLst>
              <a:ext uri="{FF2B5EF4-FFF2-40B4-BE49-F238E27FC236}">
                <a16:creationId xmlns:a16="http://schemas.microsoft.com/office/drawing/2014/main" id="{3D58CBB1-DBD9-2D4D-A6C6-C4E1397B8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2476500"/>
            <a:ext cx="105981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7A6FC962-59E4-DB43-A783-14B363224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9938" y="636588"/>
            <a:ext cx="12803187" cy="6096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3700">
                <a:ea typeface="ＭＳ Ｐゴシック" panose="020B0600070205080204" pitchFamily="34" charset="-128"/>
              </a:rPr>
              <a:t>O tempo de resposta varia com </a:t>
            </a:r>
            <a:br xmlns:a="http://schemas.openxmlformats.org/drawingml/2006/main">
              <a:rPr lang="en-US" altLang="pt-BR" sz="37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3700">
                <a:ea typeface="ＭＳ Ｐゴシック" panose="020B0600070205080204" pitchFamily="34" charset="-128"/>
              </a:rPr>
              <a:t>o quantum de tempo</a:t>
            </a:r>
          </a:p>
        </p:txBody>
      </p:sp>
      <p:pic>
        <p:nvPicPr>
          <p:cNvPr id="50178" name="Picture 7">
            <a:extLst>
              <a:ext uri="{FF2B5EF4-FFF2-40B4-BE49-F238E27FC236}">
                <a16:creationId xmlns:a16="http://schemas.microsoft.com/office/drawing/2014/main" id="{0551614E-9B12-134E-9260-A7AA49130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75" y="1839913"/>
            <a:ext cx="7507288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TextBox 3">
            <a:extLst>
              <a:ext uri="{FF2B5EF4-FFF2-40B4-BE49-F238E27FC236}">
                <a16:creationId xmlns:a16="http://schemas.microsoft.com/office/drawing/2014/main" id="{984ECDBD-CF30-5840-A2D8-DCE285FC0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75" y="4992688"/>
            <a:ext cx="3470275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595" tIns="65298" rIns="130595" bIns="6529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1900"/>
              <a:t>80% dos picos de CPU devem ser menores que q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00D9B326-5AB7-1442-901B-983CC6531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0500" y="407988"/>
            <a:ext cx="115697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Fila multinível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824D954A-6EB3-954E-A418-8F211B674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615738" cy="69611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fila de prontos é particionada em filas separadas, por exemplo: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primeiro plano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(interativo)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fundo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(lote)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Processar permanentemente em uma determinada fila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fila tem seu próprio algoritmo de agendamento: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primeiro plano – RR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antecedentes – FCFS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agendamento deve ser feito entre as filas: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prioridade fixa; (ou seja, atender todos em primeiro plano e depois em segundo plano). Possibilidade de inanição.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Fatia de tempo – cada fila recebe uma certa quantidade de tempo de CPU que pode ser agendada entre seus processos; ou seja, 80% para primeiro plano no RR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20% para histórico em FCFS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BF70624E-707C-B841-92C6-57667C31F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6713" y="369888"/>
            <a:ext cx="113934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filas multinível</a:t>
            </a:r>
          </a:p>
        </p:txBody>
      </p:sp>
      <p:pic>
        <p:nvPicPr>
          <p:cNvPr id="54274" name="Picture 4" descr="5">
            <a:extLst>
              <a:ext uri="{FF2B5EF4-FFF2-40B4-BE49-F238E27FC236}">
                <a16:creationId xmlns:a16="http://schemas.microsoft.com/office/drawing/2014/main" id="{3B707BBA-F025-164A-B6A0-FB66895F1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1566863"/>
            <a:ext cx="10691812" cy="628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9997BCBC-E322-F245-B369-32B144785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69888"/>
            <a:ext cx="120396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Fila de feedback multinível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BF8F17A6-D97B-634E-9C1C-D63C31425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57388"/>
            <a:ext cx="11026775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processo pode se mover entre as várias filas; o envelhecimento pode ser implementado dessa maneira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Agendador de fila de feedback multinível definido pelos seguintes parâmetros: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número de filas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algoritmos de escalonamento para cada fila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 usado para determinar quando atualizar um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 usado para determinar quando rebaixar um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 usado para determinar em qual fila um processo entrará quando precisar de serviço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CAA031F9-CA4E-464D-9D80-0A7E8D52D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25" y="0"/>
            <a:ext cx="11658600" cy="112553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fila de feedback multinível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175094C-7638-B141-9D6C-0D8E90CEF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6099175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Três filas: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RR com quantum de tempo de 8 milissegundos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Tempo RR quântico 16 milissegundos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FCFS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novo trabalho entra na fila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0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 é servido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FCFS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ganha CPU, o trabalho recebe 8 milissegundos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não terminar em 8 milissegundos, o trabalho é movido para a fila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trabalho é novamente atendido pelo FCFS e recebe 16 milissegundos adicionais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ainda assim não for concluído, ele será interrompido e movido para a fila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58371" name="Picture 4" descr="5">
            <a:extLst>
              <a:ext uri="{FF2B5EF4-FFF2-40B4-BE49-F238E27FC236}">
                <a16:creationId xmlns:a16="http://schemas.microsoft.com/office/drawing/2014/main" id="{0DF8F644-10D5-2449-83F7-1E534482A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2878138"/>
            <a:ext cx="5794375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0901668E-97F7-564D-B5D3-44455B87C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threads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D6723291-2E5B-2847-9C7D-4C9726A46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2103438"/>
            <a:ext cx="11491913" cy="472916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Distinção entre threads de nível de usuário e de nível de kernel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threads são suportados, threads são agendados, não processos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Modelos muitos-para-um e muitos-para-muitos, biblioteca de threads agenda threads de nível de usuário para execução em LWP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Conhecido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escopo de contenção de processo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PCS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),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vez que a competição de agendamento está dentro do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Normalmente feito por meio de prioridade definida pelo programador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thread do kernel agendado para a CPU disponível é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escopo de contenção do sistema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SCS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competição entre todos os threads no sistema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F1557216-CE85-5845-9398-FA218BF61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5213" y="369888"/>
            <a:ext cx="119649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Pthread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61EB8C27-08DA-2F4A-88FD-7ED411A25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2103438"/>
            <a:ext cx="11491913" cy="472916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API permite especificar PCS ou SCS durante a criação do thread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PTHREAD_SCOPE_PROCESS agenda threads usando o agendamento PCS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PTHREAD_SCOPE_SYSTEM agenda threads usando o agendamento SCS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ser limitado pelo sistema operacional – Linux e Mac OS X permitem apenas PTHREAD_SCOPE_SYSTEM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75964636-F6F9-C74D-BC49-DF58F5856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API de agendamento Pthread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FDA40B-08F0-604D-AE64-2230ABB53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8225" y="1657350"/>
            <a:ext cx="10226675" cy="6559550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#incluir &lt;pthread.h&gt;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#incluir &lt;stdio.h&gt;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#define NÚMERO DE THREADS 5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int main(int argc, char *argv[]) {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int i, escopo;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t tid[NUM THREADS];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attr t attr;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obter os atributos padrão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attr init(&amp;attr);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primeiro pergunte sobre o escopo atual */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if (pthread attr getscope(&amp;attr, &amp;scope) != 0)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fprintf(stderr, "Não foi possível obter o escopo de agendamento\n");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outro {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se (escopo == PTHREAD ESCOPO PROCESSO)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printf("PROCESSO DE ESCOPO PTHREAD");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senão se (escopo == SISTEMA DE ESCOPO PTHREAD)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printf("SISTEMA DE ESCOPO PTHREAD");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else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fprintf(stderr, "Valor de escopo ilegal.\n");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1852BFAC-3D95-6540-A382-41485E4FA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7313" y="369888"/>
            <a:ext cx="116728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API de agendamento Pthread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F16584B9-2CCB-0A4C-B5DF-8CCC1729B1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8913" y="1590675"/>
            <a:ext cx="10983912" cy="6354763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define o algoritmo de agendamento para PCS ou SCS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attr setscope(&amp;attr, SISTEMA DE ESCOPO PTHREAD);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cria os threads */ </a:t>
            </a:r>
            <a:br xmlns:a="http://schemas.openxmlformats.org/drawingml/2006/main">
              <a:rPr lang="en-US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para (i = 0; i &lt; NUM THREADS; i++)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create(&amp;tid[i],&amp;attr,runner,NULL);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agora junte-se a cada thread */ </a:t>
            </a:r>
            <a:br xmlns:a="http://schemas.openxmlformats.org/drawingml/2006/main">
              <a:rPr lang="en-US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for (i = 0; i &lt; NUM THREADS; i++)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join(tid[i], NULL);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Cada thread iniciará o controle nesta função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vazio *corredor(void *param) </a:t>
            </a:r>
            <a:br xmlns:a="http://schemas.openxmlformats.org/drawingml/2006/main">
              <a:rPr lang="en-US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{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faça algum trabalho...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saída(0);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02FB43D-C32A-7343-AA2D-CBAE22836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múltiplos processadores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7F48A5EC-ABC1-924D-B94A-011BBB665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407775" cy="641191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agendamento da CPU é mais complexo quando várias CPUs estão disponíveis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Homogêneo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processadores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dentro de um multiprocessador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Multiprocessamento assimétrico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apenas um processador acessa as estruturas de dados do sistema, aliviando a necessidade de compartilhamento de dados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Multiprocessamento simétrico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SMP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cada processador é autoagendado, todos os processos estão em uma fila comum de processos prontos ou cada um tem sua própria fila privada de processos prontos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Atualmente, o mais comum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Afinidade do processador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o processo tem afinidade com o processador no qual está sendo executado no momento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afinidade suave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afinidade forte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Variações incluindo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conjuntos de processadores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C82A9AF2-D8DD-BA4C-82F3-EDF10AF8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369888"/>
            <a:ext cx="113506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NUMA e CPU</a:t>
            </a:r>
          </a:p>
        </p:txBody>
      </p:sp>
      <p:sp>
        <p:nvSpPr>
          <p:cNvPr id="70658" name="TextBox 3">
            <a:extLst>
              <a:ext uri="{FF2B5EF4-FFF2-40B4-BE49-F238E27FC236}">
                <a16:creationId xmlns:a16="http://schemas.microsoft.com/office/drawing/2014/main" id="{2EDC0B7C-B85C-0642-91DC-E8D0A1597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2288" y="7265988"/>
            <a:ext cx="7115175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595" tIns="65298" rIns="130595" bIns="6529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1900"/>
              <a:t>Observe que os algoritmos de posicionamento de memória também podem considerar a afinidade</a:t>
            </a:r>
          </a:p>
        </p:txBody>
      </p:sp>
      <p:pic>
        <p:nvPicPr>
          <p:cNvPr id="70659" name="Picture 1" descr="6_09.pdf">
            <a:extLst>
              <a:ext uri="{FF2B5EF4-FFF2-40B4-BE49-F238E27FC236}">
                <a16:creationId xmlns:a16="http://schemas.microsoft.com/office/drawing/2014/main" id="{A54D51E7-8E7F-A941-8FB4-13BC79F29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417638"/>
            <a:ext cx="10121900" cy="540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52FF4A5-2A2B-3244-A8A0-047FEA2C0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3600">
                <a:ea typeface="ＭＳ Ｐゴシック" panose="020B0600070205080204" pitchFamily="34" charset="-128"/>
              </a:rPr>
              <a:t>Agendamento de múltiplos processadores – Balanceamento de carga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F4DE85D0-B67E-E146-88B4-C2AF0F2F8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407775" cy="641191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SMP, é necessário manter todas as CPUs carregadas para eficiência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balanceamento de carga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tenta manter a carga de trabalho distribuída uniformemente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Migração push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verificações periódicas de carga em cada processador e, se encontradas, enviam tarefas da CPU sobrecarregada para outras CPUs</a:t>
            </a:r>
          </a:p>
          <a:p>
            <a:endParaRPr lang="en-US" altLang="pt-BR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Migração pull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processadores ociosos puxam tarefas em espera de processadores ocupados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873A9577-6751-F14B-B907-EB01502A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Processadores multicore</a:t>
            </a:r>
          </a:p>
        </p:txBody>
      </p:sp>
      <p:sp>
        <p:nvSpPr>
          <p:cNvPr id="74754" name="Content Placeholder 2">
            <a:extLst>
              <a:ext uri="{FF2B5EF4-FFF2-40B4-BE49-F238E27FC236}">
                <a16:creationId xmlns:a16="http://schemas.microsoft.com/office/drawing/2014/main" id="{3CEEB02C-4933-8C41-B8C5-10C7FCBF7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59986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Tendência recente de colocar vários núcleos de processador no mesmo chip físico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rápido e consome menos energia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threads por núcleo também estão crescendo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Aproveita a paralisação da memória para progredir em outro thread enquanto a recuperação da memória acontece</a:t>
            </a: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8C02CC83-D304-BA45-A3D6-503A5659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463" y="369888"/>
            <a:ext cx="112347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Multicore Multithread</a:t>
            </a:r>
          </a:p>
        </p:txBody>
      </p:sp>
      <p:pic>
        <p:nvPicPr>
          <p:cNvPr id="76802" name="Picture 4" descr="5">
            <a:extLst>
              <a:ext uri="{FF2B5EF4-FFF2-40B4-BE49-F238E27FC236}">
                <a16:creationId xmlns:a16="http://schemas.microsoft.com/office/drawing/2014/main" id="{09EF2532-DC05-0D45-964A-FEC915C9A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868488"/>
            <a:ext cx="101727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3" name="Picture 3">
            <a:extLst>
              <a:ext uri="{FF2B5EF4-FFF2-40B4-BE49-F238E27FC236}">
                <a16:creationId xmlns:a16="http://schemas.microsoft.com/office/drawing/2014/main" id="{3741A0D1-BC34-4C48-9953-0F2F9EA56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4964113"/>
            <a:ext cx="1030922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>
            <a:extLst>
              <a:ext uri="{FF2B5EF4-FFF2-40B4-BE49-F238E27FC236}">
                <a16:creationId xmlns:a16="http://schemas.microsoft.com/office/drawing/2014/main" id="{B0B5F972-D775-3F47-9712-81F8FB54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CPU em tempo real</a:t>
            </a:r>
          </a:p>
        </p:txBody>
      </p:sp>
      <p:sp>
        <p:nvSpPr>
          <p:cNvPr id="78850" name="Content Placeholder 2">
            <a:extLst>
              <a:ext uri="{FF2B5EF4-FFF2-40B4-BE49-F238E27FC236}">
                <a16:creationId xmlns:a16="http://schemas.microsoft.com/office/drawing/2014/main" id="{E8BDB218-88C3-CE44-BD1C-EC9E4AAA9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532923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apresentar desafios óbvios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Sistemas de tempo real suaves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sem garantia de quando o processo crítico em tempo real será agendado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Sistemas de tempo real rígido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a tarefa deve ser atendida dentro do prazo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Dois tipos de latências afetam o desempenho</a:t>
            </a:r>
          </a:p>
          <a:p>
            <a:pPr xmlns:a="http://schemas.openxmlformats.org/drawingml/2006/main" lvl="1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Latência de interrupção – tempo desde a chegada da interrupção até o início da rotina que atende à interrupção</a:t>
            </a:r>
          </a:p>
          <a:p>
            <a:pPr xmlns:a="http://schemas.openxmlformats.org/drawingml/2006/main" lvl="1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Latência de despacho – tempo para agendar para retirar o processo atual da CPU e alternar para outro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</p:txBody>
      </p:sp>
      <p:pic>
        <p:nvPicPr>
          <p:cNvPr id="78851" name="Picture 1" descr="Screen Shot 2012-12-17 at 8.37.21 PM.png">
            <a:extLst>
              <a:ext uri="{FF2B5EF4-FFF2-40B4-BE49-F238E27FC236}">
                <a16:creationId xmlns:a16="http://schemas.microsoft.com/office/drawing/2014/main" id="{58BCCE89-8313-9347-9F77-7E579A749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475" y="1985963"/>
            <a:ext cx="7219950" cy="529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>
            <a:extLst>
              <a:ext uri="{FF2B5EF4-FFF2-40B4-BE49-F238E27FC236}">
                <a16:creationId xmlns:a16="http://schemas.microsoft.com/office/drawing/2014/main" id="{C0628D7F-9539-8445-AC49-1E3CE18C0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CPU em tempo real (cont.)</a:t>
            </a:r>
          </a:p>
        </p:txBody>
      </p:sp>
      <p:sp>
        <p:nvSpPr>
          <p:cNvPr id="80898" name="Content Placeholder 2">
            <a:extLst>
              <a:ext uri="{FF2B5EF4-FFF2-40B4-BE49-F238E27FC236}">
                <a16:creationId xmlns:a16="http://schemas.microsoft.com/office/drawing/2014/main" id="{2D262875-F5D9-D943-8265-C95AAFA93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39512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Fase de conflito da latência de despacho:</a:t>
            </a:r>
          </a:p>
          <a:p>
            <a:pPr xmlns:a="http://schemas.openxmlformats.org/drawingml/2006/main" lvl="1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Preempção de qualquer processo em execução no modo kernel</a:t>
            </a:r>
          </a:p>
          <a:p>
            <a:pPr xmlns:a="http://schemas.openxmlformats.org/drawingml/2006/main" lvl="1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Liberação por processo de baixa prioridade de recursos necessários por processos de alta prioridade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</p:txBody>
      </p:sp>
      <p:pic>
        <p:nvPicPr>
          <p:cNvPr id="80899" name="Picture 3" descr="6_14.pdf">
            <a:extLst>
              <a:ext uri="{FF2B5EF4-FFF2-40B4-BE49-F238E27FC236}">
                <a16:creationId xmlns:a16="http://schemas.microsoft.com/office/drawing/2014/main" id="{78C7DD34-1784-C848-AE6F-D69298F06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0" y="1574800"/>
            <a:ext cx="8416925" cy="621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18D43D24-1DDF-FC44-91FC-05F80020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baseado em prioridades</a:t>
            </a:r>
          </a:p>
        </p:txBody>
      </p:sp>
      <p:sp>
        <p:nvSpPr>
          <p:cNvPr id="82946" name="Content Placeholder 2">
            <a:extLst>
              <a:ext uri="{FF2B5EF4-FFF2-40B4-BE49-F238E27FC236}">
                <a16:creationId xmlns:a16="http://schemas.microsoft.com/office/drawing/2014/main" id="{4A5B6703-6811-D34B-91BD-DE40F8B7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553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agendamento em tempo real, o agendador deve oferecer suporte ao agendamento preventivo baseado em prioridades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só garante tempo real suave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tempo real rígido também deve fornecer capacidade de cumprir prazos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têm novas características: 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periódicos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requerem CPU em intervalos constantes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 tempo de processamento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prazo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d,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período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≤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≤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≤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 taxa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tarefa periódica é 1/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</p:txBody>
      </p:sp>
      <p:pic>
        <p:nvPicPr>
          <p:cNvPr id="82947" name="Picture 1" descr="Screen Shot 2012-12-17 at 8.41.54 PM.png">
            <a:extLst>
              <a:ext uri="{FF2B5EF4-FFF2-40B4-BE49-F238E27FC236}">
                <a16:creationId xmlns:a16="http://schemas.microsoft.com/office/drawing/2014/main" id="{2B7E1ADD-1FA4-1D48-9EDC-B721AC6DD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550" y="4814888"/>
            <a:ext cx="8756650" cy="326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CDE959F5-5B49-D74D-813F-B74B1F8EB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Virtualização e Agendamento</a:t>
            </a:r>
          </a:p>
        </p:txBody>
      </p:sp>
      <p:sp>
        <p:nvSpPr>
          <p:cNvPr id="84994" name="Content Placeholder 2">
            <a:extLst>
              <a:ext uri="{FF2B5EF4-FFF2-40B4-BE49-F238E27FC236}">
                <a16:creationId xmlns:a16="http://schemas.microsoft.com/office/drawing/2014/main" id="{2D15FA04-9271-2C40-8B4D-F8ADC524E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software de virtualização agenda vários convidados em CPU(s)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hóspede fazendo sua própria programação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 saber que não é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dono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das CPUs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resultar em tempo de resposta ruim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afetar os relógios de hora do dia dos hóspedes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desfazer os esforços do algoritmo de agendamento dos hóspedes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2EC37D2E-3706-F847-87DD-02B113D8E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Taxa de agendamento monônico</a:t>
            </a:r>
          </a:p>
        </p:txBody>
      </p:sp>
      <p:sp>
        <p:nvSpPr>
          <p:cNvPr id="86018" name="Rectangle 4">
            <a:extLst>
              <a:ext uri="{FF2B5EF4-FFF2-40B4-BE49-F238E27FC236}">
                <a16:creationId xmlns:a16="http://schemas.microsoft.com/office/drawing/2014/main" id="{7B75DD06-DC7E-C247-94E5-5EC8AA4CF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1963"/>
            <a:ext cx="11028363" cy="597693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prioridade é atribuída com base no inverso do seu período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Períodos mais curtos = maior prioridade;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Períodos mais longos = menor prioridade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recebe uma prioridade maior que 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86019" name="Picture 5">
            <a:extLst>
              <a:ext uri="{FF2B5EF4-FFF2-40B4-BE49-F238E27FC236}">
                <a16:creationId xmlns:a16="http://schemas.microsoft.com/office/drawing/2014/main" id="{D6CC9C4A-01E0-AF42-9120-AE331F7E4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8" y="4878388"/>
            <a:ext cx="10301287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DC5FD2DE-6848-7E40-A9D8-CD6B33869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0150" y="361950"/>
            <a:ext cx="12115800" cy="8128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Prazos perdidos com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agendamento monótono de taxas</a:t>
            </a:r>
          </a:p>
        </p:txBody>
      </p:sp>
      <p:pic>
        <p:nvPicPr>
          <p:cNvPr id="88066" name="Picture 3">
            <a:extLst>
              <a:ext uri="{FF2B5EF4-FFF2-40B4-BE49-F238E27FC236}">
                <a16:creationId xmlns:a16="http://schemas.microsoft.com/office/drawing/2014/main" id="{439CEE09-F470-3C4E-981C-AB25E5059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" t="40077" r="664" b="40047"/>
          <a:stretch>
            <a:fillRect/>
          </a:stretch>
        </p:blipFill>
        <p:spPr bwMode="auto">
          <a:xfrm>
            <a:off x="1209675" y="2889250"/>
            <a:ext cx="11996738" cy="161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083A2B2C-0832-0749-A45E-45DC232DF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9075" y="369888"/>
            <a:ext cx="115411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Prazo inicial para agendamento inicial (EDF)</a:t>
            </a: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BF8BFA69-9AA3-D84F-840C-BC5B52276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1963"/>
            <a:ext cx="11028363" cy="597693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prioridades são atribuídas de acordo com os prazos: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 mais cedo o prazo, maior a prioridade;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 mais tarde for o prazo, menor será a prioridade</a:t>
            </a:r>
          </a:p>
        </p:txBody>
      </p:sp>
      <p:pic>
        <p:nvPicPr>
          <p:cNvPr id="90115" name="Picture 4">
            <a:extLst>
              <a:ext uri="{FF2B5EF4-FFF2-40B4-BE49-F238E27FC236}">
                <a16:creationId xmlns:a16="http://schemas.microsoft.com/office/drawing/2014/main" id="{2C31EB93-3214-384D-BF40-9FB507870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40184" r="711" b="39867"/>
          <a:stretch>
            <a:fillRect/>
          </a:stretch>
        </p:blipFill>
        <p:spPr bwMode="auto">
          <a:xfrm>
            <a:off x="1336675" y="4827588"/>
            <a:ext cx="11241088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797FCFF3-73F4-854A-94F0-FAF04279F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350" y="369888"/>
            <a:ext cx="116268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Programação de Participação Proporcional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301964B9-253A-2940-8EBD-F4C10EC4B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1963"/>
            <a:ext cx="11553825" cy="5976937"/>
          </a:xfrm>
        </p:spPr>
        <p:txBody>
          <a:bodyPr/>
          <a:lstStyle/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são alocadas entre todos os processos no sistema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aplicativo recebe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compartilhamentos onde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&lt; T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Isso garante que cada aplicativo receberá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/T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 tempo total do processador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044230F2-E607-2546-92A9-EA340D806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POSIX em tempo real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D17F8555-D147-844D-BAC1-3909C950FC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1963"/>
            <a:ext cx="11553825" cy="5976937"/>
          </a:xfrm>
        </p:spPr>
        <p:txBody>
          <a:bodyPr/>
          <a:lstStyle/>
          <a:p>
            <a:pPr xmlns:a="http://schemas.openxmlformats.org/drawingml/2006/main" marL="494368" indent="-494368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O padrão POSIX.1b</a:t>
            </a:r>
          </a:p>
          <a:p>
            <a:pPr marL="494368" indent="-494368">
              <a:buFont typeface="Monotype Sorts" charset="0"/>
              <a:buChar char="n"/>
              <a:defRPr/>
            </a:pPr>
            <a:endParaRPr lang="en-US" dirty="0"/>
          </a:p>
          <a:p>
            <a:pPr xmlns:a="http://schemas.openxmlformats.org/drawingml/2006/main" marL="494368" indent="-494368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A API fornece funções para gerenciar threads em tempo real</a:t>
            </a:r>
          </a:p>
          <a:p>
            <a:pPr marL="494368" indent="-494368">
              <a:buFont typeface="Monotype Sorts" charset="0"/>
              <a:buChar char="n"/>
              <a:defRPr/>
            </a:pPr>
            <a:endParaRPr lang="en-US" dirty="0"/>
          </a:p>
          <a:p>
            <a:pPr xmlns:a="http://schemas.openxmlformats.org/drawingml/2006/main" marL="494368" indent="-494368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Define duas classes de agendamento para threads em tempo real:</a:t>
            </a:r>
          </a:p>
          <a:p>
            <a:pPr xmlns:a="http://schemas.openxmlformats.org/drawingml/2006/main" marL="494368" indent="-494368">
              <a:buFont typeface="Monotype Sorts" charset="0"/>
              <a:buNone/>
              <a:defRPr/>
            </a:pPr>
            <a:r xmlns:a="http://schemas.openxmlformats.org/drawingml/2006/main">
              <a:rPr lang="pt" sz="1400" dirty="0"/>
              <a:t> </a:t>
            </a:r>
          </a:p>
          <a:p>
            <a:pPr xmlns:a="http://schemas.openxmlformats.org/drawingml/2006/main" marL="494368" indent="-494368">
              <a:buFont typeface="+mj-lt"/>
              <a:buAutoNum type="arabicPeriod"/>
              <a:defRPr/>
            </a:pPr>
            <a:r xmlns:a="http://schemas.openxmlformats.org/drawingml/2006/main">
              <a:rPr lang="pt" dirty="0"/>
              <a:t>SCHED_FIFO - as threads são escalonadas usando uma estratégia FCFS com uma fila FIFO. Não há divisão de tempo para threads de mesma prioridade.</a:t>
            </a:r>
          </a:p>
          <a:p>
            <a:pPr xmlns:a="http://schemas.openxmlformats.org/drawingml/2006/main" marL="494368" indent="-494368">
              <a:buFont typeface="+mj-lt"/>
              <a:buAutoNum type="arabicPeriod"/>
              <a:defRPr/>
            </a:pPr>
            <a:r xmlns:a="http://schemas.openxmlformats.org/drawingml/2006/main">
              <a:rPr lang="pt" dirty="0"/>
              <a:t>SCHED_RR - semelhante a SCHED_FIFO, exceto que o fatiamento de tempo ocorre para threads de prioridade igual</a:t>
            </a:r>
          </a:p>
          <a:p>
            <a:pPr marL="494368" indent="-494368">
              <a:buFont typeface="+mj-lt"/>
              <a:buAutoNum type="arabicPeriod"/>
              <a:defRPr/>
            </a:pPr>
            <a:endParaRPr lang="en-US" dirty="0"/>
          </a:p>
          <a:p>
            <a:pPr xmlns:a="http://schemas.openxmlformats.org/drawingml/2006/main" marL="488853" indent="-488853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Define duas funções para obter e definir a política de agendamento:</a:t>
            </a:r>
          </a:p>
          <a:p>
            <a:pPr marL="342900" indent="-342900">
              <a:buFont typeface="+mj-lt"/>
              <a:buAutoNum type="arabicPeriod"/>
              <a:defRPr/>
            </a:pPr>
            <a:endParaRPr lang="en-US" dirty="0"/>
          </a:p>
          <a:p>
            <a:pPr xmlns:a="http://schemas.openxmlformats.org/drawingml/2006/main" marL="488853" indent="-488853" fontAlgn="auto">
              <a:buFont typeface="+mj-lt"/>
              <a:buAutoNum type="arabicPeriod"/>
              <a:defRPr/>
            </a:pP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thread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atributo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 política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getsched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(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pthread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attr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t *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attr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,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int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*política)</a:t>
            </a:r>
          </a:p>
          <a:p>
            <a:pPr xmlns:a="http://schemas.openxmlformats.org/drawingml/2006/main" marL="488853" indent="-488853" fontAlgn="auto">
              <a:buFont typeface="+mj-lt"/>
              <a:buAutoNum type="arabicPeriod"/>
              <a:defRPr/>
            </a:pP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thread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atributo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 política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setsched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(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pthread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attr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t *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attr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, </a:t>
            </a:r>
            <a:r xmlns:a="http://schemas.openxmlformats.org/drawingml/2006/main">
              <a:rPr lang="pt" b="1" dirty="0" err="1">
                <a:latin typeface="Courier New"/>
                <a:cs typeface="Courier New"/>
              </a:rPr>
              <a:t>int </a:t>
            </a:r>
            <a:r xmlns:a="http://schemas.openxmlformats.org/drawingml/2006/main">
              <a:rPr lang="pt" b="1" dirty="0">
                <a:latin typeface="Courier New"/>
                <a:cs typeface="Courier New"/>
              </a:rPr>
              <a:t>política)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C48BBE5E-1D27-BD4C-8E46-790BA78B2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API de agendamento em tempo real POSIX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E735D281-AA80-754A-B365-E97D3ECCC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1963"/>
            <a:ext cx="11553825" cy="5976937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#incluir &lt;pthread.h&gt;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#incluir &lt;stdio.h&gt;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#define NÚMERO DE THREADS 5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int main(int argc, char *argv[])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{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int i, política;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t tid[NÚMERO DE THREADS];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attr t attr;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obter os atributos padrão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attr init(&amp;attr);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obtém a política de agendamento atual */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if (pthread attr getschedpolicy(&amp;attr, &amp;policy) != 0)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fprintf(stderr, "Não foi possível obter a política.\n");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outro {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se (política == AGENDAR OUTRO) printf("AGENDAR OUTRO\n");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senão se (política == SCHED RR) printf("SCHED RR\n");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caso contrário, se (política == FIFO AGENDADO) printf("FIFO AGENDADO\n");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20AE8A56-05F6-5A4D-8286-4E12BC76F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763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400">
                <a:ea typeface="ＭＳ Ｐゴシック" panose="020B0600070205080204" pitchFamily="34" charset="-128"/>
              </a:rPr>
              <a:t>API de agendamento em tempo real POSIX (cont.)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A100D25A-78FE-0548-B255-0D95FECAD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1963"/>
            <a:ext cx="11553825" cy="5976937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define a política de agendamento - FIFO, RR ou OUTRO */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if (pthread attr setschedpolicy(&amp;attr, SCHED FIFO) != 0)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fprintf(stderr, "Não é possível definir a política.\n");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cria os threads */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para (i = 0; i &lt; NUM THREADS; i++)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create(&amp;tid[i],&amp;attr,runner,NULL);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agora junte-se a cada thread */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for (i = 0; i &lt; NUM THREADS; i++)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join(tid[i], NULL);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Cada thread iniciará o controle nesta função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vazio *corredor(void *param) </a:t>
            </a:r>
            <a:br xmlns:a="http://schemas.openxmlformats.org/drawingml/2006/main">
              <a:rPr lang="en-US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{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faça algum trabalho...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saída(0);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C9BA49D0-E472-E040-B106-E3ED76849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8150" y="369888"/>
            <a:ext cx="113220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operacionais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D26C6CD5-5871-8841-A2EC-0E7309370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3475" y="1479550"/>
            <a:ext cx="10266363" cy="4678363"/>
          </a:xfrm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Linux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janelas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Solaris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3426A04A-AF23-7B46-B662-D5C659598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Linux até a versão 2.5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B8B92DEC-DE3A-F344-8BE6-F7200EE34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026775" cy="597852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Antes da versão 2.5 do kernel, era executada uma variação do algoritmo de agendamento padrão do UNIX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Versão 2.5 movida para ordem constante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(1) tempo de agendamento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Preemptivo, baseado em prioridade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Duas faixas de prioridade: tempo compartilhado e tempo real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em tempo real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0 a 99 e valor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agradável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100 a 140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Mapear em prioridade global com valores numericamente mais baixos indicando prioridade mais alta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Maior prioridade obtém q maior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Tarefa executável enquanto houver tempo restante no intervalo de tempo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ativo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não houver tempo restante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expirado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), não poderá ser executado até que todas as outras tarefas usem suas fatias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Todas as tarefas executáveis são rastreadas na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de dados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fila de execução por CPU</a:t>
            </a:r>
          </a:p>
          <a:p>
            <a:pPr xmlns:a="http://schemas.openxmlformats.org/drawingml/2006/main" lvl="2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Duas matrizes de prioridade (ativa, expirada)</a:t>
            </a:r>
          </a:p>
          <a:p>
            <a:pPr xmlns:a="http://schemas.openxmlformats.org/drawingml/2006/main" lvl="2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Tarefas indexadas por prioridade</a:t>
            </a:r>
          </a:p>
          <a:p>
            <a:pPr xmlns:a="http://schemas.openxmlformats.org/drawingml/2006/main" lvl="2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não mais ativo, os arrays são trocados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Funcionou bem, mas tempos de resposta ruins para processos interativos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789EF23D-24E8-C24A-A4BB-C3F7EC5C6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Linux na versão 2.6.23 +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C278DC47-EFE5-6F46-B3F4-728716AEE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026775" cy="597852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Agendador Completamente Justo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(CFS)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Agendamento de aulas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um tem prioridade específica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agendador escolhe a tarefa de maior prioridade na classe de agendamento mais alta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vez de quântico baseado em alocações de tempo fixas, baseado na proporção de tempo de CPU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aulas de agendamento incluídas, outras podem ser adicionadas</a:t>
            </a:r>
          </a:p>
          <a:p>
            <a:pPr xmlns:a="http://schemas.openxmlformats.org/drawingml/2006/main" marL="1566863" lvl="2" indent="-342900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padrão</a:t>
            </a:r>
          </a:p>
          <a:p>
            <a:pPr xmlns:a="http://schemas.openxmlformats.org/drawingml/2006/main" marL="1566863" lvl="2" indent="-342900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tempo real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Quantum calculado com base no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valor agradável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-20 a +19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Menor valor é maior prioridade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Calcula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 latência alvo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intervalo de tempo durante o qual a tarefa deve ser executada pelo menos uma vez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latência do alvo pode aumentar se, por exemplo, o número de tarefas ativas aumentar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planejador CFS mantém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tempo de execução virtual por tarefa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na variável 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vruntime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Associado ao fator de decaimento com base na prioridade da tarefa – menor prioridade significa maior taxa de decaimento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prioridade padrão normal produz tempo de execução virtual = tempo de execução real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decidir a próxima tarefa a ser executada, o planejador escolhe a tarefa com menor tempo de execução virtual</a:t>
            </a:r>
          </a:p>
          <a:p>
            <a:pPr lvl="1"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marL="1566863" lvl="2" indent="-342900"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6214D924-CC06-CF4D-A910-7382B9C21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 do CFS</a:t>
            </a:r>
          </a:p>
        </p:txBody>
      </p:sp>
      <p:pic>
        <p:nvPicPr>
          <p:cNvPr id="106498" name="Picture 4" descr="Screen Shot 2012-12-17 at 9.25.06 PM.png">
            <a:extLst>
              <a:ext uri="{FF2B5EF4-FFF2-40B4-BE49-F238E27FC236}">
                <a16:creationId xmlns:a16="http://schemas.microsoft.com/office/drawing/2014/main" id="{71433923-EE58-CF4B-B910-4F079028A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825" y="1141413"/>
            <a:ext cx="6954838" cy="756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>
            <a:extLst>
              <a:ext uri="{FF2B5EF4-FFF2-40B4-BE49-F238E27FC236}">
                <a16:creationId xmlns:a16="http://schemas.microsoft.com/office/drawing/2014/main" id="{F9CDE1EA-8A5F-994C-909E-D5CB6660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Linux (Cont.)</a:t>
            </a:r>
          </a:p>
        </p:txBody>
      </p:sp>
      <p:sp>
        <p:nvSpPr>
          <p:cNvPr id="108546" name="Content Placeholder 2">
            <a:extLst>
              <a:ext uri="{FF2B5EF4-FFF2-40B4-BE49-F238E27FC236}">
                <a16:creationId xmlns:a16="http://schemas.microsoft.com/office/drawing/2014/main" id="{8065D0B0-8F53-AE4B-8EBE-4A8E63E47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em tempo real de acordo com POSIX.1b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Tarefas em tempo real têm prioridades estáticas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Mapa em tempo real mais normal em esquema de prioridade global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Bom valor de -20 mapas para prioridade global 100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Bom valor de +19 mapas para prioridade 139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108547" name="Picture 1" descr="Screen Shot 2012-12-17 at 9.28.34 PM.png">
            <a:extLst>
              <a:ext uri="{FF2B5EF4-FFF2-40B4-BE49-F238E27FC236}">
                <a16:creationId xmlns:a16="http://schemas.microsoft.com/office/drawing/2014/main" id="{1FC51296-7C7C-1347-AE90-276520BC4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8" y="4783138"/>
            <a:ext cx="100996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le 1">
            <a:extLst>
              <a:ext uri="{FF2B5EF4-FFF2-40B4-BE49-F238E27FC236}">
                <a16:creationId xmlns:a16="http://schemas.microsoft.com/office/drawing/2014/main" id="{D4AF83AC-B170-1A49-9FE0-B2676005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janelas</a:t>
            </a:r>
          </a:p>
        </p:txBody>
      </p:sp>
      <p:sp>
        <p:nvSpPr>
          <p:cNvPr id="109570" name="Content Placeholder 2">
            <a:extLst>
              <a:ext uri="{FF2B5EF4-FFF2-40B4-BE49-F238E27FC236}">
                <a16:creationId xmlns:a16="http://schemas.microsoft.com/office/drawing/2014/main" id="{5B11AC56-B95A-2244-92B9-215D385BC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Windows usa agendamento preventivo baseado em prioridade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thread de maior prioridade é executado em seguida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Expedidor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agendador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thread é executado até que (1) seja bloqueado, (2) use uma fatia de tempo, (3) seja preemptado por um thread de prioridade mais alta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threads em tempo real podem substituir threads em tempo não real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prioridade de 32 níveis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 classe variável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1-15,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 classe em tempo real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16-31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prioridade 0 é o thread de gerenciamento de memória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Fila para cada prioridade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não houver thread executável, executa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thread ociosa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>
            <a:extLst>
              <a:ext uri="{FF2B5EF4-FFF2-40B4-BE49-F238E27FC236}">
                <a16:creationId xmlns:a16="http://schemas.microsoft.com/office/drawing/2014/main" id="{8C19D432-966C-E54C-B9B2-4E3B0F35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Classes de prioridade do Windows</a:t>
            </a:r>
          </a:p>
        </p:txBody>
      </p:sp>
      <p:sp>
        <p:nvSpPr>
          <p:cNvPr id="110594" name="Content Placeholder 2">
            <a:extLst>
              <a:ext uri="{FF2B5EF4-FFF2-40B4-BE49-F238E27FC236}">
                <a16:creationId xmlns:a16="http://schemas.microsoft.com/office/drawing/2014/main" id="{6A7A986E-814B-A946-AD1D-46CB802F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API Win32 identifica várias classes de prioridade às quais um processo pode pertencer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CLASSE_DE_PRIORIDADE_EM_TEMPO_REAL, CLASSE_DE_ALTA_PRIORIDADE, ACIMA_DA_CLASSE_DE_PRIORIDADE_NORMAL, CLASSE_DE_PRIORIDADE_NORMAL, ABAIXO_DA_CLASSE_DE_PRIORIDADE_NORMAL, CLASSE_DE_PRIORIDADE_INATIVA</a:t>
            </a:r>
            <a:endParaRPr xmlns:a="http://schemas.openxmlformats.org/drawingml/2006/main" lang="en-US" altLang="pt-BR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Todos são variáveis, exceto REALTIME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thread dentro de uma determinada classe de prioridade tem uma prioridade relativa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TEMPO_CRÍTICO, MAIS ALTO, ACIMA_DO_NORMAL, NORMAL, ABAIXO_DO_NORMAL, MAIS BAIXO, INATIVO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classe de prioridade e a prioridade relativa combinam-se para fornecer prioridade numérica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prioridade base é NORMAL dentro da classe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quantum expirar, a prioridade será reduzida, mas nunca abaixo da base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ocorrer espera, a prioridade será aumentada dependendo do que foi esperado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janela do primeiro plano recebeu um aumento de prioridade de 3x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Windows 7 adicionou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agendamento em modo de usuário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UMS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aplicativos criam e gerenciam threads independentemente do kernel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um grande número de threads, muito mais eficiente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planejadores UMS vêm de bibliotecas de linguagem de programação como o framework C++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Concurrent Runtime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(ConcRT)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3682C999-63F6-1445-9EA4-F931E27A1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17014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Prioridades do Windows</a:t>
            </a:r>
          </a:p>
        </p:txBody>
      </p:sp>
      <p:pic>
        <p:nvPicPr>
          <p:cNvPr id="111618" name="Picture 1" descr="6_22.pdf">
            <a:extLst>
              <a:ext uri="{FF2B5EF4-FFF2-40B4-BE49-F238E27FC236}">
                <a16:creationId xmlns:a16="http://schemas.microsoft.com/office/drawing/2014/main" id="{CE56318A-0949-5E45-805E-1FA087502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566988"/>
            <a:ext cx="11118850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>
            <a:extLst>
              <a:ext uri="{FF2B5EF4-FFF2-40B4-BE49-F238E27FC236}">
                <a16:creationId xmlns:a16="http://schemas.microsoft.com/office/drawing/2014/main" id="{9235C9FB-3B34-534B-B9F1-B7A621C4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</a:t>
            </a:r>
          </a:p>
        </p:txBody>
      </p:sp>
      <p:sp>
        <p:nvSpPr>
          <p:cNvPr id="113666" name="Content Placeholder 2">
            <a:extLst>
              <a:ext uri="{FF2B5EF4-FFF2-40B4-BE49-F238E27FC236}">
                <a16:creationId xmlns:a16="http://schemas.microsoft.com/office/drawing/2014/main" id="{FC8EA780-0431-854E-A6F1-BE042632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baseado em prioridades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Seis aulas disponíveis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tempo (padrão) (TS)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Interativo (IA)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real (RT)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(SYS)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Partilha Justa (FSS)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Prioridade fixa (FP)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thread fornecido pode estar em uma classe por vez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classe tem seu próprio algoritmo de agendamento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compartilhamento de tempo é uma fila de feedback multinível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 carregável configurável pelo administrador do sistema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4AC7538B-9AA1-2C4C-A632-FDB52E638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 de Despacho Solaris</a:t>
            </a:r>
          </a:p>
        </p:txBody>
      </p:sp>
      <p:pic>
        <p:nvPicPr>
          <p:cNvPr id="114690" name="Picture 1" descr="6_23.pdf">
            <a:extLst>
              <a:ext uri="{FF2B5EF4-FFF2-40B4-BE49-F238E27FC236}">
                <a16:creationId xmlns:a16="http://schemas.microsoft.com/office/drawing/2014/main" id="{1FE9B14C-0BD0-0543-A59F-2F223612B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363" y="1174750"/>
            <a:ext cx="8059737" cy="72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9662A14C-92F3-8741-BA2D-B139FED7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Solaris</a:t>
            </a:r>
          </a:p>
        </p:txBody>
      </p:sp>
      <p:pic>
        <p:nvPicPr>
          <p:cNvPr id="116738" name="Picture 1" descr="6_24.pdf">
            <a:extLst>
              <a:ext uri="{FF2B5EF4-FFF2-40B4-BE49-F238E27FC236}">
                <a16:creationId xmlns:a16="http://schemas.microsoft.com/office/drawing/2014/main" id="{F5F57232-3676-3A46-BF10-261FAC34D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0" y="1179513"/>
            <a:ext cx="4843463" cy="753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>
            <a:extLst>
              <a:ext uri="{FF2B5EF4-FFF2-40B4-BE49-F238E27FC236}">
                <a16:creationId xmlns:a16="http://schemas.microsoft.com/office/drawing/2014/main" id="{A02CD1FF-D377-164F-9908-6221B728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Solaris (Cont.)</a:t>
            </a:r>
          </a:p>
        </p:txBody>
      </p:sp>
      <p:sp>
        <p:nvSpPr>
          <p:cNvPr id="118786" name="Content Placeholder 2">
            <a:extLst>
              <a:ext uri="{FF2B5EF4-FFF2-40B4-BE49-F238E27FC236}">
                <a16:creationId xmlns:a16="http://schemas.microsoft.com/office/drawing/2014/main" id="{E649B54E-B7CC-344F-98D7-7AE9BFA0C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agendador converte prioridades específicas de classe em uma prioridade global por thread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thread com maior prioridade é executado em seguida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Executa até que (1) bloqueie, (2) use uma fatia de tempo, (3) seja preemptado por um thread de prioridade mais alta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threads com a mesma prioridade selecionados via RR</a:t>
            </a: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95070417-AE22-B343-88CC-19F6497C8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Avaliação de Algoritmos</a:t>
            </a:r>
          </a:p>
        </p:txBody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4BB06825-1B9D-1E46-B28A-F3DC6C64A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43088"/>
            <a:ext cx="11349038" cy="61912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selecionar o algoritmo de agendamento de CPU para um sistema operacional?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Determine os critérios e, em seguida, avalie os algoritmos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Modelagem determinística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avaliação analítica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Pega uma carga de trabalho predeterminada específica e define o desempenho de cada algoritmo para essa carga de trabalho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5 processos chegando no tempo 0:</a:t>
            </a:r>
          </a:p>
        </p:txBody>
      </p:sp>
      <p:pic>
        <p:nvPicPr>
          <p:cNvPr id="119811" name="Picture 1" descr="Screen Shot 2012-12-17 at 9.44.14 PM.png">
            <a:extLst>
              <a:ext uri="{FF2B5EF4-FFF2-40B4-BE49-F238E27FC236}">
                <a16:creationId xmlns:a16="http://schemas.microsoft.com/office/drawing/2014/main" id="{7F847D8F-9F6C-5C40-B173-A73D2763E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75" y="4635500"/>
            <a:ext cx="2844800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8482DF83-5070-E14B-AB93-DE63A167A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Avaliação Determinística</a:t>
            </a:r>
          </a:p>
        </p:txBody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01D1A315-A70C-B54B-91A9-308ACD639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43088"/>
            <a:ext cx="11349038" cy="6191250"/>
          </a:xfrm>
        </p:spPr>
        <p:txBody>
          <a:bodyPr/>
          <a:lstStyle/>
          <a:p>
            <a:pPr xmlns:a="http://schemas.openxmlformats.org/drawingml/2006/main" marL="488853" indent="-488853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Para cada algoritmo, calcule o tempo médio mínimo de espera</a:t>
            </a:r>
          </a:p>
          <a:p>
            <a:pPr xmlns:a="http://schemas.openxmlformats.org/drawingml/2006/main" marL="488853" indent="-488853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Simples e rápido, mas requer números exatos para entrada, aplica-se apenas a essas entradas</a:t>
            </a:r>
          </a:p>
          <a:p>
            <a:pPr xmlns:a="http://schemas.openxmlformats.org/drawingml/2006/main" marL="1060238" lvl="1" indent="-407908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FCS é 28 ms:</a:t>
            </a:r>
          </a:p>
          <a:p>
            <a:pPr marL="488853" indent="-488853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488853" indent="-488853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488853" indent="-488853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1060238" lvl="1" indent="-407908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SFJ não preemptivo é 13 ms:</a:t>
            </a:r>
          </a:p>
          <a:p>
            <a:pPr marL="488853" indent="-488853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488853" indent="-488853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488853" indent="-488853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488853" indent="-488853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1060238" lvl="1" indent="-407908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RR é 23 ms: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121859" name="Picture 2" descr="Screen Shot 2012-12-17 at 9.47.12 PM.png">
            <a:extLst>
              <a:ext uri="{FF2B5EF4-FFF2-40B4-BE49-F238E27FC236}">
                <a16:creationId xmlns:a16="http://schemas.microsoft.com/office/drawing/2014/main" id="{3CF604FB-7932-7B43-A50C-168CD218E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38" y="3008313"/>
            <a:ext cx="66675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0" name="Picture 3" descr="Screen Shot 2012-12-17 at 9.47.18 PM.png">
            <a:extLst>
              <a:ext uri="{FF2B5EF4-FFF2-40B4-BE49-F238E27FC236}">
                <a16:creationId xmlns:a16="http://schemas.microsoft.com/office/drawing/2014/main" id="{3C0A63DE-D4A8-FF43-8E28-6FA04D2FDD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8" y="4610100"/>
            <a:ext cx="67945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1" name="Picture 4" descr="Screen Shot 2012-12-17 at 9.47.24 PM.png">
            <a:extLst>
              <a:ext uri="{FF2B5EF4-FFF2-40B4-BE49-F238E27FC236}">
                <a16:creationId xmlns:a16="http://schemas.microsoft.com/office/drawing/2014/main" id="{5B20D4DB-341C-2648-97C4-E1666DAAD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6408738"/>
            <a:ext cx="66675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1">
            <a:extLst>
              <a:ext uri="{FF2B5EF4-FFF2-40B4-BE49-F238E27FC236}">
                <a16:creationId xmlns:a16="http://schemas.microsoft.com/office/drawing/2014/main" id="{2339DC9A-8376-0247-A398-EB9DC47A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Modelos de Filas</a:t>
            </a:r>
          </a:p>
        </p:txBody>
      </p:sp>
      <p:sp>
        <p:nvSpPr>
          <p:cNvPr id="123906" name="Content Placeholder 2">
            <a:extLst>
              <a:ext uri="{FF2B5EF4-FFF2-40B4-BE49-F238E27FC236}">
                <a16:creationId xmlns:a16="http://schemas.microsoft.com/office/drawing/2014/main" id="{FD88B55B-1D0C-4A46-9CB5-A22ED7625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Descreve a chegada de processos e explosões de CPU e E/S probabilisticamente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Comumente exponencial e descrito pela média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Calcula a taxa de transferência média, utilização, tempo de espera, etc.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de computador descrito como uma rede de servidores, cada um com uma fila de processos em espera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Conhecendo as taxas de chegada e as taxas de serviço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Calcula a utilização, o comprimento médio da fila, o tempo médio de espera, etc.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itle 1">
            <a:extLst>
              <a:ext uri="{FF2B5EF4-FFF2-40B4-BE49-F238E27FC236}">
                <a16:creationId xmlns:a16="http://schemas.microsoft.com/office/drawing/2014/main" id="{48E8C6F5-61EB-CE46-9B6D-1F12C855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Fórmula 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Little</a:t>
            </a:r>
          </a:p>
        </p:txBody>
      </p:sp>
      <p:sp>
        <p:nvSpPr>
          <p:cNvPr id="124930" name="Content Placeholder 2">
            <a:extLst>
              <a:ext uri="{FF2B5EF4-FFF2-40B4-BE49-F238E27FC236}">
                <a16:creationId xmlns:a16="http://schemas.microsoft.com/office/drawing/2014/main" id="{A62998D1-6EB7-274B-A288-3AFACCF3A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comprimento médio da fila</a:t>
            </a: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W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tempo médio de espera na fila</a:t>
            </a: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λ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taxa média de chegada na fila</a:t>
            </a:r>
          </a:p>
          <a:p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Little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– em estado estacionário, os processos que saem da fila devem ser iguais aos processos que chegam, portanto </a:t>
            </a:r>
            <a:br xmlns:a="http://schemas.openxmlformats.org/drawingml/2006/main">
              <a:rPr lang="en-US" altLang="ja-JP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ja-JP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ja-JP" i="1">
                <a:ea typeface="ＭＳ Ｐゴシック" panose="020B0600070205080204" pitchFamily="34" charset="-128"/>
              </a:rPr>
              <a:t>λ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x </a:t>
            </a:r>
            <a:r xmlns:a="http://schemas.openxmlformats.org/drawingml/2006/main">
              <a:rPr lang="pt" altLang="ja-JP" i="1">
                <a:ea typeface="ＭＳ Ｐゴシック" panose="020B0600070205080204" pitchFamily="34" charset="-128"/>
              </a:rPr>
              <a:t>W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Válido para qualquer algoritmo de escalonamento e distribuição de chegadas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exemplo, se em média 7 processos chegam por segundo, e normalmente 14 processos na fila, então o tempo médio de espera por processo = 2 segundos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Title 1">
            <a:extLst>
              <a:ext uri="{FF2B5EF4-FFF2-40B4-BE49-F238E27FC236}">
                <a16:creationId xmlns:a16="http://schemas.microsoft.com/office/drawing/2014/main" id="{D2D00288-B60B-CE4E-97D7-BB280F03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Simulações</a:t>
            </a:r>
          </a:p>
        </p:txBody>
      </p:sp>
      <p:sp>
        <p:nvSpPr>
          <p:cNvPr id="125954" name="Content Placeholder 2">
            <a:extLst>
              <a:ext uri="{FF2B5EF4-FFF2-40B4-BE49-F238E27FC236}">
                <a16:creationId xmlns:a16="http://schemas.microsoft.com/office/drawing/2014/main" id="{14E4C925-1A2B-1B44-ABF3-92FA2F2FB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Modelos de filas limitados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Simulações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preciso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 programado de sistema de computador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relógio é uma variável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Reúna estatísticas que indiquem o desempenho do algoritmo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Dados para conduzir a simulação coletados por meio de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Gerador de números aleatórios de acordo com probabilidades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Distribuições definidas matematicamente ou empiricamente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fitas de rastreamento registram sequências de eventos reais em sistemas reais</a:t>
            </a:r>
          </a:p>
          <a:p>
            <a:pPr lvl="2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D2570D23-CDED-A84E-9352-805796609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8700" y="4079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Avaliação de escalonadores de CPU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por simulação</a:t>
            </a:r>
          </a:p>
        </p:txBody>
      </p:sp>
      <p:pic>
        <p:nvPicPr>
          <p:cNvPr id="126978" name="Picture 1" descr="6_25.pdf">
            <a:extLst>
              <a:ext uri="{FF2B5EF4-FFF2-40B4-BE49-F238E27FC236}">
                <a16:creationId xmlns:a16="http://schemas.microsoft.com/office/drawing/2014/main" id="{A0EAA72D-E7E5-BC45-B2C9-CCA5790FB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1619250"/>
            <a:ext cx="9904413" cy="617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Title 1">
            <a:extLst>
              <a:ext uri="{FF2B5EF4-FFF2-40B4-BE49-F238E27FC236}">
                <a16:creationId xmlns:a16="http://schemas.microsoft.com/office/drawing/2014/main" id="{BCC7808D-B1C7-144F-8FBD-DCB802781C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9888"/>
            <a:ext cx="12344400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Implementação</a:t>
            </a:r>
          </a:p>
        </p:txBody>
      </p:sp>
      <p:sp>
        <p:nvSpPr>
          <p:cNvPr id="129026" name="Content Placeholder 2">
            <a:extLst>
              <a:ext uri="{FF2B5EF4-FFF2-40B4-BE49-F238E27FC236}">
                <a16:creationId xmlns:a16="http://schemas.microsoft.com/office/drawing/2014/main" id="{C9585764-71A0-3A48-9EC1-DD80298C461A}"/>
              </a:ext>
            </a:extLst>
          </p:cNvPr>
          <p:cNvSpPr txBox="1">
            <a:spLocks/>
          </p:cNvSpPr>
          <p:nvPr/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595" tIns="65298" rIns="130595" bIns="65298"/>
          <a:lstStyle>
            <a:lvl1pPr marL="488950" indent="-488950" defTabSz="1304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1141413" indent="-488950" defTabSz="1304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550988" indent="-325438" defTabSz="1304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1304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1304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2600">
                <a:latin typeface="Helvetica" pitchFamily="2" charset="0"/>
              </a:rPr>
              <a:t>Mesmo as simulações têm precisão limitada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900">
                <a:latin typeface="Helvetica" pitchFamily="2" charset="0"/>
              </a:rPr>
              <a:t>Basta implementar o novo planejador e testar em sistemas reais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900">
                <a:latin typeface="Helvetica" pitchFamily="2" charset="0"/>
              </a:rPr>
              <a:t>Alto custo, alto risco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900">
                <a:latin typeface="Helvetica" pitchFamily="2" charset="0"/>
              </a:rPr>
              <a:t>Os ambientes variam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900">
                <a:latin typeface="Helvetica" pitchFamily="2" charset="0"/>
              </a:rPr>
              <a:t>A maioria dos agendadores flexíveis pode ser modificada por site ou por sistema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900">
                <a:latin typeface="Helvetica" pitchFamily="2" charset="0"/>
              </a:rPr>
              <a:t>Ou APIs para modificar prioridades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900">
                <a:latin typeface="Helvetica" pitchFamily="2" charset="0"/>
              </a:rPr>
              <a:t>Mas, novamente, os ambientes variam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2600">
              <a:latin typeface="Helvetica" pitchFamily="2" charset="0"/>
            </a:endParaRP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</a:pPr>
            <a:endParaRPr kumimoji="1" lang="en-US" altLang="pt-BR" sz="2600">
              <a:latin typeface="Helvetica" pitchFamily="2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endParaRPr kumimoji="1" lang="en-US" altLang="pt-BR" sz="260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320A367E-8221-8345-A75B-E7D6D803BCE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9839</TotalTime>
  <Words>4051</Words>
  <Application>Microsoft Macintosh PowerPoint</Application>
  <PresentationFormat>Personalizar</PresentationFormat>
  <Paragraphs>668</Paragraphs>
  <Slides>67</Slides>
  <Notes>57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67</vt:i4>
      </vt:variant>
    </vt:vector>
  </HeadingPairs>
  <TitlesOfParts>
    <vt:vector size="80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Lucida Grande</vt:lpstr>
      <vt:lpstr>Symbol</vt:lpstr>
      <vt:lpstr>Courier New</vt:lpstr>
      <vt:lpstr>os-8</vt:lpstr>
      <vt:lpstr>Microsoft Equation</vt:lpstr>
      <vt:lpstr>Microsoft Equation 3.0</vt:lpstr>
      <vt:lpstr>Chapter 6:  CPU Scheduling</vt:lpstr>
      <vt:lpstr>Chapter 6:  CPU Scheduling</vt:lpstr>
      <vt:lpstr>Objectives</vt:lpstr>
      <vt:lpstr>Basic Concepts</vt:lpstr>
      <vt:lpstr>Histogram of CPU-burst Times</vt:lpstr>
      <vt:lpstr>CPU Scheduler</vt:lpstr>
      <vt:lpstr>Dispatcher</vt:lpstr>
      <vt:lpstr>Scheduling Criteria</vt:lpstr>
      <vt:lpstr>Scheduling Algorithm Optimization Criteria</vt:lpstr>
      <vt:lpstr>First-Come, First-Served (FCFS) Scheduling</vt:lpstr>
      <vt:lpstr>FCFS Scheduling (Cont.)</vt:lpstr>
      <vt:lpstr>Shortest-Job-First (SJF) Scheduling</vt:lpstr>
      <vt:lpstr>Example of SJF</vt:lpstr>
      <vt:lpstr>Determining Length of Next CPU Burst</vt:lpstr>
      <vt:lpstr>Prediction of the Length of the  Next CPU Burst</vt:lpstr>
      <vt:lpstr>Examples of Exponential Averaging</vt:lpstr>
      <vt:lpstr>Example of Shortest-remaining-time-first</vt:lpstr>
      <vt:lpstr>Priority Scheduling</vt:lpstr>
      <vt:lpstr>Example of Priority Scheduling</vt:lpstr>
      <vt:lpstr>Round Robin (RR)</vt:lpstr>
      <vt:lpstr>Example of RR with Time Quantum = 4</vt:lpstr>
      <vt:lpstr>Time Quantum and Context Switch Time</vt:lpstr>
      <vt:lpstr>Turnaround Time Varies With  The Time Quantum</vt:lpstr>
      <vt:lpstr>Multilevel Queue</vt:lpstr>
      <vt:lpstr>Multilevel Queue Scheduling</vt:lpstr>
      <vt:lpstr>Multilevel Feedback Queue</vt:lpstr>
      <vt:lpstr>Example of Multilevel Feedback Queue</vt:lpstr>
      <vt:lpstr>Thread Scheduling</vt:lpstr>
      <vt:lpstr>Pthread Scheduling</vt:lpstr>
      <vt:lpstr>Pthread Scheduling API</vt:lpstr>
      <vt:lpstr>Pthread Scheduling API</vt:lpstr>
      <vt:lpstr>Multiple-Processor Scheduling</vt:lpstr>
      <vt:lpstr>NUMA and CPU Scheduling</vt:lpstr>
      <vt:lpstr>Multiple-Processor Scheduling – Load Balancing</vt:lpstr>
      <vt:lpstr>Multicore Processors</vt:lpstr>
      <vt:lpstr>Multithreaded Multicore System</vt:lpstr>
      <vt:lpstr>Real-Time CPU Scheduling</vt:lpstr>
      <vt:lpstr>Real-Time CPU Scheduling (Cont.)</vt:lpstr>
      <vt:lpstr>Priority-based Scheduling</vt:lpstr>
      <vt:lpstr>Virtualization and Scheduling</vt:lpstr>
      <vt:lpstr>Rate Montonic Scheduling</vt:lpstr>
      <vt:lpstr>Missed Deadlines with  Rate Monotonic Scheduling</vt:lpstr>
      <vt:lpstr>Earliest Deadline First Scheduling (EDF)</vt:lpstr>
      <vt:lpstr>Proportional Share Scheduling</vt:lpstr>
      <vt:lpstr>POSIX Real-Time Scheduling</vt:lpstr>
      <vt:lpstr>POSIX Real-Time Scheduling API</vt:lpstr>
      <vt:lpstr>POSIX Real-Time Scheduling API (Cont.)</vt:lpstr>
      <vt:lpstr>Operating System Examples</vt:lpstr>
      <vt:lpstr>Linux Scheduling Through Version 2.5</vt:lpstr>
      <vt:lpstr>Linux Scheduling in Version 2.6.23 +</vt:lpstr>
      <vt:lpstr>CFS Performance</vt:lpstr>
      <vt:lpstr>Linux Scheduling (Cont.)</vt:lpstr>
      <vt:lpstr>Windows Scheduling</vt:lpstr>
      <vt:lpstr>Windows Priority Classes</vt:lpstr>
      <vt:lpstr>Windows Priorities</vt:lpstr>
      <vt:lpstr>Solaris</vt:lpstr>
      <vt:lpstr>Solaris Dispatch Table </vt:lpstr>
      <vt:lpstr>Solaris Scheduling</vt:lpstr>
      <vt:lpstr>Solaris Scheduling (Cont.)</vt:lpstr>
      <vt:lpstr>Algorithm Evaluation</vt:lpstr>
      <vt:lpstr>Deterministic Evaluation</vt:lpstr>
      <vt:lpstr>Queueing Models</vt:lpstr>
      <vt:lpstr>Little’s Formula</vt:lpstr>
      <vt:lpstr>Simulations</vt:lpstr>
      <vt:lpstr>Evaluation of CPU Schedulers  by Simulation</vt:lpstr>
      <vt:lpstr>Implementation</vt:lpstr>
      <vt:lpstr>End of Chapter 6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 CPU Scheduling</dc:title>
  <dc:creator>Marilyn Turnamian</dc:creator>
  <cp:lastModifiedBy>Getulio Pereira</cp:lastModifiedBy>
  <cp:revision>179</cp:revision>
  <cp:lastPrinted>2011-02-07T04:52:44Z</cp:lastPrinted>
  <dcterms:created xsi:type="dcterms:W3CDTF">2011-02-10T17:10:04Z</dcterms:created>
  <dcterms:modified xsi:type="dcterms:W3CDTF">2020-10-08T15:08:36Z</dcterms:modified>
</cp:coreProperties>
</file>