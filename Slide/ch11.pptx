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53" r:id="rId1"/>
  </p:sldMasterIdLst>
  <p:notesMasterIdLst>
    <p:notesMasterId r:id="rId46"/>
  </p:notesMasterIdLst>
  <p:handoutMasterIdLst>
    <p:handoutMasterId r:id="rId47"/>
  </p:handoutMasterIdLst>
  <p:sldIdLst>
    <p:sldId id="299" r:id="rId2"/>
    <p:sldId id="257" r:id="rId3"/>
    <p:sldId id="258" r:id="rId4"/>
    <p:sldId id="259" r:id="rId5"/>
    <p:sldId id="261" r:id="rId6"/>
    <p:sldId id="316" r:id="rId7"/>
    <p:sldId id="262" r:id="rId8"/>
    <p:sldId id="263" r:id="rId9"/>
    <p:sldId id="264" r:id="rId10"/>
    <p:sldId id="265" r:id="rId11"/>
    <p:sldId id="266" r:id="rId12"/>
    <p:sldId id="267" r:id="rId13"/>
    <p:sldId id="260" r:id="rId14"/>
    <p:sldId id="269" r:id="rId15"/>
    <p:sldId id="268" r:id="rId16"/>
    <p:sldId id="270" r:id="rId17"/>
    <p:sldId id="317" r:id="rId18"/>
    <p:sldId id="271" r:id="rId19"/>
    <p:sldId id="272" r:id="rId20"/>
    <p:sldId id="315" r:id="rId21"/>
    <p:sldId id="273" r:id="rId22"/>
    <p:sldId id="318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8" r:id="rId36"/>
    <p:sldId id="289" r:id="rId37"/>
    <p:sldId id="291" r:id="rId38"/>
    <p:sldId id="292" r:id="rId39"/>
    <p:sldId id="293" r:id="rId40"/>
    <p:sldId id="294" r:id="rId41"/>
    <p:sldId id="295" r:id="rId42"/>
    <p:sldId id="297" r:id="rId43"/>
    <p:sldId id="298" r:id="rId44"/>
    <p:sldId id="314" r:id="rId45"/>
  </p:sldIdLst>
  <p:sldSz cx="9144000" cy="6858000" type="screen4x3"/>
  <p:notesSz cx="6997700" cy="9283700"/>
  <p:defaultTextStyle>
    <a:defPPr>
      <a:defRPr lang="pt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88">
          <p15:clr>
            <a:srgbClr val="A4A3A4"/>
          </p15:clr>
        </p15:guide>
        <p15:guide id="2" pos="50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83"/>
  </p:normalViewPr>
  <p:slideViewPr>
    <p:cSldViewPr snapToGrid="0">
      <p:cViewPr varScale="1">
        <p:scale>
          <a:sx n="94" d="100"/>
          <a:sy n="94" d="100"/>
        </p:scale>
        <p:origin x="1624" y="200"/>
      </p:cViewPr>
      <p:guideLst>
        <p:guide orient="horz" pos="788"/>
        <p:guide pos="50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>
            <a:extLst>
              <a:ext uri="{FF2B5EF4-FFF2-40B4-BE49-F238E27FC236}">
                <a16:creationId xmlns:a16="http://schemas.microsoft.com/office/drawing/2014/main" id="{47D19DDA-5565-C147-848B-96DDCE5E483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defTabSz="923925" eaLnBrk="1" hangingPunct="1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9203" name="Rectangle 3">
            <a:extLst>
              <a:ext uri="{FF2B5EF4-FFF2-40B4-BE49-F238E27FC236}">
                <a16:creationId xmlns:a16="http://schemas.microsoft.com/office/drawing/2014/main" id="{49CEE9A0-966A-8F43-8923-61E9313F593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r" defTabSz="923925" eaLnBrk="1" hangingPunct="1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9204" name="Rectangle 4">
            <a:extLst>
              <a:ext uri="{FF2B5EF4-FFF2-40B4-BE49-F238E27FC236}">
                <a16:creationId xmlns:a16="http://schemas.microsoft.com/office/drawing/2014/main" id="{61290266-CA3F-0D47-A57F-30E966C3BFE5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16975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defTabSz="923925" eaLnBrk="1" hangingPunct="1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9205" name="Rectangle 5">
            <a:extLst>
              <a:ext uri="{FF2B5EF4-FFF2-40B4-BE49-F238E27FC236}">
                <a16:creationId xmlns:a16="http://schemas.microsoft.com/office/drawing/2014/main" id="{A6060955-274F-BD49-9DF9-71B9317FA386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16975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r" defTabSz="923925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fld id="{7445B9B6-7A00-9946-8F9E-CEF780862AF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45837F36-1FDD-F74C-94D1-525823E24D6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defTabSz="923925" eaLnBrk="1" hangingPunct="1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5171" name="Rectangle 3">
            <a:extLst>
              <a:ext uri="{FF2B5EF4-FFF2-40B4-BE49-F238E27FC236}">
                <a16:creationId xmlns:a16="http://schemas.microsoft.com/office/drawing/2014/main" id="{E3E932E1-CEA2-C246-AA7E-EFCB893F689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0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r" defTabSz="923925" eaLnBrk="1" hangingPunct="1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43871CF6-7D5D-474B-AABB-641C704A2A61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77925" y="695325"/>
            <a:ext cx="4641850" cy="34813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5173" name="Rectangle 5">
            <a:extLst>
              <a:ext uri="{FF2B5EF4-FFF2-40B4-BE49-F238E27FC236}">
                <a16:creationId xmlns:a16="http://schemas.microsoft.com/office/drawing/2014/main" id="{BD9EB3F5-BD27-2546-8088-6BA0545388C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0088" y="4410075"/>
            <a:ext cx="5599112" cy="417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5174" name="Rectangle 6">
            <a:extLst>
              <a:ext uri="{FF2B5EF4-FFF2-40B4-BE49-F238E27FC236}">
                <a16:creationId xmlns:a16="http://schemas.microsoft.com/office/drawing/2014/main" id="{96FC0A21-6B05-0643-8751-D8F38426D95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6975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defTabSz="923925" eaLnBrk="1" hangingPunct="1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5175" name="Rectangle 7">
            <a:extLst>
              <a:ext uri="{FF2B5EF4-FFF2-40B4-BE49-F238E27FC236}">
                <a16:creationId xmlns:a16="http://schemas.microsoft.com/office/drawing/2014/main" id="{43F2C186-65C5-C648-B371-25D44357B5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816975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r" defTabSz="923925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fld id="{6A44B0B4-8F55-C645-9AA8-DA7A30E7CB2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>
            <a:extLst>
              <a:ext uri="{FF2B5EF4-FFF2-40B4-BE49-F238E27FC236}">
                <a16:creationId xmlns:a16="http://schemas.microsoft.com/office/drawing/2014/main" id="{7532561E-2D10-3640-95E5-1940EC16D3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6516841F-63DA-E34D-B4B7-A3C2731E3D89}" type="slidenum">
              <a:rPr lang="en-US" altLang="pt-BR" sz="1200">
                <a:latin typeface="Times New Roman" panose="02020603050405020304" pitchFamily="18" charset="0"/>
              </a:rPr>
              <a:pPr/>
              <a:t>1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B50C0F50-1577-3049-8E1E-B7D5558F833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E198C32D-D2CA-D44E-BE11-3A5DA2A430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>
            <a:extLst>
              <a:ext uri="{FF2B5EF4-FFF2-40B4-BE49-F238E27FC236}">
                <a16:creationId xmlns:a16="http://schemas.microsoft.com/office/drawing/2014/main" id="{040393C4-9F1E-9C48-A03D-1445FDF3E6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33FE287-65DE-9045-BE06-2879CA386956}" type="slidenum">
              <a:rPr lang="en-US" altLang="pt-BR" sz="1200">
                <a:latin typeface="Times New Roman" panose="02020603050405020304" pitchFamily="18" charset="0"/>
              </a:rPr>
              <a:pPr/>
              <a:t>2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8DAC056F-9868-6D48-829E-18D80BCBAA4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5685D225-DE1C-714D-9F71-7915132321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AD8E4C09-A923-7B47-B5D3-8DDE6A05EA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ED50F030-D16A-6147-8CB6-35EF116C8902}" type="slidenum">
              <a:rPr lang="en-US" altLang="pt-BR" sz="1200">
                <a:latin typeface="Times New Roman" panose="02020603050405020304" pitchFamily="18" charset="0"/>
              </a:rPr>
              <a:pPr/>
              <a:t>3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A98012DC-7BD8-0648-A1DD-AE8300E3EDC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8907F39-010C-E54A-93CC-560F6870B0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>
            <a:extLst>
              <a:ext uri="{FF2B5EF4-FFF2-40B4-BE49-F238E27FC236}">
                <a16:creationId xmlns:a16="http://schemas.microsoft.com/office/drawing/2014/main" id="{625E655B-70B4-304A-9426-C1099CCBB6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1481E60B-5531-9244-A7F3-EB1C4C6512A5}" type="slidenum">
              <a:rPr lang="en-US" altLang="pt-BR" sz="1200">
                <a:latin typeface="Times New Roman" panose="02020603050405020304" pitchFamily="18" charset="0"/>
              </a:rPr>
              <a:pPr/>
              <a:t>4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99EF1242-EF1F-E940-A0AD-AE91422BEFE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62E0C2C2-2AFB-B743-9DA9-5D77AF896E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>
            <a:extLst>
              <a:ext uri="{FF2B5EF4-FFF2-40B4-BE49-F238E27FC236}">
                <a16:creationId xmlns:a16="http://schemas.microsoft.com/office/drawing/2014/main" id="{D160658D-7C50-3F49-9CB7-453EBD8854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0934D86A-13CE-CF44-BB20-8A011EFD5A74}" type="slidenum">
              <a:rPr lang="en-US" altLang="pt-BR" sz="1200">
                <a:latin typeface="Times New Roman" panose="02020603050405020304" pitchFamily="18" charset="0"/>
              </a:rPr>
              <a:pPr/>
              <a:t>5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1E77AB64-53E3-6242-B732-20A535EA92C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077BF556-AC3F-3447-89FB-563B9177BB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40DDB53B-0C9B-F64F-82BE-5A58949343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2D88DCED-39B5-2542-AC66-2D916A962810}" type="slidenum">
              <a:rPr lang="en-US" altLang="pt-BR" sz="1200">
                <a:latin typeface="Times New Roman" panose="02020603050405020304" pitchFamily="18" charset="0"/>
              </a:rPr>
              <a:pPr/>
              <a:t>6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7DF02E3F-35EA-6748-94B7-DA52F811063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BA8117D0-8AFB-E04A-A7F1-D842C440D5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B21A8790-41E7-E744-AF92-043F195ADC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755A977-9985-0D4C-AD89-24514F4EDF98}" type="slidenum">
              <a:rPr lang="en-US" altLang="pt-BR" sz="1200">
                <a:latin typeface="Times New Roman" panose="02020603050405020304" pitchFamily="18" charset="0"/>
              </a:rPr>
              <a:pPr/>
              <a:t>7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6DB9557D-4B8B-F243-B77B-E13C6570291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D02FA148-0484-B346-ACC2-62F6292B3A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E4702ACA-0DFF-0849-8CD5-5F3E67230F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9941DF0B-DD07-E047-A966-782D9895BFBA}" type="slidenum">
              <a:rPr lang="en-US" altLang="pt-BR" sz="1200">
                <a:latin typeface="Times New Roman" panose="02020603050405020304" pitchFamily="18" charset="0"/>
              </a:rPr>
              <a:pPr/>
              <a:t>8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7DFDB093-FF04-5647-8810-322404BD79E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AB7F7E72-3CEB-F04B-94D1-7AAD831C7B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>
            <a:extLst>
              <a:ext uri="{FF2B5EF4-FFF2-40B4-BE49-F238E27FC236}">
                <a16:creationId xmlns:a16="http://schemas.microsoft.com/office/drawing/2014/main" id="{BC324F46-C056-4C4B-8020-2A2888929B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B635D1C-61F6-D443-AD08-20BD958A6ADA}" type="slidenum">
              <a:rPr lang="en-US" altLang="pt-BR" sz="1200">
                <a:latin typeface="Times New Roman" panose="02020603050405020304" pitchFamily="18" charset="0"/>
              </a:rPr>
              <a:pPr/>
              <a:t>9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319844B3-D279-2C4E-BF34-5F733E437F4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D0931FE6-0A59-5E40-B026-080DC014F0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>
            <a:extLst>
              <a:ext uri="{FF2B5EF4-FFF2-40B4-BE49-F238E27FC236}">
                <a16:creationId xmlns:a16="http://schemas.microsoft.com/office/drawing/2014/main" id="{03399687-4CDB-0C47-A367-57B527CFDD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C0C56D2-221C-CA49-B0E7-5369E0BD7582}" type="slidenum">
              <a:rPr lang="en-US" altLang="pt-BR" sz="1200">
                <a:latin typeface="Times New Roman" panose="02020603050405020304" pitchFamily="18" charset="0"/>
              </a:rPr>
              <a:pPr/>
              <a:t>10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F004CCC8-7671-AE4C-8772-80A0916922E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92123437-1AF7-A14E-BFC5-1143F4A90B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>
            <a:extLst>
              <a:ext uri="{FF2B5EF4-FFF2-40B4-BE49-F238E27FC236}">
                <a16:creationId xmlns:a16="http://schemas.microsoft.com/office/drawing/2014/main" id="{51A237D6-413A-8444-A168-C74EB5D5BB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D946CEB-A7C0-3745-95A1-B8126A996D13}" type="slidenum">
              <a:rPr lang="en-US" altLang="pt-BR" sz="1200">
                <a:latin typeface="Times New Roman" panose="02020603050405020304" pitchFamily="18" charset="0"/>
              </a:rPr>
              <a:pPr/>
              <a:t>11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7F444827-0424-704D-9D82-5C6F98FDB81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509E3998-D165-E14E-A77B-74057CDD27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B6C681F4-5A0C-6643-A5B6-7DC22D1A47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7CE2EDB7-B77E-5E48-8A81-394DCEEA7A80}" type="slidenum">
              <a:rPr lang="en-US" altLang="pt-BR" sz="1200">
                <a:latin typeface="Times New Roman" panose="02020603050405020304" pitchFamily="18" charset="0"/>
              </a:rPr>
              <a:pPr/>
              <a:t>12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76D4B4E0-D1A8-504E-AA72-98851342B9C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7ABBAE8F-B6C0-E241-B0D9-697BD0824A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id="{D58365C0-DB37-A04D-8E31-3BADDE113E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B41A90BC-8E51-7B47-AA52-1A04FFE20333}" type="slidenum">
              <a:rPr lang="en-US" altLang="pt-BR" sz="1200">
                <a:latin typeface="Times New Roman" panose="02020603050405020304" pitchFamily="18" charset="0"/>
              </a:rPr>
              <a:pPr/>
              <a:t>13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4590A8BB-779A-454E-9997-C9880FC1624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945E2A9A-41AE-E94C-B7E5-220F482856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>
            <a:extLst>
              <a:ext uri="{FF2B5EF4-FFF2-40B4-BE49-F238E27FC236}">
                <a16:creationId xmlns:a16="http://schemas.microsoft.com/office/drawing/2014/main" id="{D0D81035-2328-3E4E-94F3-A57F76A0CA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81CB7E62-FA73-7643-82B2-6861DFDA220B}" type="slidenum">
              <a:rPr lang="en-US" altLang="pt-BR" sz="1200">
                <a:latin typeface="Times New Roman" panose="02020603050405020304" pitchFamily="18" charset="0"/>
              </a:rPr>
              <a:pPr/>
              <a:t>14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BCF8273D-933E-0D47-A719-6445356AF68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22A6843A-E53A-2F4F-9577-8852F5D8F7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>
            <a:extLst>
              <a:ext uri="{FF2B5EF4-FFF2-40B4-BE49-F238E27FC236}">
                <a16:creationId xmlns:a16="http://schemas.microsoft.com/office/drawing/2014/main" id="{7B2F2B71-26D6-BD4F-AD74-8F386BBE88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A28306E9-7157-EF4D-8ABA-6752C8E6073B}" type="slidenum">
              <a:rPr lang="en-US" altLang="pt-BR" sz="1200">
                <a:latin typeface="Times New Roman" panose="02020603050405020304" pitchFamily="18" charset="0"/>
              </a:rPr>
              <a:pPr/>
              <a:t>15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B7C65354-B165-5946-A3AD-6DC591A0598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67FF70DC-C60C-8B48-A2B9-AACC29D3DF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>
            <a:extLst>
              <a:ext uri="{FF2B5EF4-FFF2-40B4-BE49-F238E27FC236}">
                <a16:creationId xmlns:a16="http://schemas.microsoft.com/office/drawing/2014/main" id="{7F3042B2-7138-DA4C-ADF1-B1CB584148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64C94C37-1953-1E4F-AEC7-CDD340F7982D}" type="slidenum">
              <a:rPr lang="en-US" altLang="pt-BR" sz="1200">
                <a:latin typeface="Times New Roman" panose="02020603050405020304" pitchFamily="18" charset="0"/>
              </a:rPr>
              <a:pPr/>
              <a:t>16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DBC347CA-1BE0-FD4B-A2BF-5828ECAC82E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C5EBFE1E-29DB-1044-98A8-8D9EC1B917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>
            <a:extLst>
              <a:ext uri="{FF2B5EF4-FFF2-40B4-BE49-F238E27FC236}">
                <a16:creationId xmlns:a16="http://schemas.microsoft.com/office/drawing/2014/main" id="{A53D7E79-0D2E-5946-9400-6A4937A49C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1B37FCBA-F174-FE4B-9998-6FDF4A49BDB3}" type="slidenum">
              <a:rPr lang="en-US" altLang="pt-BR" sz="1200">
                <a:latin typeface="Times New Roman" panose="02020603050405020304" pitchFamily="18" charset="0"/>
              </a:rPr>
              <a:pPr/>
              <a:t>17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9D467314-8543-A942-8CA1-B18981721C9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2763D2D6-8141-5E4A-BDEB-F684FDF496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>
            <a:extLst>
              <a:ext uri="{FF2B5EF4-FFF2-40B4-BE49-F238E27FC236}">
                <a16:creationId xmlns:a16="http://schemas.microsoft.com/office/drawing/2014/main" id="{8D715AD6-A08A-784C-8ED8-812F46F020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28120C64-420C-D544-BBAA-978FF960B716}" type="slidenum">
              <a:rPr lang="en-US" altLang="pt-BR" sz="1200">
                <a:latin typeface="Times New Roman" panose="02020603050405020304" pitchFamily="18" charset="0"/>
              </a:rPr>
              <a:pPr/>
              <a:t>18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6A1126EF-7A6F-C34B-BD15-0A9A55A03A3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5B47DBE6-5FA2-9447-858D-596D99EA2D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>
            <a:extLst>
              <a:ext uri="{FF2B5EF4-FFF2-40B4-BE49-F238E27FC236}">
                <a16:creationId xmlns:a16="http://schemas.microsoft.com/office/drawing/2014/main" id="{7F779AC8-B0FA-E64E-BA85-AB7E788C17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A7C35AED-BEA6-D64F-BF19-D88E0DFC56BD}" type="slidenum">
              <a:rPr lang="en-US" altLang="pt-BR" sz="1200">
                <a:latin typeface="Times New Roman" panose="02020603050405020304" pitchFamily="18" charset="0"/>
              </a:rPr>
              <a:pPr/>
              <a:t>19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6A09A847-726B-7C46-AB29-92AC275D1BB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CBC7F04F-DBD4-7A4E-8F42-7CC3ACFAE6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>
            <a:extLst>
              <a:ext uri="{FF2B5EF4-FFF2-40B4-BE49-F238E27FC236}">
                <a16:creationId xmlns:a16="http://schemas.microsoft.com/office/drawing/2014/main" id="{CF22890A-8E5F-C241-8961-30A2832D33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0528422B-F344-2B4E-B92D-CE46D080501E}" type="slidenum">
              <a:rPr lang="en-US" altLang="pt-BR" sz="1200">
                <a:latin typeface="Times New Roman" panose="02020603050405020304" pitchFamily="18" charset="0"/>
              </a:rPr>
              <a:pPr/>
              <a:t>20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65C0C028-5A72-9B4B-8C5B-621C620E820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466DE19C-364D-B040-B264-DC7459628B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>
            <a:extLst>
              <a:ext uri="{FF2B5EF4-FFF2-40B4-BE49-F238E27FC236}">
                <a16:creationId xmlns:a16="http://schemas.microsoft.com/office/drawing/2014/main" id="{60F916A4-68EA-0C42-9821-9EB20A5EF1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73E05BAB-82D0-3A48-BE9E-BCC3B15E0F7D}" type="slidenum">
              <a:rPr lang="en-US" altLang="pt-BR" sz="1200">
                <a:latin typeface="Times New Roman" panose="02020603050405020304" pitchFamily="18" charset="0"/>
              </a:rPr>
              <a:pPr/>
              <a:t>21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id="{F9C39946-6DA8-ED4A-B5A3-8FC20FA5EA5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541F8054-B86A-C54C-B615-C63820ECCE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>
            <a:extLst>
              <a:ext uri="{FF2B5EF4-FFF2-40B4-BE49-F238E27FC236}">
                <a16:creationId xmlns:a16="http://schemas.microsoft.com/office/drawing/2014/main" id="{CE4DB760-1F16-1C40-A814-2B67D37BCE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EFC5C919-59B6-1940-85F1-E5F9C3EFDF72}" type="slidenum">
              <a:rPr lang="en-US" altLang="pt-BR" sz="1200">
                <a:latin typeface="Times New Roman" panose="02020603050405020304" pitchFamily="18" charset="0"/>
              </a:rPr>
              <a:pPr/>
              <a:t>22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161BC7F5-2672-944F-80C4-6B0B2E4BBDC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B35A2F4C-F1D6-9048-8F91-ED1A88249C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>
            <a:extLst>
              <a:ext uri="{FF2B5EF4-FFF2-40B4-BE49-F238E27FC236}">
                <a16:creationId xmlns:a16="http://schemas.microsoft.com/office/drawing/2014/main" id="{62F0EFF9-03CC-E442-B3F9-29E49E7DDC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16F29F62-4FE2-BC48-98FE-5A880B78F84C}" type="slidenum">
              <a:rPr lang="en-US" altLang="pt-BR" sz="1200">
                <a:latin typeface="Times New Roman" panose="02020603050405020304" pitchFamily="18" charset="0"/>
              </a:rPr>
              <a:pPr/>
              <a:t>23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A38A593A-E864-2E48-BFA9-50EABB1BD45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F52C03D7-A87A-9841-92D9-5CBCDD84DF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>
            <a:extLst>
              <a:ext uri="{FF2B5EF4-FFF2-40B4-BE49-F238E27FC236}">
                <a16:creationId xmlns:a16="http://schemas.microsoft.com/office/drawing/2014/main" id="{D0C46DE7-5895-4A47-9E40-835FE8CAE9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BAE71717-6D51-4E46-8A71-5AFF2714FD5A}" type="slidenum">
              <a:rPr lang="en-US" altLang="pt-BR" sz="1200">
                <a:latin typeface="Times New Roman" panose="02020603050405020304" pitchFamily="18" charset="0"/>
              </a:rPr>
              <a:pPr/>
              <a:t>24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53250" name="Rectangle 2">
            <a:extLst>
              <a:ext uri="{FF2B5EF4-FFF2-40B4-BE49-F238E27FC236}">
                <a16:creationId xmlns:a16="http://schemas.microsoft.com/office/drawing/2014/main" id="{EB78C49D-F19B-4F4A-8006-0AB4EEE0DFA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11CEA0DC-6046-BB47-BAB9-71EABDFC71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>
            <a:extLst>
              <a:ext uri="{FF2B5EF4-FFF2-40B4-BE49-F238E27FC236}">
                <a16:creationId xmlns:a16="http://schemas.microsoft.com/office/drawing/2014/main" id="{B3265FD9-87CF-BB4A-9AC1-9E36D054F5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466E5DD1-BD8C-C040-84B0-A9982697E43B}" type="slidenum">
              <a:rPr lang="en-US" altLang="pt-BR" sz="1200">
                <a:latin typeface="Times New Roman" panose="02020603050405020304" pitchFamily="18" charset="0"/>
              </a:rPr>
              <a:pPr/>
              <a:t>25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55298" name="Rectangle 2">
            <a:extLst>
              <a:ext uri="{FF2B5EF4-FFF2-40B4-BE49-F238E27FC236}">
                <a16:creationId xmlns:a16="http://schemas.microsoft.com/office/drawing/2014/main" id="{6C4D042F-9B3C-6244-8F1E-E6488E751B3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9B37402C-D8FB-4641-9071-0EFC71FB33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>
            <a:extLst>
              <a:ext uri="{FF2B5EF4-FFF2-40B4-BE49-F238E27FC236}">
                <a16:creationId xmlns:a16="http://schemas.microsoft.com/office/drawing/2014/main" id="{361E032C-2CD9-F64F-B18C-258053E9FA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4B8449B5-2BDF-534F-BF08-AE1DB6E35D3E}" type="slidenum">
              <a:rPr lang="en-US" altLang="pt-BR" sz="1200">
                <a:latin typeface="Times New Roman" panose="02020603050405020304" pitchFamily="18" charset="0"/>
              </a:rPr>
              <a:pPr/>
              <a:t>26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57346" name="Rectangle 2">
            <a:extLst>
              <a:ext uri="{FF2B5EF4-FFF2-40B4-BE49-F238E27FC236}">
                <a16:creationId xmlns:a16="http://schemas.microsoft.com/office/drawing/2014/main" id="{9584A6B4-7E47-0446-A307-C49F63D457C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A4A5F46D-253B-2B43-A06F-DEE74FA511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>
            <a:extLst>
              <a:ext uri="{FF2B5EF4-FFF2-40B4-BE49-F238E27FC236}">
                <a16:creationId xmlns:a16="http://schemas.microsoft.com/office/drawing/2014/main" id="{3F35D5CC-D36C-EA48-964B-053F8A9223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6CCAA8EF-1B9C-7345-AF72-4149A657867B}" type="slidenum">
              <a:rPr lang="en-US" altLang="pt-BR" sz="1200">
                <a:latin typeface="Times New Roman" panose="02020603050405020304" pitchFamily="18" charset="0"/>
              </a:rPr>
              <a:pPr/>
              <a:t>27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D8F064FA-BDF5-9945-B028-CC1ABA1114E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910A4388-339D-DD4C-856B-DCDB4E46D1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7">
            <a:extLst>
              <a:ext uri="{FF2B5EF4-FFF2-40B4-BE49-F238E27FC236}">
                <a16:creationId xmlns:a16="http://schemas.microsoft.com/office/drawing/2014/main" id="{85E7B2E2-ED35-DE42-AEA5-04F82D6F02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21CDD1E6-86B0-3F4D-A654-203CC755BD76}" type="slidenum">
              <a:rPr lang="en-US" altLang="pt-BR" sz="1200">
                <a:latin typeface="Times New Roman" panose="02020603050405020304" pitchFamily="18" charset="0"/>
              </a:rPr>
              <a:pPr/>
              <a:t>28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61E8FE34-C96B-3149-9D74-0970F059F68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BF1E7AA5-8B2C-F44A-8E7D-7035BE76E5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7">
            <a:extLst>
              <a:ext uri="{FF2B5EF4-FFF2-40B4-BE49-F238E27FC236}">
                <a16:creationId xmlns:a16="http://schemas.microsoft.com/office/drawing/2014/main" id="{F6CA0DEF-92F5-C646-BCC2-B1E1644130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03DBCBE7-523A-5149-9784-0D3E62DFD29C}" type="slidenum">
              <a:rPr lang="en-US" altLang="pt-BR" sz="1200">
                <a:latin typeface="Times New Roman" panose="02020603050405020304" pitchFamily="18" charset="0"/>
              </a:rPr>
              <a:pPr/>
              <a:t>29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63490" name="Rectangle 2">
            <a:extLst>
              <a:ext uri="{FF2B5EF4-FFF2-40B4-BE49-F238E27FC236}">
                <a16:creationId xmlns:a16="http://schemas.microsoft.com/office/drawing/2014/main" id="{08F79897-0E94-7640-AF42-C2D2EFB4A14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458C4001-619B-944D-B765-8DA8AD329B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7">
            <a:extLst>
              <a:ext uri="{FF2B5EF4-FFF2-40B4-BE49-F238E27FC236}">
                <a16:creationId xmlns:a16="http://schemas.microsoft.com/office/drawing/2014/main" id="{7FB167F2-CF60-E24D-9D1E-97C50D1E18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5F89481-FB29-5045-BEE1-694ECB26CF17}" type="slidenum">
              <a:rPr lang="en-US" altLang="pt-BR" sz="1200">
                <a:latin typeface="Times New Roman" panose="02020603050405020304" pitchFamily="18" charset="0"/>
              </a:rPr>
              <a:pPr/>
              <a:t>30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65538" name="Rectangle 2">
            <a:extLst>
              <a:ext uri="{FF2B5EF4-FFF2-40B4-BE49-F238E27FC236}">
                <a16:creationId xmlns:a16="http://schemas.microsoft.com/office/drawing/2014/main" id="{15FE6D59-932F-9642-8805-052DDCAE7B8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DA92D286-AF60-A843-B5D0-A0139A4FEF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>
            <a:extLst>
              <a:ext uri="{FF2B5EF4-FFF2-40B4-BE49-F238E27FC236}">
                <a16:creationId xmlns:a16="http://schemas.microsoft.com/office/drawing/2014/main" id="{AF21AB13-B82C-0549-A9AE-00D8BB9D06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26CB2521-D2B8-3E4B-BF4F-C01DD9D032B2}" type="slidenum">
              <a:rPr lang="en-US" altLang="pt-BR" sz="1200">
                <a:latin typeface="Times New Roman" panose="02020603050405020304" pitchFamily="18" charset="0"/>
              </a:rPr>
              <a:pPr/>
              <a:t>31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id="{2FA46CA0-698A-904A-B2DF-E330DB78145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C2E053EA-9582-7244-9A2C-C65358EDB1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>
            <a:extLst>
              <a:ext uri="{FF2B5EF4-FFF2-40B4-BE49-F238E27FC236}">
                <a16:creationId xmlns:a16="http://schemas.microsoft.com/office/drawing/2014/main" id="{7331DEA8-5BA2-0C49-A6B8-865FE8526D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767103BA-FA0F-E241-9248-EF773792CE76}" type="slidenum">
              <a:rPr lang="en-US" altLang="pt-BR" sz="1200">
                <a:latin typeface="Times New Roman" panose="02020603050405020304" pitchFamily="18" charset="0"/>
              </a:rPr>
              <a:pPr/>
              <a:t>32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69634" name="Rectangle 2">
            <a:extLst>
              <a:ext uri="{FF2B5EF4-FFF2-40B4-BE49-F238E27FC236}">
                <a16:creationId xmlns:a16="http://schemas.microsoft.com/office/drawing/2014/main" id="{190F8955-16BF-AD4D-A0D3-17B1B3AF94F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94BFF2E9-FC14-A94B-BD94-E90638CA2B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7">
            <a:extLst>
              <a:ext uri="{FF2B5EF4-FFF2-40B4-BE49-F238E27FC236}">
                <a16:creationId xmlns:a16="http://schemas.microsoft.com/office/drawing/2014/main" id="{43EC81C4-7FB9-B14D-8690-421CCB5259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5B2E80EA-840D-8749-8695-30269CC765CF}" type="slidenum">
              <a:rPr lang="en-US" altLang="pt-BR" sz="1200">
                <a:latin typeface="Times New Roman" panose="02020603050405020304" pitchFamily="18" charset="0"/>
              </a:rPr>
              <a:pPr/>
              <a:t>33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71682" name="Rectangle 2">
            <a:extLst>
              <a:ext uri="{FF2B5EF4-FFF2-40B4-BE49-F238E27FC236}">
                <a16:creationId xmlns:a16="http://schemas.microsoft.com/office/drawing/2014/main" id="{9CB10B2B-DC26-3748-B2D4-991D0381455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7688EBF4-C11E-D843-B950-67073B1EF9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>
            <a:extLst>
              <a:ext uri="{FF2B5EF4-FFF2-40B4-BE49-F238E27FC236}">
                <a16:creationId xmlns:a16="http://schemas.microsoft.com/office/drawing/2014/main" id="{F6C9FF45-9B8E-3641-84EC-92EC165AA4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0F215E3B-D8DC-6A4A-8862-A21CCA2E218D}" type="slidenum">
              <a:rPr lang="en-US" altLang="pt-BR" sz="1200">
                <a:latin typeface="Times New Roman" panose="02020603050405020304" pitchFamily="18" charset="0"/>
              </a:rPr>
              <a:pPr/>
              <a:t>34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73730" name="Rectangle 2">
            <a:extLst>
              <a:ext uri="{FF2B5EF4-FFF2-40B4-BE49-F238E27FC236}">
                <a16:creationId xmlns:a16="http://schemas.microsoft.com/office/drawing/2014/main" id="{5044D4B8-B92F-BC4A-B51F-901E2FDFF44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4374C440-6211-6F41-80C1-5C9F88DA10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>
            <a:extLst>
              <a:ext uri="{FF2B5EF4-FFF2-40B4-BE49-F238E27FC236}">
                <a16:creationId xmlns:a16="http://schemas.microsoft.com/office/drawing/2014/main" id="{68412A9F-3D2D-D743-B8F1-A46B00D4C6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243F8D9-41AE-AB4E-A880-81D4AC59A5BF}" type="slidenum">
              <a:rPr lang="en-US" altLang="pt-BR" sz="1200">
                <a:latin typeface="Times New Roman" panose="02020603050405020304" pitchFamily="18" charset="0"/>
              </a:rPr>
              <a:pPr/>
              <a:t>35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75778" name="Rectangle 2">
            <a:extLst>
              <a:ext uri="{FF2B5EF4-FFF2-40B4-BE49-F238E27FC236}">
                <a16:creationId xmlns:a16="http://schemas.microsoft.com/office/drawing/2014/main" id="{29E2F392-34F4-CD4D-8060-D0C6DECED6C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19FE5159-0738-BD4C-A843-273EDA67DF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>
            <a:extLst>
              <a:ext uri="{FF2B5EF4-FFF2-40B4-BE49-F238E27FC236}">
                <a16:creationId xmlns:a16="http://schemas.microsoft.com/office/drawing/2014/main" id="{EE4AC32A-170B-AB40-8D93-CFEC6277E5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46CB1B65-9B53-6C4B-BD50-6A72CDFD1F27}" type="slidenum">
              <a:rPr lang="en-US" altLang="pt-BR" sz="1200">
                <a:latin typeface="Times New Roman" panose="02020603050405020304" pitchFamily="18" charset="0"/>
              </a:rPr>
              <a:pPr/>
              <a:t>36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77826" name="Rectangle 2">
            <a:extLst>
              <a:ext uri="{FF2B5EF4-FFF2-40B4-BE49-F238E27FC236}">
                <a16:creationId xmlns:a16="http://schemas.microsoft.com/office/drawing/2014/main" id="{44010068-E9D8-A642-B6F3-20765110B95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2A3AB879-57C6-2C40-90DF-859CB3EC7E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>
            <a:extLst>
              <a:ext uri="{FF2B5EF4-FFF2-40B4-BE49-F238E27FC236}">
                <a16:creationId xmlns:a16="http://schemas.microsoft.com/office/drawing/2014/main" id="{5702638F-E3D1-A447-80E3-164855433F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99D5E962-830B-3145-9711-0ED9828C3B09}" type="slidenum">
              <a:rPr lang="en-US" altLang="pt-BR" sz="1200">
                <a:latin typeface="Times New Roman" panose="02020603050405020304" pitchFamily="18" charset="0"/>
              </a:rPr>
              <a:pPr/>
              <a:t>37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79874" name="Rectangle 2">
            <a:extLst>
              <a:ext uri="{FF2B5EF4-FFF2-40B4-BE49-F238E27FC236}">
                <a16:creationId xmlns:a16="http://schemas.microsoft.com/office/drawing/2014/main" id="{31AC068E-46E1-CB4E-B04C-D8A960B0DFB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72A4E5CD-DA66-334B-8956-2CC2E6E1FF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>
            <a:extLst>
              <a:ext uri="{FF2B5EF4-FFF2-40B4-BE49-F238E27FC236}">
                <a16:creationId xmlns:a16="http://schemas.microsoft.com/office/drawing/2014/main" id="{6D390A87-0B2F-CD41-A6FB-574BC3EDB8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6EA35BF5-9250-B549-BAB0-D45C7729F258}" type="slidenum">
              <a:rPr lang="en-US" altLang="pt-BR" sz="1200">
                <a:latin typeface="Times New Roman" panose="02020603050405020304" pitchFamily="18" charset="0"/>
              </a:rPr>
              <a:pPr/>
              <a:t>38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81922" name="Rectangle 2">
            <a:extLst>
              <a:ext uri="{FF2B5EF4-FFF2-40B4-BE49-F238E27FC236}">
                <a16:creationId xmlns:a16="http://schemas.microsoft.com/office/drawing/2014/main" id="{A5126CF2-B32A-8D4F-912C-EF18575D659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3EEBE2E4-1F8D-6540-8B0F-8EE1F8AEA2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>
            <a:extLst>
              <a:ext uri="{FF2B5EF4-FFF2-40B4-BE49-F238E27FC236}">
                <a16:creationId xmlns:a16="http://schemas.microsoft.com/office/drawing/2014/main" id="{A36CD8C9-9B11-4545-B31B-D2BD58DBDC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A62450DB-5F97-9E47-AA70-3291A21CBD35}" type="slidenum">
              <a:rPr lang="en-US" altLang="pt-BR" sz="1200">
                <a:latin typeface="Times New Roman" panose="02020603050405020304" pitchFamily="18" charset="0"/>
              </a:rPr>
              <a:pPr/>
              <a:t>39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83970" name="Rectangle 2">
            <a:extLst>
              <a:ext uri="{FF2B5EF4-FFF2-40B4-BE49-F238E27FC236}">
                <a16:creationId xmlns:a16="http://schemas.microsoft.com/office/drawing/2014/main" id="{9C24D157-C7C5-BB4D-B5EC-588D362A59C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DA414D12-7B60-8748-85D6-6D1672A22E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>
            <a:extLst>
              <a:ext uri="{FF2B5EF4-FFF2-40B4-BE49-F238E27FC236}">
                <a16:creationId xmlns:a16="http://schemas.microsoft.com/office/drawing/2014/main" id="{72BE0D62-5965-FF41-83AA-A3E37AF13C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83BC4A15-CCC2-474A-9310-0BCC1581C629}" type="slidenum">
              <a:rPr lang="en-US" altLang="pt-BR" sz="1200">
                <a:latin typeface="Times New Roman" panose="02020603050405020304" pitchFamily="18" charset="0"/>
              </a:rPr>
              <a:pPr/>
              <a:t>40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86018" name="Rectangle 2">
            <a:extLst>
              <a:ext uri="{FF2B5EF4-FFF2-40B4-BE49-F238E27FC236}">
                <a16:creationId xmlns:a16="http://schemas.microsoft.com/office/drawing/2014/main" id="{37F4CA62-B8E2-7D41-B73B-78FB9FD0B74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B2FB7D66-BE6C-104A-B9C4-6F07A228D9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7">
            <a:extLst>
              <a:ext uri="{FF2B5EF4-FFF2-40B4-BE49-F238E27FC236}">
                <a16:creationId xmlns:a16="http://schemas.microsoft.com/office/drawing/2014/main" id="{B1FA2716-E49D-1E49-8A51-B9B6BC22C1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4C07E398-7342-5643-B0B9-E7EC5E2CFC23}" type="slidenum">
              <a:rPr lang="en-US" altLang="pt-BR" sz="1200">
                <a:latin typeface="Times New Roman" panose="02020603050405020304" pitchFamily="18" charset="0"/>
              </a:rPr>
              <a:pPr/>
              <a:t>41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88066" name="Rectangle 2">
            <a:extLst>
              <a:ext uri="{FF2B5EF4-FFF2-40B4-BE49-F238E27FC236}">
                <a16:creationId xmlns:a16="http://schemas.microsoft.com/office/drawing/2014/main" id="{0137A58C-5171-E449-9D28-BFFE595BC3B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5EA239FC-1C2E-1D4F-A9C7-6BF38998FC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7">
            <a:extLst>
              <a:ext uri="{FF2B5EF4-FFF2-40B4-BE49-F238E27FC236}">
                <a16:creationId xmlns:a16="http://schemas.microsoft.com/office/drawing/2014/main" id="{BC7E169D-86BC-8341-8868-6F389DB122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B14E273-B5C0-7844-9224-6890DE2D8423}" type="slidenum">
              <a:rPr lang="en-US" altLang="pt-BR" sz="1200">
                <a:latin typeface="Times New Roman" panose="02020603050405020304" pitchFamily="18" charset="0"/>
              </a:rPr>
              <a:pPr/>
              <a:t>42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90114" name="Rectangle 2">
            <a:extLst>
              <a:ext uri="{FF2B5EF4-FFF2-40B4-BE49-F238E27FC236}">
                <a16:creationId xmlns:a16="http://schemas.microsoft.com/office/drawing/2014/main" id="{35366B59-30C3-994B-A9C2-E1F2BA4AD3A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5F571166-81EB-A34F-BCA7-DBBAEA8F79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7">
            <a:extLst>
              <a:ext uri="{FF2B5EF4-FFF2-40B4-BE49-F238E27FC236}">
                <a16:creationId xmlns:a16="http://schemas.microsoft.com/office/drawing/2014/main" id="{A0382BCE-9353-FD4A-A9A6-10324611B1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1A4063A6-61FA-574E-8FB0-4922CB263953}" type="slidenum">
              <a:rPr lang="en-US" altLang="pt-BR" sz="1200">
                <a:latin typeface="Times New Roman" panose="02020603050405020304" pitchFamily="18" charset="0"/>
              </a:rPr>
              <a:pPr/>
              <a:t>43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92162" name="Rectangle 2">
            <a:extLst>
              <a:ext uri="{FF2B5EF4-FFF2-40B4-BE49-F238E27FC236}">
                <a16:creationId xmlns:a16="http://schemas.microsoft.com/office/drawing/2014/main" id="{6CD44B4C-E8A5-D741-8B0D-EFFAA37B684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2718A35F-29DD-7E43-97A2-96656800EC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7">
            <a:extLst>
              <a:ext uri="{FF2B5EF4-FFF2-40B4-BE49-F238E27FC236}">
                <a16:creationId xmlns:a16="http://schemas.microsoft.com/office/drawing/2014/main" id="{07460323-F2D2-7544-9AA3-787DD2DB8B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6BE6765-C5E4-6D4C-9FDA-E2170C560AC8}" type="slidenum">
              <a:rPr lang="en-US" altLang="pt-BR" sz="1200">
                <a:latin typeface="Times New Roman" panose="02020603050405020304" pitchFamily="18" charset="0"/>
              </a:rPr>
              <a:pPr/>
              <a:t>44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94210" name="Rectangle 2">
            <a:extLst>
              <a:ext uri="{FF2B5EF4-FFF2-40B4-BE49-F238E27FC236}">
                <a16:creationId xmlns:a16="http://schemas.microsoft.com/office/drawing/2014/main" id="{BCB42B2C-F3EA-6946-89AB-FED84A34B56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00EC93AE-4CE6-3A42-AE2A-D256A4CC91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5DB8DE4F-704E-3943-879D-B8B1DF816EF9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49BE2212-5FA6-F54D-99D1-075324D395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pt-BR" altLang="pt-BR" sz="1800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3C24351F-9E92-C54A-AE4C-D46F6902A3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pt-BR" altLang="pt-BR" sz="1800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D1026750-708E-944D-8C3B-5C9C7BC8D3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pt-BR" altLang="pt-BR" sz="1800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7DECBF07-7E41-2549-BA5F-E061F26825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pt-BR" sz="1000" b="1">
                <a:solidFill>
                  <a:srgbClr val="336699"/>
                </a:solidFill>
                <a:latin typeface="Helvetica" pitchFamily="2" charset="0"/>
              </a:rPr>
              <a:t>Silberschatz, Galvin and Gagne ©2013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AE49B7C1-F4BF-7F49-975E-23F4E5217C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6352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pt-BR" sz="1000" b="1">
                <a:solidFill>
                  <a:srgbClr val="336699"/>
                </a:solidFill>
                <a:latin typeface="Helvetica" pitchFamily="2" charset="0"/>
              </a:rPr>
              <a:t>Operating System Concepts – 9</a:t>
            </a:r>
            <a:r>
              <a:rPr lang="en-US" altLang="pt-BR" sz="1000" b="1" baseline="30000">
                <a:solidFill>
                  <a:srgbClr val="336699"/>
                </a:solidFill>
                <a:latin typeface="Helvetica" pitchFamily="2" charset="0"/>
              </a:rPr>
              <a:t>th</a:t>
            </a:r>
            <a:r>
              <a:rPr lang="en-US" altLang="pt-BR" sz="1000" b="1">
                <a:solidFill>
                  <a:srgbClr val="336699"/>
                </a:solidFill>
                <a:latin typeface="Helvetica" pitchFamily="2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BE373D5B-6014-E944-85E0-1EAD01031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5AE36E39-34E6-1F43-BB4A-B0B4F654F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16375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pt-BR" altLang="pt-BR" sz="1800"/>
          </a:p>
        </p:txBody>
      </p:sp>
      <p:sp>
        <p:nvSpPr>
          <p:cNvPr id="133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88377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56003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05477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6276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1365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49239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3651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6263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66089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9024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8578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C62645E3-7DF1-E64F-964D-090CF48E6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1B148C52-473F-1742-A310-56C2EEEAA6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E175EED-7256-BA49-A001-24D5841C2C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Click to edit Master text styles</a:t>
            </a:r>
          </a:p>
          <a:p>
            <a:pPr lvl="1"/>
            <a:r>
              <a:rPr lang="en-US" altLang="pt-BR"/>
              <a:t>Second level</a:t>
            </a:r>
          </a:p>
          <a:p>
            <a:pPr lvl="2"/>
            <a:r>
              <a:rPr lang="en-US" altLang="pt-BR"/>
              <a:t>Third level</a:t>
            </a:r>
          </a:p>
          <a:p>
            <a:pPr lvl="3"/>
            <a:r>
              <a:rPr lang="en-US" altLang="pt-BR"/>
              <a:t>Fourth level</a:t>
            </a:r>
          </a:p>
          <a:p>
            <a:pPr lvl="4"/>
            <a:r>
              <a:rPr lang="en-US" altLang="pt-BR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C216843-9E79-8244-8DA9-24FD874C5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pt-BR" altLang="pt-BR">
              <a:latin typeface="Times New Roman" panose="02020603050405020304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3870298E-B81D-B84B-9E2B-4B17416A483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E0814359-7BF4-834E-8075-DC4208206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pt-BR" altLang="pt-BR">
              <a:latin typeface="Times New Roman" panose="02020603050405020304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8686A2F3-B8B9-A547-A2D6-B67A269807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pt-BR" altLang="pt-BR">
              <a:latin typeface="Times New Roman" panose="02020603050405020304" pitchFamily="18" charset="0"/>
            </a:endParaRPr>
          </a:p>
        </p:txBody>
      </p:sp>
      <p:sp>
        <p:nvSpPr>
          <p:cNvPr id="132105" name="Text Box 9">
            <a:extLst>
              <a:ext uri="{FF2B5EF4-FFF2-40B4-BE49-F238E27FC236}">
                <a16:creationId xmlns:a16="http://schemas.microsoft.com/office/drawing/2014/main" id="{7048520B-7FB3-0D48-AA14-691FA7C7BA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1163" y="6613525"/>
            <a:ext cx="517525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pt-BR" sz="1000" b="1">
                <a:solidFill>
                  <a:srgbClr val="006699"/>
                </a:solidFill>
                <a:latin typeface="Helvetica" pitchFamily="2" charset="0"/>
              </a:rPr>
              <a:t>11.</a:t>
            </a:r>
            <a:fld id="{5A6F7F2D-557D-4F40-A419-BE6FAED1C820}" type="slidenum">
              <a:rPr lang="en-US" altLang="pt-BR" sz="1000" b="1">
                <a:solidFill>
                  <a:srgbClr val="006699"/>
                </a:solidFill>
                <a:latin typeface="Helvetica" pitchFamily="2" charset="0"/>
              </a:rPr>
              <a:pPr algn="ctr">
                <a:spcBef>
                  <a:spcPct val="50000"/>
                </a:spcBef>
              </a:pPr>
              <a:t>‹nº›</a:t>
            </a:fld>
            <a:endParaRPr lang="en-US" altLang="pt-BR" sz="1000" b="1">
              <a:solidFill>
                <a:srgbClr val="006699"/>
              </a:solidFill>
              <a:latin typeface="Helvetica" pitchFamily="2" charset="0"/>
            </a:endParaRPr>
          </a:p>
        </p:txBody>
      </p:sp>
      <p:sp>
        <p:nvSpPr>
          <p:cNvPr id="132106" name="Text Box 10">
            <a:extLst>
              <a:ext uri="{FF2B5EF4-FFF2-40B4-BE49-F238E27FC236}">
                <a16:creationId xmlns:a16="http://schemas.microsoft.com/office/drawing/2014/main" id="{42FB5825-E91D-2847-A003-B58B04F238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pt-BR" sz="1000" b="1">
                <a:solidFill>
                  <a:srgbClr val="006699"/>
                </a:solidFill>
                <a:latin typeface="Helvetica" pitchFamily="2" charset="0"/>
              </a:rPr>
              <a:t>Silberschatz, Galvin and Gagne ©2013</a:t>
            </a:r>
          </a:p>
        </p:txBody>
      </p:sp>
      <p:sp>
        <p:nvSpPr>
          <p:cNvPr id="132107" name="Text Box 11">
            <a:extLst>
              <a:ext uri="{FF2B5EF4-FFF2-40B4-BE49-F238E27FC236}">
                <a16:creationId xmlns:a16="http://schemas.microsoft.com/office/drawing/2014/main" id="{7768F809-9581-5047-8B03-BC656F9571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6352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pt-BR" sz="1000" b="1">
                <a:solidFill>
                  <a:srgbClr val="006699"/>
                </a:solidFill>
                <a:latin typeface="Helvetica" pitchFamily="2" charset="0"/>
              </a:rPr>
              <a:t>Operating System Concepts – 9</a:t>
            </a:r>
            <a:r>
              <a:rPr lang="en-US" altLang="pt-BR" sz="1000" b="1" baseline="30000">
                <a:solidFill>
                  <a:srgbClr val="006699"/>
                </a:solidFill>
                <a:latin typeface="Helvetica" pitchFamily="2" charset="0"/>
              </a:rPr>
              <a:t>th</a:t>
            </a:r>
            <a:r>
              <a:rPr lang="en-US" altLang="pt-BR" sz="1000" b="1">
                <a:solidFill>
                  <a:srgbClr val="006699"/>
                </a:solidFill>
                <a:latin typeface="Helvetica" pitchFamily="2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344B77A8-D768-9247-AC9F-D064C865C2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pitchFamily="2" charset="2"/>
        <a:buChar char="n"/>
        <a:defRPr kumimoji="1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pitchFamily="2" charset="2"/>
        <a:buChar char="l"/>
        <a:defRPr kumimoji="1">
          <a:solidFill>
            <a:schemeClr val="tx1"/>
          </a:solidFill>
          <a:latin typeface="+mn-lt"/>
          <a:ea typeface="ＭＳ Ｐゴシック" charset="0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itchFamily="2" charset="2"/>
        <a:buChar char="4"/>
        <a:defRPr kumimoji="1">
          <a:solidFill>
            <a:schemeClr val="tx1"/>
          </a:solidFill>
          <a:latin typeface="+mn-lt"/>
          <a:ea typeface="ＭＳ Ｐゴシック" charset="0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ＭＳ Ｐゴシック" charset="0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0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92505F7B-A81C-B047-BA88-53E4D538CE0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Capítulo 11: 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Interface do Sistema de Arquivos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>
            <a:extLst>
              <a:ext uri="{FF2B5EF4-FFF2-40B4-BE49-F238E27FC236}">
                <a16:creationId xmlns:a16="http://schemas.microsoft.com/office/drawing/2014/main" id="{AD68F9B9-C3CB-0741-8EE3-3A6AAB0B72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7238" y="277813"/>
            <a:ext cx="7929562" cy="576262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Capítulo 11: Interface do Sistema de Arquivos</a:t>
            </a:r>
          </a:p>
        </p:txBody>
      </p:sp>
      <p:sp>
        <p:nvSpPr>
          <p:cNvPr id="7170" name="Rectangle 3">
            <a:extLst>
              <a:ext uri="{FF2B5EF4-FFF2-40B4-BE49-F238E27FC236}">
                <a16:creationId xmlns:a16="http://schemas.microsoft.com/office/drawing/2014/main" id="{34C470CE-B29A-8045-9148-3C50DD97F4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5705475" cy="3494087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Conceito de arquivo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Métodos de acesso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Estrutura de disco e diretório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Montagem do sistema de arquivos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Compartilhamento de arquivos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Proteção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>
            <a:extLst>
              <a:ext uri="{FF2B5EF4-FFF2-40B4-BE49-F238E27FC236}">
                <a16:creationId xmlns:a16="http://schemas.microsoft.com/office/drawing/2014/main" id="{AFD6C005-B05F-4B41-80D4-F8895FE4EE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Objetivos</a:t>
            </a:r>
          </a:p>
        </p:txBody>
      </p:sp>
      <p:sp>
        <p:nvSpPr>
          <p:cNvPr id="9218" name="Rectangle 3">
            <a:extLst>
              <a:ext uri="{FF2B5EF4-FFF2-40B4-BE49-F238E27FC236}">
                <a16:creationId xmlns:a16="http://schemas.microsoft.com/office/drawing/2014/main" id="{916E462B-1109-B645-A62B-CBF6F7B12F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Para explicar a função dos sistemas de arquivos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Para descrever as interfaces para sistemas de arquivos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Para discutir as compensações do design do sistema de arquivos, incluindo métodos de acesso, compartilhamento de arquivos, bloqueio de arquivos e estruturas de diretório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Para explorar a proteção do sistema de arquivos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>
            <a:extLst>
              <a:ext uri="{FF2B5EF4-FFF2-40B4-BE49-F238E27FC236}">
                <a16:creationId xmlns:a16="http://schemas.microsoft.com/office/drawing/2014/main" id="{232D7946-88D2-B64F-8662-80FF545F3A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Conceito de arquivo</a:t>
            </a:r>
          </a:p>
        </p:txBody>
      </p:sp>
      <p:sp>
        <p:nvSpPr>
          <p:cNvPr id="11266" name="Rectangle 3">
            <a:extLst>
              <a:ext uri="{FF2B5EF4-FFF2-40B4-BE49-F238E27FC236}">
                <a16:creationId xmlns:a16="http://schemas.microsoft.com/office/drawing/2014/main" id="{B54CAD6F-CFA4-5740-A03C-17A0CAD62F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Espaço de endereço lógico contíguo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Tipos: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Dados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numérico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personagem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binário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Programa</a:t>
            </a: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Conteúdo definido pelo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criador do </a:t>
            </a:r>
            <a:r xmlns:a="http://schemas.openxmlformats.org/drawingml/2006/main">
              <a:rPr lang="pt" altLang="en-US">
                <a:ea typeface="ＭＳ Ｐゴシック" panose="020B0600070205080204" pitchFamily="34" charset="-128"/>
              </a:rPr>
              <a:t>arquivo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Muitos tipos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Considere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arquivo de texto, arquivo de origem, arquivo executável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08F30AF2-C3C8-DB4D-BB65-A9D5C1672C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Atributos de arquivo</a:t>
            </a:r>
          </a:p>
        </p:txBody>
      </p:sp>
      <p:sp>
        <p:nvSpPr>
          <p:cNvPr id="13314" name="Rectangle 3">
            <a:extLst>
              <a:ext uri="{FF2B5EF4-FFF2-40B4-BE49-F238E27FC236}">
                <a16:creationId xmlns:a16="http://schemas.microsoft.com/office/drawing/2014/main" id="{FAD6CD19-438F-6D40-BE91-2D1960B3B0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Nome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apenas informações mantidas em formato legível por humanos</a:t>
            </a:r>
          </a:p>
          <a:p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Identificador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etiqueta única (número) identifica o arquivo dentro do sistema de arquivos</a:t>
            </a:r>
          </a:p>
          <a:p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Tipo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necessário para sistemas que suportam diferentes tipos</a:t>
            </a:r>
          </a:p>
          <a:p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Localização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ponteiro para a localização do arquivo no dispositivo</a:t>
            </a:r>
          </a:p>
          <a:p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Tamanho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tamanho do arquivo atual</a:t>
            </a:r>
          </a:p>
          <a:p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Proteção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controla quem pode ler, escrever e executar</a:t>
            </a:r>
          </a:p>
          <a:p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Hora, data e identificação do usuário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dados para proteção, segurança e monitoramento de uso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As informações sobre os arquivos são mantidas na estrutura de diretórios, que é mantida no disco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Muitas variações, incluindo atributos de arquivo estendidos, como soma de verificação de arquivo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Informações mantidas na estrutura do diretório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B1E60941-CA5A-304A-BB25-015EE6DB96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Janela de informações do arquivo no Mac OS X</a:t>
            </a:r>
          </a:p>
        </p:txBody>
      </p:sp>
      <p:pic>
        <p:nvPicPr>
          <p:cNvPr id="15362" name="Picture 4" descr="11_01.pdf">
            <a:extLst>
              <a:ext uri="{FF2B5EF4-FFF2-40B4-BE49-F238E27FC236}">
                <a16:creationId xmlns:a16="http://schemas.microsoft.com/office/drawing/2014/main" id="{989D0333-3FEA-224C-8CB1-3B66C3D392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6938" y="896938"/>
            <a:ext cx="2120900" cy="569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24541BBE-6AA1-0A4D-AC62-B4FF7CD304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Operações de arquivo</a:t>
            </a:r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E932F764-5E42-3B46-B3EB-33F2049F08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727950" cy="4530725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Arquivo é um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tipo de dado abstrato</a:t>
            </a:r>
          </a:p>
          <a:p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Criar</a:t>
            </a:r>
          </a:p>
          <a:p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Escreva –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em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escrever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localização do ponteiro</a:t>
            </a:r>
          </a:p>
          <a:p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Leia –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em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leia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localização do ponteiro</a:t>
            </a:r>
          </a:p>
          <a:p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Reposicionar dentro do arquivo -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procurar</a:t>
            </a:r>
          </a:p>
          <a:p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Excluir</a:t>
            </a:r>
          </a:p>
          <a:p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Truncar</a:t>
            </a:r>
          </a:p>
          <a:p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Aberto(F </a:t>
            </a:r>
            <a:r xmlns:a="http://schemas.openxmlformats.org/drawingml/2006/main">
              <a:rPr lang="pt" altLang="pt-BR" b="1" i="1" baseline="-25000">
                <a:ea typeface="ＭＳ Ｐゴシック" panose="020B0600070205080204" pitchFamily="34" charset="-128"/>
              </a:rPr>
              <a:t>i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)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pesquisar a estrutura de diretório no disco para a entrada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F </a:t>
            </a:r>
            <a:r xmlns:a="http://schemas.openxmlformats.org/drawingml/2006/main">
              <a:rPr lang="pt" altLang="pt-BR" b="1" i="1" baseline="-25000">
                <a:ea typeface="ＭＳ Ｐゴシック" panose="020B0600070205080204" pitchFamily="34" charset="-128"/>
              </a:rPr>
              <a:t>i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 mover o conteúdo da entrada para a memória</a:t>
            </a:r>
          </a:p>
          <a:p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Fechar (F </a:t>
            </a:r>
            <a:r xmlns:a="http://schemas.openxmlformats.org/drawingml/2006/main">
              <a:rPr lang="pt" altLang="pt-BR" b="1" i="1" baseline="-25000">
                <a:ea typeface="ＭＳ Ｐゴシック" panose="020B0600070205080204" pitchFamily="34" charset="-128"/>
              </a:rPr>
              <a:t>i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)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mover o conteúdo da entrada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F </a:t>
            </a:r>
            <a:r xmlns:a="http://schemas.openxmlformats.org/drawingml/2006/main">
              <a:rPr lang="pt" altLang="pt-BR" b="1" i="1" baseline="-25000">
                <a:ea typeface="ＭＳ Ｐゴシック" panose="020B0600070205080204" pitchFamily="34" charset="-128"/>
              </a:rPr>
              <a:t>i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na memória para a estrutura de diretório no disco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51DD1E31-4CE4-1342-82B5-2B177F2812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Abrir arquivos</a:t>
            </a:r>
          </a:p>
        </p:txBody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6BD8365F-79B7-4545-95A3-40B23DA1F1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727950" cy="4530725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Vários dados são necessários para gerenciar arquivos abertos: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Tabela de arquivos abertos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: rastreia arquivos abertos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Ponteiro de arquivo: ponteiro para o último local de leitura/gravação, por processo que tem o arquivo aberto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Contagem de arquivos abertos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: contador do número de vezes que um arquivo é aberto – para permitir a remoção de dados da tabela de arquivos abertos quando o último processo o fecha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Localização do arquivo no disco: cache de informações de acesso a dados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Direitos de acesso: informações sobre o modo de acesso por processo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7D99DA37-A8AD-4249-BE9E-6590D2001D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Bloqueio de arquivo aberto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A2E3B211-4D74-614F-BAF4-AB93D7F3B6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797800" cy="4530725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Fornecido por alguns sistemas operacionais e sistemas de arquivos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Semelhante aos bloqueios de leitor-escritor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Compartilhado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bloqueio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semelhante ao bloqueio do leitor – vários processos podem adquirir simultaneamente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Cadeado exclusivo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semelhante ao bloqueio de escritor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Media o acesso a um arquivo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Obrigatório ou consultivo: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Obrigatório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o acesso é negado dependendo dos bloqueios mantidos e solicitados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Consultivo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os processos podem encontrar o status dos bloqueios e decidir o que fazer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1DADD8F1-30AA-174A-83F6-C06ED5EFD2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81088" y="277813"/>
            <a:ext cx="7605712" cy="576262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Exemplo de bloqueio de arquivo – API Java</a:t>
            </a:r>
          </a:p>
        </p:txBody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D0DF7C21-844F-7B43-A8DA-B91935FF18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xmlns:a="http://schemas.openxmlformats.org/drawingml/2006/main">
              <a:lnSpc>
                <a:spcPct val="80000"/>
              </a:lnSpc>
              <a:buFont typeface="Monotype Sorts" pitchFamily="2" charset="2"/>
              <a:buNone/>
            </a:pPr>
            <a:r xmlns:a="http://schemas.openxmlformats.org/drawingml/2006/main">
              <a:rPr lang="pt" altLang="pt-BR" sz="1400">
                <a:solidFill>
                  <a:srgbClr val="0033CC"/>
                </a:solidFill>
                <a:ea typeface="ＭＳ Ｐゴシック" panose="020B0600070205080204" pitchFamily="34" charset="-128"/>
              </a:rPr>
              <a:t>importar java.io.*;</a:t>
            </a:r>
          </a:p>
          <a:p>
            <a:pPr xmlns:a="http://schemas.openxmlformats.org/drawingml/2006/main">
              <a:lnSpc>
                <a:spcPct val="80000"/>
              </a:lnSpc>
              <a:buFont typeface="Monotype Sorts" pitchFamily="2" charset="2"/>
              <a:buNone/>
            </a:pPr>
            <a:r xmlns:a="http://schemas.openxmlformats.org/drawingml/2006/main">
              <a:rPr lang="pt" altLang="pt-BR" sz="1400">
                <a:solidFill>
                  <a:srgbClr val="0033CC"/>
                </a:solidFill>
                <a:ea typeface="ＭＳ Ｐゴシック" panose="020B0600070205080204" pitchFamily="34" charset="-128"/>
              </a:rPr>
              <a:t>importar java.nio.channels.*;</a:t>
            </a:r>
          </a:p>
          <a:p>
            <a:pPr xmlns:a="http://schemas.openxmlformats.org/drawingml/2006/main">
              <a:lnSpc>
                <a:spcPct val="80000"/>
              </a:lnSpc>
              <a:buFont typeface="Monotype Sorts" pitchFamily="2" charset="2"/>
              <a:buNone/>
            </a:pPr>
            <a:r xmlns:a="http://schemas.openxmlformats.org/drawingml/2006/main">
              <a:rPr lang="pt" altLang="pt-BR" sz="1400">
                <a:solidFill>
                  <a:srgbClr val="0033CC"/>
                </a:solidFill>
                <a:ea typeface="ＭＳ Ｐゴシック" panose="020B0600070205080204" pitchFamily="34" charset="-128"/>
              </a:rPr>
              <a:t>classe pública LockingExample </a:t>
            </a:r>
            <a:r xmlns:a="http://schemas.openxmlformats.org/drawingml/2006/main">
              <a:rPr lang="pt" altLang="pt-BR" sz="1400" i="1">
                <a:solidFill>
                  <a:srgbClr val="0033CC"/>
                </a:solidFill>
                <a:ea typeface="ＭＳ Ｐゴシック" panose="020B0600070205080204" pitchFamily="34" charset="-128"/>
              </a:rPr>
              <a:t>{</a:t>
            </a:r>
          </a:p>
          <a:p>
            <a:pPr xmlns:a="http://schemas.openxmlformats.org/drawingml/2006/main">
              <a:lnSpc>
                <a:spcPct val="80000"/>
              </a:lnSpc>
              <a:buFont typeface="Monotype Sorts" pitchFamily="2" charset="2"/>
              <a:buNone/>
            </a:pPr>
            <a:r xmlns:a="http://schemas.openxmlformats.org/drawingml/2006/main">
              <a:rPr lang="pt" altLang="pt-BR" sz="1400" i="1">
                <a:solidFill>
                  <a:srgbClr val="0033CC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 sz="1400">
                <a:solidFill>
                  <a:srgbClr val="0033CC"/>
                </a:solidFill>
                <a:ea typeface="ＭＳ Ｐゴシック" panose="020B0600070205080204" pitchFamily="34" charset="-128"/>
              </a:rPr>
              <a:t>público estático final booleano EXCLUSIVO = falso;</a:t>
            </a:r>
          </a:p>
          <a:p>
            <a:pPr xmlns:a="http://schemas.openxmlformats.org/drawingml/2006/main">
              <a:lnSpc>
                <a:spcPct val="80000"/>
              </a:lnSpc>
              <a:buFont typeface="Monotype Sorts" pitchFamily="2" charset="2"/>
              <a:buNone/>
            </a:pPr>
            <a:r xmlns:a="http://schemas.openxmlformats.org/drawingml/2006/main">
              <a:rPr lang="pt" altLang="pt-BR" sz="1400">
                <a:solidFill>
                  <a:srgbClr val="0033CC"/>
                </a:solidFill>
                <a:ea typeface="ＭＳ Ｐゴシック" panose="020B0600070205080204" pitchFamily="34" charset="-128"/>
              </a:rPr>
              <a:t>público estático final booleano COMPARTILHADO = verdadeiro;</a:t>
            </a:r>
          </a:p>
          <a:p>
            <a:pPr xmlns:a="http://schemas.openxmlformats.org/drawingml/2006/main">
              <a:lnSpc>
                <a:spcPct val="80000"/>
              </a:lnSpc>
              <a:buFont typeface="Monotype Sorts" pitchFamily="2" charset="2"/>
              <a:buNone/>
            </a:pPr>
            <a:r xmlns:a="http://schemas.openxmlformats.org/drawingml/2006/main">
              <a:rPr lang="pt" altLang="pt-BR" sz="1400">
                <a:solidFill>
                  <a:srgbClr val="0033CC"/>
                </a:solidFill>
                <a:ea typeface="ＭＳ Ｐゴシック" panose="020B0600070205080204" pitchFamily="34" charset="-128"/>
              </a:rPr>
              <a:t>público estático vazio main(String arsg[]) lança IOException </a:t>
            </a:r>
            <a:r xmlns:a="http://schemas.openxmlformats.org/drawingml/2006/main">
              <a:rPr lang="pt" altLang="pt-BR" sz="1400" i="1">
                <a:solidFill>
                  <a:srgbClr val="0033CC"/>
                </a:solidFill>
                <a:ea typeface="ＭＳ Ｐゴシック" panose="020B0600070205080204" pitchFamily="34" charset="-128"/>
              </a:rPr>
              <a:t>{</a:t>
            </a:r>
          </a:p>
          <a:p>
            <a:pPr xmlns:a="http://schemas.openxmlformats.org/drawingml/2006/main">
              <a:lnSpc>
                <a:spcPct val="80000"/>
              </a:lnSpc>
              <a:buFont typeface="Monotype Sorts" pitchFamily="2" charset="2"/>
              <a:buNone/>
            </a:pPr>
            <a:r xmlns:a="http://schemas.openxmlformats.org/drawingml/2006/main">
              <a:rPr lang="pt" altLang="pt-BR" sz="1400">
                <a:solidFill>
                  <a:srgbClr val="0033CC"/>
                </a:solidFill>
                <a:ea typeface="ＭＳ Ｐゴシック" panose="020B0600070205080204" pitchFamily="34" charset="-128"/>
              </a:rPr>
              <a:t>FileLock sharedLock = nulo;</a:t>
            </a:r>
          </a:p>
          <a:p>
            <a:pPr xmlns:a="http://schemas.openxmlformats.org/drawingml/2006/main">
              <a:lnSpc>
                <a:spcPct val="80000"/>
              </a:lnSpc>
              <a:buFont typeface="Monotype Sorts" pitchFamily="2" charset="2"/>
              <a:buNone/>
            </a:pPr>
            <a:r xmlns:a="http://schemas.openxmlformats.org/drawingml/2006/main">
              <a:rPr lang="pt" altLang="pt-BR" sz="1400">
                <a:solidFill>
                  <a:srgbClr val="0033CC"/>
                </a:solidFill>
                <a:ea typeface="ＭＳ Ｐゴシック" panose="020B0600070205080204" pitchFamily="34" charset="-128"/>
              </a:rPr>
              <a:t>FileLock exclusivoLock = null;</a:t>
            </a:r>
          </a:p>
          <a:p>
            <a:pPr xmlns:a="http://schemas.openxmlformats.org/drawingml/2006/main">
              <a:lnSpc>
                <a:spcPct val="80000"/>
              </a:lnSpc>
              <a:buFont typeface="Monotype Sorts" pitchFamily="2" charset="2"/>
              <a:buNone/>
            </a:pPr>
            <a:r xmlns:a="http://schemas.openxmlformats.org/drawingml/2006/main">
              <a:rPr lang="pt" altLang="pt-BR" sz="1400">
                <a:solidFill>
                  <a:srgbClr val="0033CC"/>
                </a:solidFill>
                <a:ea typeface="ＭＳ Ｐゴシック" panose="020B0600070205080204" pitchFamily="34" charset="-128"/>
              </a:rPr>
              <a:t>tentar </a:t>
            </a:r>
            <a:r xmlns:a="http://schemas.openxmlformats.org/drawingml/2006/main">
              <a:rPr lang="pt" altLang="pt-BR" sz="1400" i="1">
                <a:solidFill>
                  <a:srgbClr val="0033CC"/>
                </a:solidFill>
                <a:ea typeface="ＭＳ Ｐゴシック" panose="020B0600070205080204" pitchFamily="34" charset="-128"/>
              </a:rPr>
              <a:t>{</a:t>
            </a:r>
          </a:p>
          <a:p>
            <a:pPr xmlns:a="http://schemas.openxmlformats.org/drawingml/2006/main">
              <a:lnSpc>
                <a:spcPct val="80000"/>
              </a:lnSpc>
              <a:buFont typeface="Monotype Sorts" pitchFamily="2" charset="2"/>
              <a:buNone/>
            </a:pPr>
            <a:r xmlns:a="http://schemas.openxmlformats.org/drawingml/2006/main">
              <a:rPr lang="pt" altLang="pt-BR" sz="1400">
                <a:solidFill>
                  <a:srgbClr val="0033CC"/>
                </a:solidFill>
                <a:ea typeface="ＭＳ Ｐゴシック" panose="020B0600070205080204" pitchFamily="34" charset="-128"/>
              </a:rPr>
              <a:t>RandomAccessFile raf = novo RandomAccessFile("arquivo.txt", "rw");</a:t>
            </a:r>
          </a:p>
          <a:p>
            <a:pPr xmlns:a="http://schemas.openxmlformats.org/drawingml/2006/main">
              <a:lnSpc>
                <a:spcPct val="80000"/>
              </a:lnSpc>
              <a:buFont typeface="Monotype Sorts" pitchFamily="2" charset="2"/>
              <a:buNone/>
            </a:pPr>
            <a:r xmlns:a="http://schemas.openxmlformats.org/drawingml/2006/main">
              <a:rPr lang="pt" altLang="pt-BR" sz="1400">
                <a:solidFill>
                  <a:srgbClr val="0033CC"/>
                </a:solidFill>
                <a:ea typeface="ＭＳ Ｐゴシック" panose="020B0600070205080204" pitchFamily="34" charset="-128"/>
              </a:rPr>
              <a:t>// obtém o canal para o arquivo</a:t>
            </a:r>
          </a:p>
          <a:p>
            <a:pPr xmlns:a="http://schemas.openxmlformats.org/drawingml/2006/main">
              <a:lnSpc>
                <a:spcPct val="80000"/>
              </a:lnSpc>
              <a:buFont typeface="Monotype Sorts" pitchFamily="2" charset="2"/>
              <a:buNone/>
            </a:pPr>
            <a:r xmlns:a="http://schemas.openxmlformats.org/drawingml/2006/main">
              <a:rPr lang="pt" altLang="pt-BR" sz="1400">
                <a:solidFill>
                  <a:srgbClr val="0033CC"/>
                </a:solidFill>
                <a:ea typeface="ＭＳ Ｐゴシック" panose="020B0600070205080204" pitchFamily="34" charset="-128"/>
              </a:rPr>
              <a:t>FileChannel ch = raf.getChannel();</a:t>
            </a:r>
          </a:p>
          <a:p>
            <a:pPr xmlns:a="http://schemas.openxmlformats.org/drawingml/2006/main">
              <a:lnSpc>
                <a:spcPct val="80000"/>
              </a:lnSpc>
              <a:buFont typeface="Monotype Sorts" pitchFamily="2" charset="2"/>
              <a:buNone/>
            </a:pPr>
            <a:r xmlns:a="http://schemas.openxmlformats.org/drawingml/2006/main">
              <a:rPr lang="pt" altLang="pt-BR" sz="1400">
                <a:solidFill>
                  <a:srgbClr val="0033CC"/>
                </a:solidFill>
                <a:ea typeface="ＭＳ Ｐゴシック" panose="020B0600070205080204" pitchFamily="34" charset="-128"/>
              </a:rPr>
              <a:t>// isso bloqueia a primeira metade do arquivo - exclusivo</a:t>
            </a:r>
          </a:p>
          <a:p>
            <a:pPr xmlns:a="http://schemas.openxmlformats.org/drawingml/2006/main">
              <a:lnSpc>
                <a:spcPct val="80000"/>
              </a:lnSpc>
              <a:buFont typeface="Monotype Sorts" pitchFamily="2" charset="2"/>
              <a:buNone/>
            </a:pPr>
            <a:r xmlns:a="http://schemas.openxmlformats.org/drawingml/2006/main">
              <a:rPr lang="pt" altLang="pt-BR" sz="1400">
                <a:solidFill>
                  <a:srgbClr val="0033CC"/>
                </a:solidFill>
                <a:ea typeface="ＭＳ Ｐゴシック" panose="020B0600070205080204" pitchFamily="34" charset="-128"/>
              </a:rPr>
              <a:t>exclusiveLock = ch.lock(0, raf.length()/2, EXCLUSIVO);</a:t>
            </a:r>
          </a:p>
          <a:p>
            <a:pPr xmlns:a="http://schemas.openxmlformats.org/drawingml/2006/main">
              <a:lnSpc>
                <a:spcPct val="80000"/>
              </a:lnSpc>
              <a:buFont typeface="Monotype Sorts" pitchFamily="2" charset="2"/>
              <a:buNone/>
            </a:pPr>
            <a:r xmlns:a="http://schemas.openxmlformats.org/drawingml/2006/main">
              <a:rPr lang="pt" altLang="pt-BR" sz="1400">
                <a:solidFill>
                  <a:srgbClr val="0033CC"/>
                </a:solidFill>
                <a:ea typeface="ＭＳ Ｐゴシック" panose="020B0600070205080204" pitchFamily="34" charset="-128"/>
              </a:rPr>
              <a:t>/** Agora modifique os dados . . . */</a:t>
            </a:r>
          </a:p>
          <a:p>
            <a:pPr xmlns:a="http://schemas.openxmlformats.org/drawingml/2006/main">
              <a:lnSpc>
                <a:spcPct val="80000"/>
              </a:lnSpc>
              <a:buFont typeface="Monotype Sorts" pitchFamily="2" charset="2"/>
              <a:buNone/>
            </a:pPr>
            <a:r xmlns:a="http://schemas.openxmlformats.org/drawingml/2006/main">
              <a:rPr lang="pt" altLang="pt-BR" sz="1400">
                <a:solidFill>
                  <a:srgbClr val="0033CC"/>
                </a:solidFill>
                <a:ea typeface="ＭＳ Ｐゴシック" panose="020B0600070205080204" pitchFamily="34" charset="-128"/>
              </a:rPr>
              <a:t>// liberar o bloqueio</a:t>
            </a:r>
          </a:p>
          <a:p>
            <a:pPr xmlns:a="http://schemas.openxmlformats.org/drawingml/2006/main">
              <a:lnSpc>
                <a:spcPct val="80000"/>
              </a:lnSpc>
              <a:buFont typeface="Monotype Sorts" pitchFamily="2" charset="2"/>
              <a:buNone/>
            </a:pPr>
            <a:r xmlns:a="http://schemas.openxmlformats.org/drawingml/2006/main">
              <a:rPr lang="pt" altLang="pt-BR" sz="1400">
                <a:solidFill>
                  <a:srgbClr val="0033CC"/>
                </a:solidFill>
                <a:ea typeface="ＭＳ Ｐゴシック" panose="020B0600070205080204" pitchFamily="34" charset="-128"/>
              </a:rPr>
              <a:t>exclusiveLock.release();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endParaRPr lang="en-US" altLang="pt-BR" sz="1400">
              <a:solidFill>
                <a:srgbClr val="0033CC"/>
              </a:solidFill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42DD79F4-92F1-C242-BA32-4175EEB534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6125" y="315913"/>
            <a:ext cx="8229600" cy="576262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 sz="2800">
                <a:ea typeface="ＭＳ Ｐゴシック" panose="020B0600070205080204" pitchFamily="34" charset="-128"/>
              </a:rPr>
              <a:t>Exemplo de bloqueio de arquivo – </a:t>
            </a:r>
            <a:br xmlns:a="http://schemas.openxmlformats.org/drawingml/2006/main">
              <a:rPr lang="en-US" altLang="pt-BR" sz="2800"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 sz="2800">
                <a:ea typeface="ＭＳ Ｐゴシック" panose="020B0600070205080204" pitchFamily="34" charset="-128"/>
              </a:rPr>
              <a:t>API Java (cont.)</a:t>
            </a:r>
          </a:p>
        </p:txBody>
      </p:sp>
      <p:sp>
        <p:nvSpPr>
          <p:cNvPr id="25602" name="Rectangle 3">
            <a:extLst>
              <a:ext uri="{FF2B5EF4-FFF2-40B4-BE49-F238E27FC236}">
                <a16:creationId xmlns:a16="http://schemas.microsoft.com/office/drawing/2014/main" id="{DCD430DD-45D0-E346-B5CD-CF69F48BC5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98513" y="1250950"/>
            <a:ext cx="7243762" cy="5267325"/>
          </a:xfrm>
        </p:spPr>
        <p:txBody>
          <a:bodyPr/>
          <a:lstStyle/>
          <a:p>
            <a:pPr xmlns:a="http://schemas.openxmlformats.org/drawingml/2006/main">
              <a:lnSpc>
                <a:spcPct val="80000"/>
              </a:lnSpc>
              <a:buFont typeface="Monotype Sorts" pitchFamily="2" charset="2"/>
              <a:buNone/>
            </a:pPr>
            <a:r xmlns:a="http://schemas.openxmlformats.org/drawingml/2006/main">
              <a:rPr lang="pt" altLang="pt-BR" sz="1600">
                <a:solidFill>
                  <a:srgbClr val="0033CC"/>
                </a:solidFill>
                <a:ea typeface="ＭＳ Ｐゴシック" panose="020B0600070205080204" pitchFamily="34" charset="-128"/>
              </a:rPr>
              <a:t>// isso bloqueia a segunda metade do arquivo - compartilhado</a:t>
            </a:r>
          </a:p>
          <a:p>
            <a:pPr xmlns:a="http://schemas.openxmlformats.org/drawingml/2006/main">
              <a:lnSpc>
                <a:spcPct val="80000"/>
              </a:lnSpc>
              <a:buFont typeface="Monotype Sorts" pitchFamily="2" charset="2"/>
              <a:buNone/>
            </a:pPr>
            <a:r xmlns:a="http://schemas.openxmlformats.org/drawingml/2006/main">
              <a:rPr lang="pt" altLang="pt-BR" sz="1600">
                <a:solidFill>
                  <a:srgbClr val="0033CC"/>
                </a:solidFill>
                <a:ea typeface="ＭＳ Ｐゴシック" panose="020B0600070205080204" pitchFamily="34" charset="-128"/>
              </a:rPr>
              <a:t>sharedLock = ch.lock(raf.length()/2+1, raf.length(), COMPARTILHADO);</a:t>
            </a:r>
          </a:p>
          <a:p>
            <a:pPr xmlns:a="http://schemas.openxmlformats.org/drawingml/2006/main">
              <a:lnSpc>
                <a:spcPct val="80000"/>
              </a:lnSpc>
              <a:buFont typeface="Monotype Sorts" pitchFamily="2" charset="2"/>
              <a:buNone/>
            </a:pPr>
            <a:r xmlns:a="http://schemas.openxmlformats.org/drawingml/2006/main">
              <a:rPr lang="pt" altLang="pt-BR" sz="1600">
                <a:solidFill>
                  <a:srgbClr val="0033CC"/>
                </a:solidFill>
                <a:ea typeface="ＭＳ Ｐゴシック" panose="020B0600070205080204" pitchFamily="34" charset="-128"/>
              </a:rPr>
              <a:t>/** Agora leia os dados . . . */</a:t>
            </a:r>
          </a:p>
          <a:p>
            <a:pPr xmlns:a="http://schemas.openxmlformats.org/drawingml/2006/main">
              <a:lnSpc>
                <a:spcPct val="80000"/>
              </a:lnSpc>
              <a:buFont typeface="Monotype Sorts" pitchFamily="2" charset="2"/>
              <a:buNone/>
            </a:pPr>
            <a:r xmlns:a="http://schemas.openxmlformats.org/drawingml/2006/main">
              <a:rPr lang="pt" altLang="pt-BR" sz="1600">
                <a:solidFill>
                  <a:srgbClr val="0033CC"/>
                </a:solidFill>
                <a:ea typeface="ＭＳ Ｐゴシック" panose="020B0600070205080204" pitchFamily="34" charset="-128"/>
              </a:rPr>
              <a:t>// liberar o bloqueio</a:t>
            </a:r>
          </a:p>
          <a:p>
            <a:pPr xmlns:a="http://schemas.openxmlformats.org/drawingml/2006/main">
              <a:lnSpc>
                <a:spcPct val="80000"/>
              </a:lnSpc>
              <a:buFont typeface="Monotype Sorts" pitchFamily="2" charset="2"/>
              <a:buNone/>
            </a:pPr>
            <a:r xmlns:a="http://schemas.openxmlformats.org/drawingml/2006/main">
              <a:rPr lang="pt" altLang="pt-BR" sz="1600">
                <a:solidFill>
                  <a:srgbClr val="0033CC"/>
                </a:solidFill>
                <a:ea typeface="ＭＳ Ｐゴシック" panose="020B0600070205080204" pitchFamily="34" charset="-128"/>
              </a:rPr>
              <a:t>sharedLock.release();</a:t>
            </a:r>
          </a:p>
          <a:p>
            <a:pPr xmlns:a="http://schemas.openxmlformats.org/drawingml/2006/main">
              <a:lnSpc>
                <a:spcPct val="80000"/>
              </a:lnSpc>
              <a:buFont typeface="Monotype Sorts" pitchFamily="2" charset="2"/>
              <a:buNone/>
            </a:pPr>
            <a:r xmlns:a="http://schemas.openxmlformats.org/drawingml/2006/main">
              <a:rPr lang="pt" altLang="pt-BR" sz="1600" i="1">
                <a:solidFill>
                  <a:srgbClr val="0033CC"/>
                </a:solidFill>
                <a:ea typeface="ＭＳ Ｐゴシック" panose="020B0600070205080204" pitchFamily="34" charset="-128"/>
              </a:rPr>
              <a:t>  </a:t>
            </a:r>
            <a:r xmlns:a="http://schemas.openxmlformats.org/drawingml/2006/main">
              <a:rPr lang="pt" altLang="pt-BR" sz="1600">
                <a:solidFill>
                  <a:srgbClr val="0033CC"/>
                </a:solidFill>
                <a:ea typeface="ＭＳ Ｐゴシック" panose="020B0600070205080204" pitchFamily="34" charset="-128"/>
              </a:rPr>
              <a:t>}</a:t>
            </a:r>
            <a:r xmlns:a="http://schemas.openxmlformats.org/drawingml/2006/main">
              <a:rPr lang="pt" altLang="pt-BR" sz="1600" i="1">
                <a:solidFill>
                  <a:srgbClr val="0033CC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 sz="1600">
                <a:solidFill>
                  <a:srgbClr val="0033CC"/>
                </a:solidFill>
                <a:ea typeface="ＭＳ Ｐゴシック" panose="020B0600070205080204" pitchFamily="34" charset="-128"/>
              </a:rPr>
              <a:t>pegar (java.io.IOException ioe) {</a:t>
            </a:r>
            <a:r xmlns:a="http://schemas.openxmlformats.org/drawingml/2006/main">
              <a:rPr lang="pt" altLang="pt-BR" sz="1600" i="1">
                <a:solidFill>
                  <a:srgbClr val="0033CC"/>
                </a:solidFill>
                <a:ea typeface="ＭＳ Ｐゴシック" panose="020B0600070205080204" pitchFamily="34" charset="-128"/>
              </a:rPr>
              <a:t> </a:t>
            </a:r>
          </a:p>
          <a:p>
            <a:pPr xmlns:a="http://schemas.openxmlformats.org/drawingml/2006/main">
              <a:lnSpc>
                <a:spcPct val="80000"/>
              </a:lnSpc>
              <a:buFont typeface="Monotype Sorts" pitchFamily="2" charset="2"/>
              <a:buNone/>
            </a:pPr>
            <a:r xmlns:a="http://schemas.openxmlformats.org/drawingml/2006/main">
              <a:rPr lang="pt" altLang="pt-BR" sz="1600" i="1">
                <a:solidFill>
                  <a:srgbClr val="0033CC"/>
                </a:solidFill>
                <a:ea typeface="ＭＳ Ｐゴシック" panose="020B0600070205080204" pitchFamily="34" charset="-128"/>
              </a:rPr>
              <a:t>   </a:t>
            </a:r>
            <a:r xmlns:a="http://schemas.openxmlformats.org/drawingml/2006/main">
              <a:rPr lang="pt" altLang="pt-BR" sz="1600">
                <a:solidFill>
                  <a:srgbClr val="0033CC"/>
                </a:solidFill>
                <a:ea typeface="ＭＳ Ｐゴシック" panose="020B0600070205080204" pitchFamily="34" charset="-128"/>
              </a:rPr>
              <a:t>Sistema.err.println(ioe);</a:t>
            </a:r>
          </a:p>
          <a:p>
            <a:pPr xmlns:a="http://schemas.openxmlformats.org/drawingml/2006/main">
              <a:lnSpc>
                <a:spcPct val="80000"/>
              </a:lnSpc>
              <a:buFont typeface="Monotype Sorts" pitchFamily="2" charset="2"/>
              <a:buNone/>
            </a:pPr>
            <a:r xmlns:a="http://schemas.openxmlformats.org/drawingml/2006/main">
              <a:rPr lang="pt" altLang="pt-BR" sz="1600" i="1">
                <a:solidFill>
                  <a:srgbClr val="0033CC"/>
                </a:solidFill>
                <a:ea typeface="ＭＳ Ｐゴシック" panose="020B0600070205080204" pitchFamily="34" charset="-128"/>
              </a:rPr>
              <a:t>  </a:t>
            </a:r>
            <a:r xmlns:a="http://schemas.openxmlformats.org/drawingml/2006/main">
              <a:rPr lang="pt" altLang="pt-BR" sz="1600">
                <a:solidFill>
                  <a:srgbClr val="0033CC"/>
                </a:solidFill>
                <a:ea typeface="ＭＳ Ｐゴシック" panose="020B0600070205080204" pitchFamily="34" charset="-128"/>
              </a:rPr>
              <a:t>}finalmente {</a:t>
            </a:r>
            <a:r xmlns:a="http://schemas.openxmlformats.org/drawingml/2006/main">
              <a:rPr lang="pt" altLang="pt-BR" sz="1600" i="1">
                <a:solidFill>
                  <a:srgbClr val="0033CC"/>
                </a:solidFill>
                <a:ea typeface="ＭＳ Ｐゴシック" panose="020B0600070205080204" pitchFamily="34" charset="-128"/>
              </a:rPr>
              <a:t> </a:t>
            </a:r>
          </a:p>
          <a:p>
            <a:pPr xmlns:a="http://schemas.openxmlformats.org/drawingml/2006/main">
              <a:lnSpc>
                <a:spcPct val="80000"/>
              </a:lnSpc>
              <a:buFont typeface="Monotype Sorts" pitchFamily="2" charset="2"/>
              <a:buNone/>
            </a:pPr>
            <a:r xmlns:a="http://schemas.openxmlformats.org/drawingml/2006/main">
              <a:rPr lang="pt" altLang="pt-BR" sz="1600">
                <a:solidFill>
                  <a:srgbClr val="0033CC"/>
                </a:solidFill>
                <a:ea typeface="ＭＳ Ｐゴシック" panose="020B0600070205080204" pitchFamily="34" charset="-128"/>
              </a:rPr>
              <a:t>se (exclusiveLock != nulo)</a:t>
            </a:r>
          </a:p>
          <a:p>
            <a:pPr xmlns:a="http://schemas.openxmlformats.org/drawingml/2006/main">
              <a:lnSpc>
                <a:spcPct val="80000"/>
              </a:lnSpc>
              <a:buFont typeface="Monotype Sorts" pitchFamily="2" charset="2"/>
              <a:buNone/>
            </a:pPr>
            <a:r xmlns:a="http://schemas.openxmlformats.org/drawingml/2006/main">
              <a:rPr lang="pt" altLang="pt-BR" sz="1600">
                <a:solidFill>
                  <a:srgbClr val="0033CC"/>
                </a:solidFill>
                <a:ea typeface="ＭＳ Ｐゴシック" panose="020B0600070205080204" pitchFamily="34" charset="-128"/>
              </a:rPr>
              <a:t>exclusiveLock.release();</a:t>
            </a:r>
          </a:p>
          <a:p>
            <a:pPr xmlns:a="http://schemas.openxmlformats.org/drawingml/2006/main">
              <a:lnSpc>
                <a:spcPct val="80000"/>
              </a:lnSpc>
              <a:buFont typeface="Monotype Sorts" pitchFamily="2" charset="2"/>
              <a:buNone/>
            </a:pPr>
            <a:r xmlns:a="http://schemas.openxmlformats.org/drawingml/2006/main">
              <a:rPr lang="pt" altLang="pt-BR" sz="1600">
                <a:solidFill>
                  <a:srgbClr val="0033CC"/>
                </a:solidFill>
                <a:ea typeface="ＭＳ Ｐゴシック" panose="020B0600070205080204" pitchFamily="34" charset="-128"/>
              </a:rPr>
              <a:t>se (sharedLock != nulo)</a:t>
            </a:r>
          </a:p>
          <a:p>
            <a:pPr xmlns:a="http://schemas.openxmlformats.org/drawingml/2006/main">
              <a:lnSpc>
                <a:spcPct val="80000"/>
              </a:lnSpc>
              <a:buFont typeface="Monotype Sorts" pitchFamily="2" charset="2"/>
              <a:buNone/>
            </a:pPr>
            <a:r xmlns:a="http://schemas.openxmlformats.org/drawingml/2006/main">
              <a:rPr lang="pt" altLang="pt-BR" sz="1600">
                <a:solidFill>
                  <a:srgbClr val="0033CC"/>
                </a:solidFill>
                <a:ea typeface="ＭＳ Ｐゴシック" panose="020B0600070205080204" pitchFamily="34" charset="-128"/>
              </a:rPr>
              <a:t>sharedLock.release();</a:t>
            </a:r>
          </a:p>
          <a:p>
            <a:pPr xmlns:a="http://schemas.openxmlformats.org/drawingml/2006/main">
              <a:lnSpc>
                <a:spcPct val="80000"/>
              </a:lnSpc>
              <a:buFont typeface="Monotype Sorts" pitchFamily="2" charset="2"/>
              <a:buNone/>
            </a:pPr>
            <a:r xmlns:a="http://schemas.openxmlformats.org/drawingml/2006/main">
              <a:rPr lang="pt" altLang="pt-BR" sz="1600" i="1">
                <a:solidFill>
                  <a:srgbClr val="0033CC"/>
                </a:solidFill>
                <a:ea typeface="ＭＳ Ｐゴシック" panose="020B0600070205080204" pitchFamily="34" charset="-128"/>
              </a:rPr>
              <a:t>  </a:t>
            </a:r>
            <a:r xmlns:a="http://schemas.openxmlformats.org/drawingml/2006/main">
              <a:rPr lang="pt" altLang="pt-BR" sz="1600">
                <a:solidFill>
                  <a:srgbClr val="0033CC"/>
                </a:solidFill>
                <a:ea typeface="ＭＳ Ｐゴシック" panose="020B0600070205080204" pitchFamily="34" charset="-128"/>
              </a:rPr>
              <a:t>}</a:t>
            </a:r>
          </a:p>
          <a:p>
            <a:pPr xmlns:a="http://schemas.openxmlformats.org/drawingml/2006/main">
              <a:lnSpc>
                <a:spcPct val="80000"/>
              </a:lnSpc>
              <a:buFont typeface="Monotype Sorts" pitchFamily="2" charset="2"/>
              <a:buNone/>
            </a:pPr>
            <a:r xmlns:a="http://schemas.openxmlformats.org/drawingml/2006/main">
              <a:rPr lang="pt" altLang="pt-BR" sz="1600" i="1">
                <a:solidFill>
                  <a:srgbClr val="0033CC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 sz="1600">
                <a:solidFill>
                  <a:srgbClr val="0033CC"/>
                </a:solidFill>
                <a:ea typeface="ＭＳ Ｐゴシック" panose="020B0600070205080204" pitchFamily="34" charset="-128"/>
              </a:rPr>
              <a:t>}</a:t>
            </a:r>
          </a:p>
          <a:p>
            <a:pPr xmlns:a="http://schemas.openxmlformats.org/drawingml/2006/main">
              <a:lnSpc>
                <a:spcPct val="80000"/>
              </a:lnSpc>
              <a:buFont typeface="Monotype Sorts" pitchFamily="2" charset="2"/>
              <a:buNone/>
            </a:pPr>
            <a:r xmlns:a="http://schemas.openxmlformats.org/drawingml/2006/main">
              <a:rPr lang="pt" altLang="pt-BR" sz="1600">
                <a:solidFill>
                  <a:srgbClr val="0033CC"/>
                </a:solidFill>
                <a:ea typeface="ＭＳ Ｐゴシック" panose="020B0600070205080204" pitchFamily="34" charset="-128"/>
              </a:rPr>
              <a:t>}</a:t>
            </a:r>
          </a:p>
          <a:p>
            <a:pPr>
              <a:lnSpc>
                <a:spcPct val="80000"/>
              </a:lnSpc>
            </a:pPr>
            <a:endParaRPr lang="en-US" altLang="pt-BR" sz="1600">
              <a:solidFill>
                <a:srgbClr val="0033CC"/>
              </a:solidFill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B650C000-0222-4449-B708-37639EAE24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8363" y="277813"/>
            <a:ext cx="7818437" cy="576262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Tipos de arquivo – Nome, extensão</a:t>
            </a:r>
          </a:p>
        </p:txBody>
      </p:sp>
      <p:pic>
        <p:nvPicPr>
          <p:cNvPr id="27650" name="Picture 4">
            <a:extLst>
              <a:ext uri="{FF2B5EF4-FFF2-40B4-BE49-F238E27FC236}">
                <a16:creationId xmlns:a16="http://schemas.microsoft.com/office/drawing/2014/main" id="{6A429A9B-B81F-4A44-83A0-5D9897F49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15" t="1186" r="15715" b="1186"/>
          <a:stretch>
            <a:fillRect/>
          </a:stretch>
        </p:blipFill>
        <p:spPr bwMode="auto">
          <a:xfrm>
            <a:off x="2209800" y="1250950"/>
            <a:ext cx="4654550" cy="4970463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57400749-BF17-2442-A2E2-946F71BD82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9638" y="277813"/>
            <a:ext cx="7777162" cy="576262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Estrutura do arquivo</a:t>
            </a:r>
          </a:p>
        </p:txBody>
      </p:sp>
      <p:sp>
        <p:nvSpPr>
          <p:cNvPr id="29698" name="Rectangle 3">
            <a:extLst>
              <a:ext uri="{FF2B5EF4-FFF2-40B4-BE49-F238E27FC236}">
                <a16:creationId xmlns:a16="http://schemas.microsoft.com/office/drawing/2014/main" id="{4D15CF4D-6289-F54A-9D20-A02E506CF2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686675" cy="4530725"/>
          </a:xfrm>
        </p:spPr>
        <p:txBody>
          <a:bodyPr/>
          <a:lstStyle/>
          <a:p>
            <a:pPr xmlns:a="http://schemas.openxmlformats.org/drawingml/2006/main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Nenhum - sequência de palavras, bytes</a:t>
            </a:r>
          </a:p>
          <a:p>
            <a:pPr xmlns:a="http://schemas.openxmlformats.org/drawingml/2006/main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Estrutura de registro simples</a:t>
            </a:r>
          </a:p>
          <a:p>
            <a:pPr xmlns:a="http://schemas.openxmlformats.org/drawingml/2006/main" lvl="1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Linhas</a:t>
            </a:r>
          </a:p>
          <a:p>
            <a:pPr xmlns:a="http://schemas.openxmlformats.org/drawingml/2006/main" lvl="1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Comprimento fixo</a:t>
            </a:r>
          </a:p>
          <a:p>
            <a:pPr xmlns:a="http://schemas.openxmlformats.org/drawingml/2006/main" lvl="1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Comprimento variável</a:t>
            </a:r>
          </a:p>
          <a:p>
            <a:pPr xmlns:a="http://schemas.openxmlformats.org/drawingml/2006/main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Estruturas Complexas</a:t>
            </a:r>
          </a:p>
          <a:p>
            <a:pPr xmlns:a="http://schemas.openxmlformats.org/drawingml/2006/main" lvl="1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Documento formatado</a:t>
            </a:r>
          </a:p>
          <a:p>
            <a:pPr xmlns:a="http://schemas.openxmlformats.org/drawingml/2006/main" lvl="1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Arquivo de carga realocável</a:t>
            </a:r>
          </a:p>
          <a:p>
            <a:pPr xmlns:a="http://schemas.openxmlformats.org/drawingml/2006/main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Pode simular os dois últimos com o primeiro método inserindo caracteres de controle apropriados</a:t>
            </a:r>
          </a:p>
          <a:p>
            <a:pPr xmlns:a="http://schemas.openxmlformats.org/drawingml/2006/main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Quem decide:</a:t>
            </a:r>
          </a:p>
          <a:p>
            <a:pPr xmlns:a="http://schemas.openxmlformats.org/drawingml/2006/main" lvl="1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Sistema operacional</a:t>
            </a:r>
          </a:p>
          <a:p>
            <a:pPr xmlns:a="http://schemas.openxmlformats.org/drawingml/2006/main" lvl="1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Programa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1AE0073E-8BF7-5E46-9EFB-5B668F08DA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Arquivo de acesso sequencial</a:t>
            </a:r>
          </a:p>
        </p:txBody>
      </p:sp>
      <p:pic>
        <p:nvPicPr>
          <p:cNvPr id="31746" name="Picture 5">
            <a:extLst>
              <a:ext uri="{FF2B5EF4-FFF2-40B4-BE49-F238E27FC236}">
                <a16:creationId xmlns:a16="http://schemas.microsoft.com/office/drawing/2014/main" id="{D16064F0-FA67-CC4E-91A0-01225C5AC2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313" y="1962150"/>
            <a:ext cx="7010400" cy="224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374457BA-4BCC-DF4F-828A-CF0B5D5C5C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Métodos de acesso</a:t>
            </a:r>
          </a:p>
        </p:txBody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B51FCD6E-9119-8F4D-93F5-E01131187E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55675" y="1365250"/>
            <a:ext cx="7370763" cy="3822700"/>
          </a:xfrm>
        </p:spPr>
        <p:txBody>
          <a:bodyPr/>
          <a:lstStyle/>
          <a:p>
            <a:pPr xmlns:a="http://schemas.openxmlformats.org/drawingml/2006/main">
              <a:lnSpc>
                <a:spcPct val="90000"/>
              </a:lnSpc>
              <a:tabLst>
                <a:tab pos="3203575" algn="l"/>
                <a:tab pos="4056063" algn="l"/>
              </a:tabLst>
            </a:pPr>
            <a:r xmlns:a="http://schemas.openxmlformats.org/drawingml/2006/main">
              <a:rPr lang="pt" altLang="pt-BR" sz="1600" b="1">
                <a:ea typeface="ＭＳ Ｐゴシック" panose="020B0600070205080204" pitchFamily="34" charset="-128"/>
              </a:rPr>
              <a:t>Acesso Sequencial</a:t>
            </a:r>
          </a:p>
          <a:p>
            <a:pPr xmlns:a="http://schemas.openxmlformats.org/drawingml/2006/main">
              <a:lnSpc>
                <a:spcPct val="90000"/>
              </a:lnSpc>
              <a:spcBef>
                <a:spcPct val="10000"/>
              </a:spcBef>
              <a:buFont typeface="Monotype Sorts" pitchFamily="2" charset="2"/>
              <a:buNone/>
              <a:tabLst>
                <a:tab pos="3203575" algn="l"/>
                <a:tab pos="4056063" algn="l"/>
              </a:tabLst>
            </a:pPr>
            <a:r xmlns:a="http://schemas.openxmlformats.org/drawingml/2006/main">
              <a:rPr lang="pt" altLang="pt-BR" sz="1600">
                <a:solidFill>
                  <a:srgbClr val="000000"/>
                </a:solidFill>
                <a:ea typeface="ＭＳ Ｐゴシック" panose="020B0600070205080204" pitchFamily="34" charset="-128"/>
              </a:rPr>
              <a:t>  </a:t>
            </a:r>
            <a:r xmlns:a="http://schemas.openxmlformats.org/drawingml/2006/main">
              <a:rPr lang="pt" altLang="pt-BR" sz="1600" b="1">
                <a:solidFill>
                  <a:srgbClr val="00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leia a seguir</a:t>
            </a:r>
          </a:p>
          <a:p>
            <a:pPr xmlns:a="http://schemas.openxmlformats.org/drawingml/2006/main">
              <a:lnSpc>
                <a:spcPct val="90000"/>
              </a:lnSpc>
              <a:spcBef>
                <a:spcPct val="10000"/>
              </a:spcBef>
              <a:buFont typeface="Monotype Sorts" pitchFamily="2" charset="2"/>
              <a:buNone/>
              <a:tabLst>
                <a:tab pos="3203575" algn="l"/>
                <a:tab pos="4056063" algn="l"/>
              </a:tabLst>
            </a:pPr>
            <a:r xmlns:a="http://schemas.openxmlformats.org/drawingml/2006/main">
              <a:rPr lang="pt" altLang="pt-BR" sz="1600" b="1">
                <a:solidFill>
                  <a:srgbClr val="00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escreva a seguir</a:t>
            </a:r>
          </a:p>
          <a:p>
            <a:pPr xmlns:a="http://schemas.openxmlformats.org/drawingml/2006/main">
              <a:lnSpc>
                <a:spcPct val="90000"/>
              </a:lnSpc>
              <a:spcBef>
                <a:spcPct val="10000"/>
              </a:spcBef>
              <a:buFont typeface="Monotype Sorts" pitchFamily="2" charset="2"/>
              <a:buNone/>
              <a:tabLst>
                <a:tab pos="3203575" algn="l"/>
                <a:tab pos="4056063" algn="l"/>
              </a:tabLst>
            </a:pPr>
            <a:r xmlns:a="http://schemas.openxmlformats.org/drawingml/2006/main">
              <a:rPr lang="pt" altLang="pt-BR" sz="1600" b="1">
                <a:solidFill>
                  <a:srgbClr val="00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reiniciar</a:t>
            </a:r>
          </a:p>
          <a:p>
            <a:pPr xmlns:a="http://schemas.openxmlformats.org/drawingml/2006/main">
              <a:lnSpc>
                <a:spcPct val="90000"/>
              </a:lnSpc>
              <a:spcBef>
                <a:spcPct val="10000"/>
              </a:spcBef>
              <a:buFont typeface="Monotype Sorts" pitchFamily="2" charset="2"/>
              <a:buNone/>
              <a:tabLst>
                <a:tab pos="3203575" algn="l"/>
                <a:tab pos="4056063" algn="l"/>
              </a:tabLst>
            </a:pPr>
            <a:r xmlns:a="http://schemas.openxmlformats.org/drawingml/2006/main">
              <a:rPr lang="pt" altLang="pt-BR" sz="1600">
                <a:solidFill>
                  <a:srgbClr val="000000"/>
                </a:solidFill>
                <a:ea typeface="ＭＳ Ｐゴシック" panose="020B0600070205080204" pitchFamily="34" charset="-128"/>
              </a:rPr>
              <a:t>nenhuma leitura após a última gravação</a:t>
            </a:r>
          </a:p>
          <a:p>
            <a:pPr xmlns:a="http://schemas.openxmlformats.org/drawingml/2006/main">
              <a:lnSpc>
                <a:spcPct val="90000"/>
              </a:lnSpc>
              <a:spcBef>
                <a:spcPct val="10000"/>
              </a:spcBef>
              <a:buFont typeface="Monotype Sorts" pitchFamily="2" charset="2"/>
              <a:buNone/>
              <a:tabLst>
                <a:tab pos="3203575" algn="l"/>
                <a:tab pos="4056063" algn="l"/>
              </a:tabLst>
            </a:pPr>
            <a:r xmlns:a="http://schemas.openxmlformats.org/drawingml/2006/main">
              <a:rPr lang="pt" altLang="pt-BR" sz="1600">
                <a:solidFill>
                  <a:srgbClr val="000000"/>
                </a:solidFill>
                <a:ea typeface="ＭＳ Ｐゴシック" panose="020B0600070205080204" pitchFamily="34" charset="-128"/>
              </a:rPr>
              <a:t>(reescrever)</a:t>
            </a:r>
          </a:p>
          <a:p>
            <a:pPr xmlns:a="http://schemas.openxmlformats.org/drawingml/2006/main">
              <a:lnSpc>
                <a:spcPct val="90000"/>
              </a:lnSpc>
              <a:tabLst>
                <a:tab pos="3203575" algn="l"/>
                <a:tab pos="4056063" algn="l"/>
              </a:tabLst>
            </a:pPr>
            <a:r xmlns:a="http://schemas.openxmlformats.org/drawingml/2006/main">
              <a:rPr lang="pt" altLang="pt-BR" sz="1600" b="1">
                <a:solidFill>
                  <a:srgbClr val="000000"/>
                </a:solidFill>
                <a:ea typeface="ＭＳ Ｐゴシック" panose="020B0600070205080204" pitchFamily="34" charset="-128"/>
              </a:rPr>
              <a:t>Acesso direto – o arquivo é </a:t>
            </a:r>
            <a:r xmlns:a="http://schemas.openxmlformats.org/drawingml/2006/main">
              <a:rPr lang="pt" altLang="pt-BR" sz="1600">
                <a:solidFill>
                  <a:srgbClr val="0033CC"/>
                </a:solidFill>
                <a:ea typeface="ＭＳ Ｐゴシック" panose="020B0600070205080204" pitchFamily="34" charset="-128"/>
              </a:rPr>
              <a:t>um registro lógico </a:t>
            </a:r>
            <a:r xmlns:a="http://schemas.openxmlformats.org/drawingml/2006/main">
              <a:rPr lang="pt" altLang="pt-BR" sz="1600">
                <a:solidFill>
                  <a:srgbClr val="000000"/>
                </a:solidFill>
                <a:ea typeface="ＭＳ Ｐゴシック" panose="020B0600070205080204" pitchFamily="34" charset="-128"/>
              </a:rPr>
              <a:t>de comprimento fixo</a:t>
            </a:r>
          </a:p>
          <a:p>
            <a:pPr xmlns:a="http://schemas.openxmlformats.org/drawingml/2006/main">
              <a:lnSpc>
                <a:spcPct val="90000"/>
              </a:lnSpc>
              <a:spcBef>
                <a:spcPct val="10000"/>
              </a:spcBef>
              <a:buFont typeface="Monotype Sorts" pitchFamily="2" charset="2"/>
              <a:buNone/>
              <a:tabLst>
                <a:tab pos="3203575" algn="l"/>
                <a:tab pos="4056063" algn="l"/>
              </a:tabLst>
            </a:pPr>
            <a:r xmlns:a="http://schemas.openxmlformats.org/drawingml/2006/main">
              <a:rPr lang="pt" altLang="pt-BR" sz="1600">
                <a:solidFill>
                  <a:srgbClr val="000000"/>
                </a:solidFill>
                <a:ea typeface="ＭＳ Ｐゴシック" panose="020B0600070205080204" pitchFamily="34" charset="-128"/>
              </a:rPr>
              <a:t>  </a:t>
            </a:r>
            <a:r xmlns:a="http://schemas.openxmlformats.org/drawingml/2006/main">
              <a:rPr lang="pt" altLang="pt-BR" sz="1600" b="1">
                <a:solidFill>
                  <a:srgbClr val="00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leia </a:t>
            </a:r>
            <a:r xmlns:a="http://schemas.openxmlformats.org/drawingml/2006/main">
              <a:rPr lang="pt" altLang="pt-BR" sz="1600" b="1" i="1">
                <a:solidFill>
                  <a:srgbClr val="00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n</a:t>
            </a:r>
          </a:p>
          <a:p>
            <a:pPr xmlns:a="http://schemas.openxmlformats.org/drawingml/2006/main">
              <a:lnSpc>
                <a:spcPct val="90000"/>
              </a:lnSpc>
              <a:spcBef>
                <a:spcPct val="10000"/>
              </a:spcBef>
              <a:buFont typeface="Monotype Sorts" pitchFamily="2" charset="2"/>
              <a:buNone/>
              <a:tabLst>
                <a:tab pos="3203575" algn="l"/>
                <a:tab pos="4056063" algn="l"/>
              </a:tabLst>
            </a:pPr>
            <a:r xmlns:a="http://schemas.openxmlformats.org/drawingml/2006/main">
              <a:rPr lang="pt" altLang="pt-BR" sz="1600" b="1">
                <a:solidFill>
                  <a:srgbClr val="00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escreva </a:t>
            </a:r>
            <a:r xmlns:a="http://schemas.openxmlformats.org/drawingml/2006/main">
              <a:rPr lang="pt" altLang="pt-BR" sz="1600" b="1" i="1">
                <a:solidFill>
                  <a:srgbClr val="00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n</a:t>
            </a:r>
          </a:p>
          <a:p>
            <a:pPr xmlns:a="http://schemas.openxmlformats.org/drawingml/2006/main">
              <a:lnSpc>
                <a:spcPct val="90000"/>
              </a:lnSpc>
              <a:spcBef>
                <a:spcPct val="10000"/>
              </a:spcBef>
              <a:buFont typeface="Monotype Sorts" pitchFamily="2" charset="2"/>
              <a:buNone/>
              <a:tabLst>
                <a:tab pos="3203575" algn="l"/>
                <a:tab pos="4056063" algn="l"/>
              </a:tabLst>
            </a:pPr>
            <a:r xmlns:a="http://schemas.openxmlformats.org/drawingml/2006/main">
              <a:rPr lang="pt" altLang="pt-BR" sz="1600" b="1">
                <a:solidFill>
                  <a:srgbClr val="00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posição para </a:t>
            </a:r>
            <a:r xmlns:a="http://schemas.openxmlformats.org/drawingml/2006/main">
              <a:rPr lang="pt" altLang="pt-BR" sz="1600" b="1" i="1">
                <a:solidFill>
                  <a:srgbClr val="00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n</a:t>
            </a:r>
          </a:p>
          <a:p>
            <a:pPr xmlns:a="http://schemas.openxmlformats.org/drawingml/2006/main">
              <a:lnSpc>
                <a:spcPct val="90000"/>
              </a:lnSpc>
              <a:spcBef>
                <a:spcPct val="10000"/>
              </a:spcBef>
              <a:buFont typeface="Monotype Sorts" pitchFamily="2" charset="2"/>
              <a:buNone/>
              <a:tabLst>
                <a:tab pos="3203575" algn="l"/>
                <a:tab pos="4056063" algn="l"/>
              </a:tabLst>
            </a:pPr>
            <a:r xmlns:a="http://schemas.openxmlformats.org/drawingml/2006/main">
              <a:rPr lang="pt" altLang="pt-BR" sz="1600" b="1">
                <a:solidFill>
                  <a:srgbClr val="00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leia a seguir</a:t>
            </a:r>
          </a:p>
          <a:p>
            <a:pPr xmlns:a="http://schemas.openxmlformats.org/drawingml/2006/main">
              <a:lnSpc>
                <a:spcPct val="90000"/>
              </a:lnSpc>
              <a:spcBef>
                <a:spcPct val="10000"/>
              </a:spcBef>
              <a:buFont typeface="Monotype Sorts" pitchFamily="2" charset="2"/>
              <a:buNone/>
              <a:tabLst>
                <a:tab pos="3203575" algn="l"/>
                <a:tab pos="4056063" algn="l"/>
              </a:tabLst>
            </a:pPr>
            <a:r xmlns:a="http://schemas.openxmlformats.org/drawingml/2006/main">
              <a:rPr lang="pt" altLang="pt-BR" sz="1600" b="1">
                <a:solidFill>
                  <a:srgbClr val="00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escreva a seguir</a:t>
            </a:r>
          </a:p>
          <a:p>
            <a:pPr xmlns:a="http://schemas.openxmlformats.org/drawingml/2006/main">
              <a:lnSpc>
                <a:spcPct val="90000"/>
              </a:lnSpc>
              <a:spcBef>
                <a:spcPct val="10000"/>
              </a:spcBef>
              <a:buFont typeface="Monotype Sorts" pitchFamily="2" charset="2"/>
              <a:buNone/>
              <a:tabLst>
                <a:tab pos="3203575" algn="l"/>
                <a:tab pos="4056063" algn="l"/>
              </a:tabLst>
            </a:pPr>
            <a:r xmlns:a="http://schemas.openxmlformats.org/drawingml/2006/main">
              <a:rPr lang="pt" altLang="pt-BR" sz="1600" b="1">
                <a:solidFill>
                  <a:srgbClr val="00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reescrever </a:t>
            </a:r>
            <a:r xmlns:a="http://schemas.openxmlformats.org/drawingml/2006/main">
              <a:rPr lang="pt" altLang="pt-BR" sz="1600" b="1" i="1">
                <a:solidFill>
                  <a:srgbClr val="00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n</a:t>
            </a:r>
          </a:p>
          <a:p>
            <a:pPr xmlns:a="http://schemas.openxmlformats.org/drawingml/2006/main">
              <a:lnSpc>
                <a:spcPct val="90000"/>
              </a:lnSpc>
              <a:buFont typeface="Monotype Sorts" pitchFamily="2" charset="2"/>
              <a:buNone/>
              <a:tabLst>
                <a:tab pos="3203575" algn="l"/>
                <a:tab pos="4056063" algn="l"/>
              </a:tabLst>
            </a:pPr>
            <a:r xmlns:a="http://schemas.openxmlformats.org/drawingml/2006/main">
              <a:rPr lang="pt" altLang="pt-BR" sz="1600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 sz="1600" i="1">
                <a:ea typeface="ＭＳ Ｐゴシック" panose="020B0600070205080204" pitchFamily="34" charset="-128"/>
              </a:rPr>
              <a:t>n </a:t>
            </a:r>
            <a:r xmlns:a="http://schemas.openxmlformats.org/drawingml/2006/main">
              <a:rPr lang="pt" altLang="pt-BR" sz="1600">
                <a:ea typeface="ＭＳ Ｐゴシック" panose="020B0600070205080204" pitchFamily="34" charset="-128"/>
              </a:rPr>
              <a:t>= </a:t>
            </a:r>
            <a:r xmlns:a="http://schemas.openxmlformats.org/drawingml/2006/main">
              <a:rPr lang="pt" altLang="pt-BR" sz="1600">
                <a:solidFill>
                  <a:srgbClr val="0033CC"/>
                </a:solidFill>
                <a:ea typeface="ＭＳ Ｐゴシック" panose="020B0600070205080204" pitchFamily="34" charset="-128"/>
              </a:rPr>
              <a:t>número de bloco relativo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3203575" algn="l"/>
                <a:tab pos="4056063" algn="l"/>
              </a:tabLst>
            </a:pPr>
            <a:endParaRPr lang="en-US" altLang="pt-BR" sz="1600">
              <a:ea typeface="ＭＳ Ｐゴシック" panose="020B0600070205080204" pitchFamily="34" charset="-128"/>
            </a:endParaRPr>
          </a:p>
          <a:p>
            <a:pPr xmlns:a="http://schemas.openxmlformats.org/drawingml/2006/main">
              <a:lnSpc>
                <a:spcPct val="90000"/>
              </a:lnSpc>
              <a:tabLst>
                <a:tab pos="3203575" algn="l"/>
                <a:tab pos="4056063" algn="l"/>
              </a:tabLst>
            </a:pPr>
            <a:r xmlns:a="http://schemas.openxmlformats.org/drawingml/2006/main">
              <a:rPr lang="pt" altLang="pt-BR" sz="1600">
                <a:ea typeface="ＭＳ Ｐゴシック" panose="020B0600070205080204" pitchFamily="34" charset="-128"/>
              </a:rPr>
              <a:t>Os números de blocos relativos permitem que o sistema operacional decida onde o arquivo deve ser colocado</a:t>
            </a:r>
          </a:p>
          <a:p>
            <a:pPr xmlns:a="http://schemas.openxmlformats.org/drawingml/2006/main" lvl="1">
              <a:lnSpc>
                <a:spcPct val="90000"/>
              </a:lnSpc>
              <a:tabLst>
                <a:tab pos="3203575" algn="l"/>
                <a:tab pos="4056063" algn="l"/>
              </a:tabLst>
            </a:pPr>
            <a:r xmlns:a="http://schemas.openxmlformats.org/drawingml/2006/main">
              <a:rPr lang="pt" altLang="pt-BR" sz="1600">
                <a:ea typeface="ＭＳ Ｐゴシック" panose="020B0600070205080204" pitchFamily="34" charset="-128"/>
              </a:rPr>
              <a:t>Veja </a:t>
            </a:r>
            <a:r xmlns:a="http://schemas.openxmlformats.org/drawingml/2006/main">
              <a:rPr lang="pt" altLang="pt-BR" sz="1600">
                <a:solidFill>
                  <a:srgbClr val="0033CC"/>
                </a:solidFill>
                <a:ea typeface="ＭＳ Ｐゴシック" panose="020B0600070205080204" pitchFamily="34" charset="-128"/>
              </a:rPr>
              <a:t>o problema de alocação </a:t>
            </a:r>
            <a:r xmlns:a="http://schemas.openxmlformats.org/drawingml/2006/main">
              <a:rPr lang="pt" altLang="pt-BR" sz="1600">
                <a:ea typeface="ＭＳ Ｐゴシック" panose="020B0600070205080204" pitchFamily="34" charset="-128"/>
              </a:rPr>
              <a:t>no Cap. 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3F797930-AEC0-D243-9250-4ED5723719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4038" y="85725"/>
            <a:ext cx="8469312" cy="8445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 sz="2800">
                <a:ea typeface="ＭＳ Ｐゴシック" panose="020B0600070205080204" pitchFamily="34" charset="-128"/>
              </a:rPr>
              <a:t>Simulação de acesso sequencial em </a:t>
            </a:r>
            <a:br xmlns:a="http://schemas.openxmlformats.org/drawingml/2006/main">
              <a:rPr lang="en-US" altLang="pt-BR" sz="2800"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 sz="2800">
                <a:ea typeface="ＭＳ Ｐゴシック" panose="020B0600070205080204" pitchFamily="34" charset="-128"/>
              </a:rPr>
              <a:t>arquivo de acesso direto</a:t>
            </a:r>
          </a:p>
        </p:txBody>
      </p:sp>
      <p:pic>
        <p:nvPicPr>
          <p:cNvPr id="35842" name="Picture 6">
            <a:extLst>
              <a:ext uri="{FF2B5EF4-FFF2-40B4-BE49-F238E27FC236}">
                <a16:creationId xmlns:a16="http://schemas.microsoft.com/office/drawing/2014/main" id="{83AFA56E-5C82-5346-9A8D-DAEB347A4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475" y="1933575"/>
            <a:ext cx="7091363" cy="261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D3FE0A63-F6C9-A144-B358-423A9EDBEA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Outros métodos de acesso</a:t>
            </a:r>
          </a:p>
        </p:txBody>
      </p:sp>
      <p:sp>
        <p:nvSpPr>
          <p:cNvPr id="37890" name="Rectangle 3">
            <a:extLst>
              <a:ext uri="{FF2B5EF4-FFF2-40B4-BE49-F238E27FC236}">
                <a16:creationId xmlns:a16="http://schemas.microsoft.com/office/drawing/2014/main" id="{7A150743-05D1-774F-A265-FE2CEA911B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55675" y="1365250"/>
            <a:ext cx="7370763" cy="3822700"/>
          </a:xfrm>
        </p:spPr>
        <p:txBody>
          <a:bodyPr/>
          <a:lstStyle/>
          <a:p>
            <a:pPr xmlns:a="http://schemas.openxmlformats.org/drawingml/2006/main">
              <a:lnSpc>
                <a:spcPct val="90000"/>
              </a:lnSpc>
              <a:tabLst>
                <a:tab pos="3203575" algn="l"/>
                <a:tab pos="4056063" algn="l"/>
              </a:tabLst>
            </a:pPr>
            <a:r xmlns:a="http://schemas.openxmlformats.org/drawingml/2006/main">
              <a:rPr lang="pt" altLang="pt-BR" sz="1600">
                <a:solidFill>
                  <a:srgbClr val="000000"/>
                </a:solidFill>
                <a:ea typeface="ＭＳ Ｐゴシック" panose="020B0600070205080204" pitchFamily="34" charset="-128"/>
              </a:rPr>
              <a:t>Pode ser construído sobre métodos básicos</a:t>
            </a:r>
          </a:p>
          <a:p>
            <a:pPr xmlns:a="http://schemas.openxmlformats.org/drawingml/2006/main">
              <a:lnSpc>
                <a:spcPct val="90000"/>
              </a:lnSpc>
              <a:tabLst>
                <a:tab pos="3203575" algn="l"/>
                <a:tab pos="4056063" algn="l"/>
              </a:tabLst>
            </a:pPr>
            <a:r xmlns:a="http://schemas.openxmlformats.org/drawingml/2006/main">
              <a:rPr lang="pt" altLang="pt-BR" sz="1600">
                <a:solidFill>
                  <a:srgbClr val="000000"/>
                </a:solidFill>
                <a:ea typeface="ＭＳ Ｐゴシック" panose="020B0600070205080204" pitchFamily="34" charset="-128"/>
              </a:rPr>
              <a:t>Geral envolve a criação de um </a:t>
            </a:r>
            <a:r xmlns:a="http://schemas.openxmlformats.org/drawingml/2006/main">
              <a:rPr lang="pt" altLang="pt-BR" sz="1600">
                <a:solidFill>
                  <a:srgbClr val="0033CC"/>
                </a:solidFill>
                <a:ea typeface="ＭＳ Ｐゴシック" panose="020B0600070205080204" pitchFamily="34" charset="-128"/>
              </a:rPr>
              <a:t>índice </a:t>
            </a:r>
            <a:r xmlns:a="http://schemas.openxmlformats.org/drawingml/2006/main">
              <a:rPr lang="pt" altLang="pt-BR" sz="1600">
                <a:solidFill>
                  <a:srgbClr val="000000"/>
                </a:solidFill>
                <a:ea typeface="ＭＳ Ｐゴシック" panose="020B0600070205080204" pitchFamily="34" charset="-128"/>
              </a:rPr>
              <a:t>para o arquivo</a:t>
            </a:r>
          </a:p>
          <a:p>
            <a:pPr xmlns:a="http://schemas.openxmlformats.org/drawingml/2006/main">
              <a:lnSpc>
                <a:spcPct val="90000"/>
              </a:lnSpc>
              <a:tabLst>
                <a:tab pos="3203575" algn="l"/>
                <a:tab pos="4056063" algn="l"/>
              </a:tabLst>
            </a:pPr>
            <a:r xmlns:a="http://schemas.openxmlformats.org/drawingml/2006/main">
              <a:rPr lang="pt" altLang="pt-BR" sz="1600">
                <a:solidFill>
                  <a:srgbClr val="000000"/>
                </a:solidFill>
                <a:ea typeface="ＭＳ Ｐゴシック" panose="020B0600070205080204" pitchFamily="34" charset="-128"/>
              </a:rPr>
              <a:t>Mantenha o índice na memória para determinação rápida da localização dos dados a serem operados (considere o código UPC mais o registro de dados sobre esse item)</a:t>
            </a:r>
          </a:p>
          <a:p>
            <a:pPr xmlns:a="http://schemas.openxmlformats.org/drawingml/2006/main">
              <a:lnSpc>
                <a:spcPct val="90000"/>
              </a:lnSpc>
              <a:tabLst>
                <a:tab pos="3203575" algn="l"/>
                <a:tab pos="4056063" algn="l"/>
              </a:tabLst>
            </a:pPr>
            <a:r xmlns:a="http://schemas.openxmlformats.org/drawingml/2006/main">
              <a:rPr lang="pt" altLang="pt-BR" sz="1600">
                <a:solidFill>
                  <a:srgbClr val="000000"/>
                </a:solidFill>
                <a:ea typeface="ＭＳ Ｐゴシック" panose="020B0600070205080204" pitchFamily="34" charset="-128"/>
              </a:rPr>
              <a:t>Se for muito grande, índice (na memória) do índice (no disco)</a:t>
            </a:r>
          </a:p>
          <a:p>
            <a:pPr xmlns:a="http://schemas.openxmlformats.org/drawingml/2006/main">
              <a:lnSpc>
                <a:spcPct val="90000"/>
              </a:lnSpc>
              <a:tabLst>
                <a:tab pos="3203575" algn="l"/>
                <a:tab pos="4056063" algn="l"/>
              </a:tabLst>
            </a:pPr>
            <a:r xmlns:a="http://schemas.openxmlformats.org/drawingml/2006/main">
              <a:rPr lang="pt" altLang="pt-BR" sz="1600">
                <a:solidFill>
                  <a:srgbClr val="000000"/>
                </a:solidFill>
                <a:ea typeface="ＭＳ Ｐゴシック" panose="020B0600070205080204" pitchFamily="34" charset="-128"/>
              </a:rPr>
              <a:t>Método de acesso sequencial indexado da IBM (ISAM)</a:t>
            </a:r>
          </a:p>
          <a:p>
            <a:pPr xmlns:a="http://schemas.openxmlformats.org/drawingml/2006/main" lvl="1">
              <a:lnSpc>
                <a:spcPct val="90000"/>
              </a:lnSpc>
              <a:tabLst>
                <a:tab pos="3203575" algn="l"/>
                <a:tab pos="4056063" algn="l"/>
              </a:tabLst>
            </a:pPr>
            <a:r xmlns:a="http://schemas.openxmlformats.org/drawingml/2006/main">
              <a:rPr lang="pt" altLang="pt-BR" sz="1600">
                <a:solidFill>
                  <a:srgbClr val="000000"/>
                </a:solidFill>
                <a:ea typeface="ＭＳ Ｐゴシック" panose="020B0600070205080204" pitchFamily="34" charset="-128"/>
              </a:rPr>
              <a:t>Índice mestre pequeno, aponta para blocos de disco do índice secundário</a:t>
            </a:r>
          </a:p>
          <a:p>
            <a:pPr xmlns:a="http://schemas.openxmlformats.org/drawingml/2006/main" lvl="1">
              <a:lnSpc>
                <a:spcPct val="90000"/>
              </a:lnSpc>
              <a:tabLst>
                <a:tab pos="3203575" algn="l"/>
                <a:tab pos="4056063" algn="l"/>
              </a:tabLst>
            </a:pPr>
            <a:r xmlns:a="http://schemas.openxmlformats.org/drawingml/2006/main">
              <a:rPr lang="pt" altLang="pt-BR" sz="1600">
                <a:solidFill>
                  <a:srgbClr val="000000"/>
                </a:solidFill>
                <a:ea typeface="ＭＳ Ｐゴシック" panose="020B0600070205080204" pitchFamily="34" charset="-128"/>
              </a:rPr>
              <a:t>Arquivo mantido classificado em uma chave definida</a:t>
            </a:r>
          </a:p>
          <a:p>
            <a:pPr xmlns:a="http://schemas.openxmlformats.org/drawingml/2006/main" lvl="1">
              <a:lnSpc>
                <a:spcPct val="90000"/>
              </a:lnSpc>
              <a:tabLst>
                <a:tab pos="3203575" algn="l"/>
                <a:tab pos="4056063" algn="l"/>
              </a:tabLst>
            </a:pPr>
            <a:r xmlns:a="http://schemas.openxmlformats.org/drawingml/2006/main">
              <a:rPr lang="pt" altLang="pt-BR" sz="1600">
                <a:solidFill>
                  <a:srgbClr val="000000"/>
                </a:solidFill>
                <a:ea typeface="ＭＳ Ｐゴシック" panose="020B0600070205080204" pitchFamily="34" charset="-128"/>
              </a:rPr>
              <a:t>Tudo feito pelo SO</a:t>
            </a:r>
          </a:p>
          <a:p>
            <a:pPr xmlns:a="http://schemas.openxmlformats.org/drawingml/2006/main">
              <a:lnSpc>
                <a:spcPct val="90000"/>
              </a:lnSpc>
              <a:tabLst>
                <a:tab pos="3203575" algn="l"/>
                <a:tab pos="4056063" algn="l"/>
              </a:tabLst>
            </a:pPr>
            <a:r xmlns:a="http://schemas.openxmlformats.org/drawingml/2006/main">
              <a:rPr lang="pt" altLang="pt-BR" sz="1600">
                <a:solidFill>
                  <a:srgbClr val="000000"/>
                </a:solidFill>
                <a:ea typeface="ＭＳ Ｐゴシック" panose="020B0600070205080204" pitchFamily="34" charset="-128"/>
              </a:rPr>
              <a:t>O sistema operacional VMS fornece arquivos de índice e relativos como outro exemplo (veja o próximo slide)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32770503-0939-794A-80B0-0CD44E0711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277813"/>
            <a:ext cx="8229600" cy="576262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Exemplo de arquivos de índice e relativos</a:t>
            </a:r>
          </a:p>
        </p:txBody>
      </p:sp>
      <p:pic>
        <p:nvPicPr>
          <p:cNvPr id="39938" name="Picture 5">
            <a:extLst>
              <a:ext uri="{FF2B5EF4-FFF2-40B4-BE49-F238E27FC236}">
                <a16:creationId xmlns:a16="http://schemas.microsoft.com/office/drawing/2014/main" id="{B1FEF655-674E-E74E-B626-28803D40BF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9563" y="1531938"/>
            <a:ext cx="5902325" cy="397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9CBDBEF3-C66E-9C4E-B1C5-DBCA8D3954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Estrutura de diretório</a:t>
            </a:r>
          </a:p>
        </p:txBody>
      </p:sp>
      <p:sp>
        <p:nvSpPr>
          <p:cNvPr id="41986" name="Rectangle 3">
            <a:extLst>
              <a:ext uri="{FF2B5EF4-FFF2-40B4-BE49-F238E27FC236}">
                <a16:creationId xmlns:a16="http://schemas.microsoft.com/office/drawing/2014/main" id="{B8EA137E-4110-9A45-A725-D98926F6E4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66788" y="1374775"/>
            <a:ext cx="7370762" cy="354013"/>
          </a:xfrm>
        </p:spPr>
        <p:txBody>
          <a:bodyPr/>
          <a:lstStyle/>
          <a:p>
            <a:pPr xmlns:a="http://schemas.openxmlformats.org/drawingml/2006/main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Uma coleção de nós contendo informações sobre todos os arquivos</a:t>
            </a:r>
          </a:p>
        </p:txBody>
      </p:sp>
      <p:sp>
        <p:nvSpPr>
          <p:cNvPr id="41987" name="Oval 4">
            <a:extLst>
              <a:ext uri="{FF2B5EF4-FFF2-40B4-BE49-F238E27FC236}">
                <a16:creationId xmlns:a16="http://schemas.microsoft.com/office/drawing/2014/main" id="{6C37EE67-47E8-8845-9345-056932AEA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286000"/>
            <a:ext cx="5334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pt-BR" altLang="pt-BR" sz="1800"/>
          </a:p>
        </p:txBody>
      </p:sp>
      <p:sp>
        <p:nvSpPr>
          <p:cNvPr id="41988" name="Oval 5">
            <a:extLst>
              <a:ext uri="{FF2B5EF4-FFF2-40B4-BE49-F238E27FC236}">
                <a16:creationId xmlns:a16="http://schemas.microsoft.com/office/drawing/2014/main" id="{DC2B5A9D-3F62-E949-9923-2A55F2DF39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2286000"/>
            <a:ext cx="5334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pt-BR" altLang="pt-BR" sz="1800"/>
          </a:p>
        </p:txBody>
      </p:sp>
      <p:sp>
        <p:nvSpPr>
          <p:cNvPr id="41989" name="Oval 6">
            <a:extLst>
              <a:ext uri="{FF2B5EF4-FFF2-40B4-BE49-F238E27FC236}">
                <a16:creationId xmlns:a16="http://schemas.microsoft.com/office/drawing/2014/main" id="{C2CA1993-D201-6747-A621-DC67A7C1D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2286000"/>
            <a:ext cx="5334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pt-BR" altLang="pt-BR" sz="1800"/>
          </a:p>
        </p:txBody>
      </p:sp>
      <p:sp>
        <p:nvSpPr>
          <p:cNvPr id="41990" name="Oval 7">
            <a:extLst>
              <a:ext uri="{FF2B5EF4-FFF2-40B4-BE49-F238E27FC236}">
                <a16:creationId xmlns:a16="http://schemas.microsoft.com/office/drawing/2014/main" id="{B0D01F80-4C4F-7D48-A66D-162F6A7B3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2286000"/>
            <a:ext cx="5334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pt-BR" altLang="pt-BR" sz="1800"/>
          </a:p>
        </p:txBody>
      </p:sp>
      <p:sp>
        <p:nvSpPr>
          <p:cNvPr id="41991" name="Oval 8">
            <a:extLst>
              <a:ext uri="{FF2B5EF4-FFF2-40B4-BE49-F238E27FC236}">
                <a16:creationId xmlns:a16="http://schemas.microsoft.com/office/drawing/2014/main" id="{49DCC30F-A08B-8646-84DD-E7F07DC3F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590800"/>
            <a:ext cx="5334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pt-BR" altLang="pt-BR" sz="1800"/>
          </a:p>
        </p:txBody>
      </p:sp>
      <p:sp>
        <p:nvSpPr>
          <p:cNvPr id="41992" name="Rectangle 9">
            <a:extLst>
              <a:ext uri="{FF2B5EF4-FFF2-40B4-BE49-F238E27FC236}">
                <a16:creationId xmlns:a16="http://schemas.microsoft.com/office/drawing/2014/main" id="{0BDAFA2F-4F7B-5245-883D-00A72CF8D2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4267200"/>
            <a:ext cx="4572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/>
            <a:r xmlns:a="http://schemas.openxmlformats.org/drawingml/2006/main">
              <a:rPr lang="pt" altLang="pt-BR" sz="1800">
                <a:latin typeface="Helvetica" pitchFamily="2" charset="0"/>
              </a:rPr>
              <a:t>F 1</a:t>
            </a:r>
          </a:p>
        </p:txBody>
      </p:sp>
      <p:sp>
        <p:nvSpPr>
          <p:cNvPr id="41993" name="Rectangle 10">
            <a:extLst>
              <a:ext uri="{FF2B5EF4-FFF2-40B4-BE49-F238E27FC236}">
                <a16:creationId xmlns:a16="http://schemas.microsoft.com/office/drawing/2014/main" id="{00387D74-890D-2F41-9E4C-234326F85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4267200"/>
            <a:ext cx="4572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/>
            <a:r xmlns:a="http://schemas.openxmlformats.org/drawingml/2006/main">
              <a:rPr lang="pt" altLang="pt-BR" sz="1800">
                <a:latin typeface="Helvetica" pitchFamily="2" charset="0"/>
              </a:rPr>
              <a:t>F 2</a:t>
            </a:r>
          </a:p>
        </p:txBody>
      </p:sp>
      <p:sp>
        <p:nvSpPr>
          <p:cNvPr id="41994" name="Rectangle 11">
            <a:extLst>
              <a:ext uri="{FF2B5EF4-FFF2-40B4-BE49-F238E27FC236}">
                <a16:creationId xmlns:a16="http://schemas.microsoft.com/office/drawing/2014/main" id="{A605A24E-C0A6-3542-BF1E-F06012F9C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267200"/>
            <a:ext cx="457200" cy="838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/>
            <a:r xmlns:a="http://schemas.openxmlformats.org/drawingml/2006/main">
              <a:rPr lang="pt" altLang="pt-BR" sz="1800">
                <a:latin typeface="Helvetica" pitchFamily="2" charset="0"/>
              </a:rPr>
              <a:t>F 3</a:t>
            </a:r>
          </a:p>
        </p:txBody>
      </p:sp>
      <p:sp>
        <p:nvSpPr>
          <p:cNvPr id="41995" name="Rectangle 12">
            <a:extLst>
              <a:ext uri="{FF2B5EF4-FFF2-40B4-BE49-F238E27FC236}">
                <a16:creationId xmlns:a16="http://schemas.microsoft.com/office/drawing/2014/main" id="{CC24093A-DEC4-3D43-915E-0AA39414A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42672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/>
            <a:r xmlns:a="http://schemas.openxmlformats.org/drawingml/2006/main">
              <a:rPr lang="pt" altLang="pt-BR" sz="1800">
                <a:latin typeface="Helvetica" pitchFamily="2" charset="0"/>
              </a:rPr>
              <a:t>F 4</a:t>
            </a:r>
          </a:p>
        </p:txBody>
      </p:sp>
      <p:sp>
        <p:nvSpPr>
          <p:cNvPr id="41996" name="Rectangle 13">
            <a:extLst>
              <a:ext uri="{FF2B5EF4-FFF2-40B4-BE49-F238E27FC236}">
                <a16:creationId xmlns:a16="http://schemas.microsoft.com/office/drawing/2014/main" id="{CA79A1BA-1393-7541-A6A0-59C973B582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4648200"/>
            <a:ext cx="4572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/>
            <a:r xmlns:a="http://schemas.openxmlformats.org/drawingml/2006/main">
              <a:rPr lang="pt" altLang="pt-BR" sz="1800">
                <a:latin typeface="Helvetica" pitchFamily="2" charset="0"/>
              </a:rPr>
              <a:t>F n</a:t>
            </a:r>
          </a:p>
        </p:txBody>
      </p:sp>
      <p:sp>
        <p:nvSpPr>
          <p:cNvPr id="41997" name="Line 14">
            <a:extLst>
              <a:ext uri="{FF2B5EF4-FFF2-40B4-BE49-F238E27FC236}">
                <a16:creationId xmlns:a16="http://schemas.microsoft.com/office/drawing/2014/main" id="{4B8070BA-715A-8D46-B3F1-3BC1EA99030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38575" y="27432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1998" name="Line 15">
            <a:extLst>
              <a:ext uri="{FF2B5EF4-FFF2-40B4-BE49-F238E27FC236}">
                <a16:creationId xmlns:a16="http://schemas.microsoft.com/office/drawing/2014/main" id="{E22448CF-92EA-CE48-9434-AB3441A78DF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27432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1999" name="Line 16">
            <a:extLst>
              <a:ext uri="{FF2B5EF4-FFF2-40B4-BE49-F238E27FC236}">
                <a16:creationId xmlns:a16="http://schemas.microsoft.com/office/drawing/2014/main" id="{E4841EA9-9A6F-C041-A492-33CF4CBE2DA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30480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2000" name="Line 17">
            <a:extLst>
              <a:ext uri="{FF2B5EF4-FFF2-40B4-BE49-F238E27FC236}">
                <a16:creationId xmlns:a16="http://schemas.microsoft.com/office/drawing/2014/main" id="{74D28666-437D-7B40-AA33-FC5F319B9401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27432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2001" name="Line 18">
            <a:extLst>
              <a:ext uri="{FF2B5EF4-FFF2-40B4-BE49-F238E27FC236}">
                <a16:creationId xmlns:a16="http://schemas.microsoft.com/office/drawing/2014/main" id="{CAAA3EB2-040F-CF4F-92D2-478B33741A98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27432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2002" name="Freeform 19">
            <a:extLst>
              <a:ext uri="{FF2B5EF4-FFF2-40B4-BE49-F238E27FC236}">
                <a16:creationId xmlns:a16="http://schemas.microsoft.com/office/drawing/2014/main" id="{4E8D904F-1959-9149-A585-BF959A29DCFE}"/>
              </a:ext>
            </a:extLst>
          </p:cNvPr>
          <p:cNvSpPr>
            <a:spLocks/>
          </p:cNvSpPr>
          <p:nvPr/>
        </p:nvSpPr>
        <p:spPr bwMode="auto">
          <a:xfrm>
            <a:off x="2538413" y="1962150"/>
            <a:ext cx="4186237" cy="1473200"/>
          </a:xfrm>
          <a:custGeom>
            <a:avLst/>
            <a:gdLst>
              <a:gd name="T0" fmla="*/ 2147483647 w 2637"/>
              <a:gd name="T1" fmla="*/ 2147483647 h 928"/>
              <a:gd name="T2" fmla="*/ 2147483647 w 2637"/>
              <a:gd name="T3" fmla="*/ 2147483647 h 928"/>
              <a:gd name="T4" fmla="*/ 2147483647 w 2637"/>
              <a:gd name="T5" fmla="*/ 2147483647 h 928"/>
              <a:gd name="T6" fmla="*/ 2147483647 w 2637"/>
              <a:gd name="T7" fmla="*/ 2147483647 h 928"/>
              <a:gd name="T8" fmla="*/ 2147483647 w 2637"/>
              <a:gd name="T9" fmla="*/ 0 h 928"/>
              <a:gd name="T10" fmla="*/ 2147483647 w 2637"/>
              <a:gd name="T11" fmla="*/ 2147483647 h 928"/>
              <a:gd name="T12" fmla="*/ 2147483647 w 2637"/>
              <a:gd name="T13" fmla="*/ 2147483647 h 928"/>
              <a:gd name="T14" fmla="*/ 2147483647 w 2637"/>
              <a:gd name="T15" fmla="*/ 2147483647 h 928"/>
              <a:gd name="T16" fmla="*/ 2147483647 w 2637"/>
              <a:gd name="T17" fmla="*/ 2147483647 h 928"/>
              <a:gd name="T18" fmla="*/ 2147483647 w 2637"/>
              <a:gd name="T19" fmla="*/ 2147483647 h 928"/>
              <a:gd name="T20" fmla="*/ 2147483647 w 2637"/>
              <a:gd name="T21" fmla="*/ 2147483647 h 928"/>
              <a:gd name="T22" fmla="*/ 2147483647 w 2637"/>
              <a:gd name="T23" fmla="*/ 2147483647 h 928"/>
              <a:gd name="T24" fmla="*/ 2147483647 w 2637"/>
              <a:gd name="T25" fmla="*/ 2147483647 h 928"/>
              <a:gd name="T26" fmla="*/ 2147483647 w 2637"/>
              <a:gd name="T27" fmla="*/ 2147483647 h 928"/>
              <a:gd name="T28" fmla="*/ 2147483647 w 2637"/>
              <a:gd name="T29" fmla="*/ 2147483647 h 928"/>
              <a:gd name="T30" fmla="*/ 2147483647 w 2637"/>
              <a:gd name="T31" fmla="*/ 2147483647 h 928"/>
              <a:gd name="T32" fmla="*/ 2147483647 w 2637"/>
              <a:gd name="T33" fmla="*/ 2147483647 h 928"/>
              <a:gd name="T34" fmla="*/ 2147483647 w 2637"/>
              <a:gd name="T35" fmla="*/ 2147483647 h 928"/>
              <a:gd name="T36" fmla="*/ 2147483647 w 2637"/>
              <a:gd name="T37" fmla="*/ 2147483647 h 928"/>
              <a:gd name="T38" fmla="*/ 2147483647 w 2637"/>
              <a:gd name="T39" fmla="*/ 2147483647 h 928"/>
              <a:gd name="T40" fmla="*/ 2147483647 w 2637"/>
              <a:gd name="T41" fmla="*/ 2147483647 h 928"/>
              <a:gd name="T42" fmla="*/ 2147483647 w 2637"/>
              <a:gd name="T43" fmla="*/ 2147483647 h 928"/>
              <a:gd name="T44" fmla="*/ 2147483647 w 2637"/>
              <a:gd name="T45" fmla="*/ 2147483647 h 928"/>
              <a:gd name="T46" fmla="*/ 2147483647 w 2637"/>
              <a:gd name="T47" fmla="*/ 2147483647 h 928"/>
              <a:gd name="T48" fmla="*/ 2147483647 w 2637"/>
              <a:gd name="T49" fmla="*/ 2147483647 h 928"/>
              <a:gd name="T50" fmla="*/ 2147483647 w 2637"/>
              <a:gd name="T51" fmla="*/ 2147483647 h 928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2637"/>
              <a:gd name="T79" fmla="*/ 0 h 928"/>
              <a:gd name="T80" fmla="*/ 2637 w 2637"/>
              <a:gd name="T81" fmla="*/ 928 h 928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2637" h="928">
                <a:moveTo>
                  <a:pt x="10" y="328"/>
                </a:moveTo>
                <a:cubicBezTo>
                  <a:pt x="14" y="291"/>
                  <a:pt x="6" y="248"/>
                  <a:pt x="28" y="219"/>
                </a:cubicBezTo>
                <a:cubicBezTo>
                  <a:pt x="124" y="92"/>
                  <a:pt x="264" y="66"/>
                  <a:pt x="410" y="37"/>
                </a:cubicBezTo>
                <a:cubicBezTo>
                  <a:pt x="516" y="16"/>
                  <a:pt x="457" y="14"/>
                  <a:pt x="583" y="10"/>
                </a:cubicBezTo>
                <a:cubicBezTo>
                  <a:pt x="728" y="5"/>
                  <a:pt x="874" y="3"/>
                  <a:pt x="1019" y="0"/>
                </a:cubicBezTo>
                <a:cubicBezTo>
                  <a:pt x="1146" y="3"/>
                  <a:pt x="1274" y="3"/>
                  <a:pt x="1401" y="10"/>
                </a:cubicBezTo>
                <a:cubicBezTo>
                  <a:pt x="1485" y="15"/>
                  <a:pt x="1571" y="41"/>
                  <a:pt x="1655" y="55"/>
                </a:cubicBezTo>
                <a:cubicBezTo>
                  <a:pt x="1733" y="86"/>
                  <a:pt x="1819" y="108"/>
                  <a:pt x="1901" y="128"/>
                </a:cubicBezTo>
                <a:cubicBezTo>
                  <a:pt x="1942" y="148"/>
                  <a:pt x="1975" y="152"/>
                  <a:pt x="2019" y="164"/>
                </a:cubicBezTo>
                <a:cubicBezTo>
                  <a:pt x="2098" y="185"/>
                  <a:pt x="2162" y="200"/>
                  <a:pt x="2246" y="210"/>
                </a:cubicBezTo>
                <a:cubicBezTo>
                  <a:pt x="2293" y="226"/>
                  <a:pt x="2338" y="230"/>
                  <a:pt x="2382" y="255"/>
                </a:cubicBezTo>
                <a:cubicBezTo>
                  <a:pt x="2439" y="287"/>
                  <a:pt x="2477" y="343"/>
                  <a:pt x="2519" y="391"/>
                </a:cubicBezTo>
                <a:cubicBezTo>
                  <a:pt x="2536" y="410"/>
                  <a:pt x="2562" y="423"/>
                  <a:pt x="2573" y="446"/>
                </a:cubicBezTo>
                <a:cubicBezTo>
                  <a:pt x="2594" y="488"/>
                  <a:pt x="2606" y="529"/>
                  <a:pt x="2619" y="573"/>
                </a:cubicBezTo>
                <a:cubicBezTo>
                  <a:pt x="2624" y="591"/>
                  <a:pt x="2637" y="628"/>
                  <a:pt x="2637" y="628"/>
                </a:cubicBezTo>
                <a:cubicBezTo>
                  <a:pt x="2634" y="654"/>
                  <a:pt x="2634" y="707"/>
                  <a:pt x="2619" y="737"/>
                </a:cubicBezTo>
                <a:cubicBezTo>
                  <a:pt x="2582" y="812"/>
                  <a:pt x="2477" y="854"/>
                  <a:pt x="2401" y="873"/>
                </a:cubicBezTo>
                <a:cubicBezTo>
                  <a:pt x="2341" y="911"/>
                  <a:pt x="2270" y="909"/>
                  <a:pt x="2201" y="919"/>
                </a:cubicBezTo>
                <a:cubicBezTo>
                  <a:pt x="1832" y="915"/>
                  <a:pt x="1500" y="928"/>
                  <a:pt x="1146" y="873"/>
                </a:cubicBezTo>
                <a:cubicBezTo>
                  <a:pt x="917" y="837"/>
                  <a:pt x="702" y="728"/>
                  <a:pt x="474" y="700"/>
                </a:cubicBezTo>
                <a:cubicBezTo>
                  <a:pt x="465" y="697"/>
                  <a:pt x="455" y="695"/>
                  <a:pt x="446" y="691"/>
                </a:cubicBezTo>
                <a:cubicBezTo>
                  <a:pt x="434" y="686"/>
                  <a:pt x="423" y="677"/>
                  <a:pt x="410" y="673"/>
                </a:cubicBezTo>
                <a:cubicBezTo>
                  <a:pt x="297" y="636"/>
                  <a:pt x="185" y="632"/>
                  <a:pt x="83" y="564"/>
                </a:cubicBezTo>
                <a:cubicBezTo>
                  <a:pt x="47" y="512"/>
                  <a:pt x="45" y="458"/>
                  <a:pt x="28" y="400"/>
                </a:cubicBezTo>
                <a:cubicBezTo>
                  <a:pt x="28" y="400"/>
                  <a:pt x="5" y="332"/>
                  <a:pt x="1" y="319"/>
                </a:cubicBezTo>
                <a:cubicBezTo>
                  <a:pt x="0" y="315"/>
                  <a:pt x="7" y="325"/>
                  <a:pt x="10" y="328"/>
                </a:cubicBezTo>
                <a:close/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2003" name="Freeform 20">
            <a:extLst>
              <a:ext uri="{FF2B5EF4-FFF2-40B4-BE49-F238E27FC236}">
                <a16:creationId xmlns:a16="http://schemas.microsoft.com/office/drawing/2014/main" id="{9D46E29E-EB7C-1748-8269-321A1AD3E280}"/>
              </a:ext>
            </a:extLst>
          </p:cNvPr>
          <p:cNvSpPr>
            <a:spLocks/>
          </p:cNvSpPr>
          <p:nvPr/>
        </p:nvSpPr>
        <p:spPr bwMode="auto">
          <a:xfrm>
            <a:off x="2362200" y="3886200"/>
            <a:ext cx="4262438" cy="1600200"/>
          </a:xfrm>
          <a:custGeom>
            <a:avLst/>
            <a:gdLst>
              <a:gd name="T0" fmla="*/ 2147483647 w 2637"/>
              <a:gd name="T1" fmla="*/ 2147483647 h 928"/>
              <a:gd name="T2" fmla="*/ 2147483647 w 2637"/>
              <a:gd name="T3" fmla="*/ 2147483647 h 928"/>
              <a:gd name="T4" fmla="*/ 2147483647 w 2637"/>
              <a:gd name="T5" fmla="*/ 2147483647 h 928"/>
              <a:gd name="T6" fmla="*/ 2147483647 w 2637"/>
              <a:gd name="T7" fmla="*/ 2147483647 h 928"/>
              <a:gd name="T8" fmla="*/ 2147483647 w 2637"/>
              <a:gd name="T9" fmla="*/ 0 h 928"/>
              <a:gd name="T10" fmla="*/ 2147483647 w 2637"/>
              <a:gd name="T11" fmla="*/ 2147483647 h 928"/>
              <a:gd name="T12" fmla="*/ 2147483647 w 2637"/>
              <a:gd name="T13" fmla="*/ 2147483647 h 928"/>
              <a:gd name="T14" fmla="*/ 2147483647 w 2637"/>
              <a:gd name="T15" fmla="*/ 2147483647 h 928"/>
              <a:gd name="T16" fmla="*/ 2147483647 w 2637"/>
              <a:gd name="T17" fmla="*/ 2147483647 h 928"/>
              <a:gd name="T18" fmla="*/ 2147483647 w 2637"/>
              <a:gd name="T19" fmla="*/ 2147483647 h 928"/>
              <a:gd name="T20" fmla="*/ 2147483647 w 2637"/>
              <a:gd name="T21" fmla="*/ 2147483647 h 928"/>
              <a:gd name="T22" fmla="*/ 2147483647 w 2637"/>
              <a:gd name="T23" fmla="*/ 2147483647 h 928"/>
              <a:gd name="T24" fmla="*/ 2147483647 w 2637"/>
              <a:gd name="T25" fmla="*/ 2147483647 h 928"/>
              <a:gd name="T26" fmla="*/ 2147483647 w 2637"/>
              <a:gd name="T27" fmla="*/ 2147483647 h 928"/>
              <a:gd name="T28" fmla="*/ 2147483647 w 2637"/>
              <a:gd name="T29" fmla="*/ 2147483647 h 928"/>
              <a:gd name="T30" fmla="*/ 2147483647 w 2637"/>
              <a:gd name="T31" fmla="*/ 2147483647 h 928"/>
              <a:gd name="T32" fmla="*/ 2147483647 w 2637"/>
              <a:gd name="T33" fmla="*/ 2147483647 h 928"/>
              <a:gd name="T34" fmla="*/ 2147483647 w 2637"/>
              <a:gd name="T35" fmla="*/ 2147483647 h 928"/>
              <a:gd name="T36" fmla="*/ 2147483647 w 2637"/>
              <a:gd name="T37" fmla="*/ 2147483647 h 928"/>
              <a:gd name="T38" fmla="*/ 2147483647 w 2637"/>
              <a:gd name="T39" fmla="*/ 2147483647 h 928"/>
              <a:gd name="T40" fmla="*/ 2147483647 w 2637"/>
              <a:gd name="T41" fmla="*/ 2147483647 h 928"/>
              <a:gd name="T42" fmla="*/ 2147483647 w 2637"/>
              <a:gd name="T43" fmla="*/ 2147483647 h 928"/>
              <a:gd name="T44" fmla="*/ 2147483647 w 2637"/>
              <a:gd name="T45" fmla="*/ 2147483647 h 928"/>
              <a:gd name="T46" fmla="*/ 2147483647 w 2637"/>
              <a:gd name="T47" fmla="*/ 2147483647 h 928"/>
              <a:gd name="T48" fmla="*/ 2147483647 w 2637"/>
              <a:gd name="T49" fmla="*/ 2147483647 h 928"/>
              <a:gd name="T50" fmla="*/ 2147483647 w 2637"/>
              <a:gd name="T51" fmla="*/ 2147483647 h 928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2637"/>
              <a:gd name="T79" fmla="*/ 0 h 928"/>
              <a:gd name="T80" fmla="*/ 2637 w 2637"/>
              <a:gd name="T81" fmla="*/ 928 h 928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2637" h="928">
                <a:moveTo>
                  <a:pt x="10" y="328"/>
                </a:moveTo>
                <a:cubicBezTo>
                  <a:pt x="14" y="291"/>
                  <a:pt x="6" y="248"/>
                  <a:pt x="28" y="219"/>
                </a:cubicBezTo>
                <a:cubicBezTo>
                  <a:pt x="124" y="92"/>
                  <a:pt x="264" y="66"/>
                  <a:pt x="410" y="37"/>
                </a:cubicBezTo>
                <a:cubicBezTo>
                  <a:pt x="516" y="16"/>
                  <a:pt x="457" y="14"/>
                  <a:pt x="583" y="10"/>
                </a:cubicBezTo>
                <a:cubicBezTo>
                  <a:pt x="728" y="5"/>
                  <a:pt x="874" y="3"/>
                  <a:pt x="1019" y="0"/>
                </a:cubicBezTo>
                <a:cubicBezTo>
                  <a:pt x="1146" y="3"/>
                  <a:pt x="1274" y="3"/>
                  <a:pt x="1401" y="10"/>
                </a:cubicBezTo>
                <a:cubicBezTo>
                  <a:pt x="1485" y="15"/>
                  <a:pt x="1571" y="41"/>
                  <a:pt x="1655" y="55"/>
                </a:cubicBezTo>
                <a:cubicBezTo>
                  <a:pt x="1733" y="86"/>
                  <a:pt x="1819" y="108"/>
                  <a:pt x="1901" y="128"/>
                </a:cubicBezTo>
                <a:cubicBezTo>
                  <a:pt x="1942" y="148"/>
                  <a:pt x="1975" y="152"/>
                  <a:pt x="2019" y="164"/>
                </a:cubicBezTo>
                <a:cubicBezTo>
                  <a:pt x="2098" y="185"/>
                  <a:pt x="2162" y="200"/>
                  <a:pt x="2246" y="210"/>
                </a:cubicBezTo>
                <a:cubicBezTo>
                  <a:pt x="2293" y="226"/>
                  <a:pt x="2338" y="230"/>
                  <a:pt x="2382" y="255"/>
                </a:cubicBezTo>
                <a:cubicBezTo>
                  <a:pt x="2439" y="287"/>
                  <a:pt x="2477" y="343"/>
                  <a:pt x="2519" y="391"/>
                </a:cubicBezTo>
                <a:cubicBezTo>
                  <a:pt x="2536" y="410"/>
                  <a:pt x="2562" y="423"/>
                  <a:pt x="2573" y="446"/>
                </a:cubicBezTo>
                <a:cubicBezTo>
                  <a:pt x="2594" y="488"/>
                  <a:pt x="2606" y="529"/>
                  <a:pt x="2619" y="573"/>
                </a:cubicBezTo>
                <a:cubicBezTo>
                  <a:pt x="2624" y="591"/>
                  <a:pt x="2637" y="628"/>
                  <a:pt x="2637" y="628"/>
                </a:cubicBezTo>
                <a:cubicBezTo>
                  <a:pt x="2634" y="654"/>
                  <a:pt x="2634" y="707"/>
                  <a:pt x="2619" y="737"/>
                </a:cubicBezTo>
                <a:cubicBezTo>
                  <a:pt x="2582" y="812"/>
                  <a:pt x="2477" y="854"/>
                  <a:pt x="2401" y="873"/>
                </a:cubicBezTo>
                <a:cubicBezTo>
                  <a:pt x="2341" y="911"/>
                  <a:pt x="2270" y="909"/>
                  <a:pt x="2201" y="919"/>
                </a:cubicBezTo>
                <a:cubicBezTo>
                  <a:pt x="1832" y="915"/>
                  <a:pt x="1500" y="928"/>
                  <a:pt x="1146" y="873"/>
                </a:cubicBezTo>
                <a:cubicBezTo>
                  <a:pt x="917" y="837"/>
                  <a:pt x="702" y="728"/>
                  <a:pt x="474" y="700"/>
                </a:cubicBezTo>
                <a:cubicBezTo>
                  <a:pt x="465" y="697"/>
                  <a:pt x="455" y="695"/>
                  <a:pt x="446" y="691"/>
                </a:cubicBezTo>
                <a:cubicBezTo>
                  <a:pt x="434" y="686"/>
                  <a:pt x="423" y="677"/>
                  <a:pt x="410" y="673"/>
                </a:cubicBezTo>
                <a:cubicBezTo>
                  <a:pt x="297" y="636"/>
                  <a:pt x="185" y="632"/>
                  <a:pt x="83" y="564"/>
                </a:cubicBezTo>
                <a:cubicBezTo>
                  <a:pt x="47" y="512"/>
                  <a:pt x="45" y="458"/>
                  <a:pt x="28" y="400"/>
                </a:cubicBezTo>
                <a:cubicBezTo>
                  <a:pt x="28" y="400"/>
                  <a:pt x="5" y="332"/>
                  <a:pt x="1" y="319"/>
                </a:cubicBezTo>
                <a:cubicBezTo>
                  <a:pt x="0" y="315"/>
                  <a:pt x="7" y="325"/>
                  <a:pt x="10" y="328"/>
                </a:cubicBezTo>
                <a:close/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2004" name="Text Box 21">
            <a:extLst>
              <a:ext uri="{FF2B5EF4-FFF2-40B4-BE49-F238E27FC236}">
                <a16:creationId xmlns:a16="http://schemas.microsoft.com/office/drawing/2014/main" id="{83C0F8B4-8C99-1644-BA6D-595B8725A9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286000"/>
            <a:ext cx="1098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1800">
                <a:latin typeface="Helvetica" pitchFamily="2" charset="0"/>
              </a:rPr>
              <a:t>Diretório</a:t>
            </a:r>
          </a:p>
        </p:txBody>
      </p:sp>
      <p:sp>
        <p:nvSpPr>
          <p:cNvPr id="42005" name="Text Box 22">
            <a:extLst>
              <a:ext uri="{FF2B5EF4-FFF2-40B4-BE49-F238E27FC236}">
                <a16:creationId xmlns:a16="http://schemas.microsoft.com/office/drawing/2014/main" id="{6A3B811F-9AC6-CB40-9890-5EEC814BFF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5100" y="4191000"/>
            <a:ext cx="666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1800">
                <a:latin typeface="Helvetica" pitchFamily="2" charset="0"/>
              </a:rPr>
              <a:t>Arquivos</a:t>
            </a:r>
          </a:p>
        </p:txBody>
      </p:sp>
      <p:sp>
        <p:nvSpPr>
          <p:cNvPr id="42006" name="Rectangle 23">
            <a:extLst>
              <a:ext uri="{FF2B5EF4-FFF2-40B4-BE49-F238E27FC236}">
                <a16:creationId xmlns:a16="http://schemas.microsoft.com/office/drawing/2014/main" id="{C4F2BADD-93E0-CA42-82B5-F89A04F01B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5638800"/>
            <a:ext cx="7602538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 xmlns:a="http://schemas.openxmlformats.org/drawingml/2006/main">
              <a:rPr lang="pt" altLang="pt-BR" sz="1800">
                <a:latin typeface="Helvetica" pitchFamily="2" charset="0"/>
              </a:rPr>
              <a:t>Tanto a estrutura do diretório quanto os arquivos residem no disco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2">
            <a:extLst>
              <a:ext uri="{FF2B5EF4-FFF2-40B4-BE49-F238E27FC236}">
                <a16:creationId xmlns:a16="http://schemas.microsoft.com/office/drawing/2014/main" id="{4A8B98F0-5DE3-EF4F-BF05-24FC83605307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Estrutura do disco</a:t>
            </a:r>
          </a:p>
        </p:txBody>
      </p:sp>
      <p:sp>
        <p:nvSpPr>
          <p:cNvPr id="44034" name="Content Placeholder 3">
            <a:extLst>
              <a:ext uri="{FF2B5EF4-FFF2-40B4-BE49-F238E27FC236}">
                <a16:creationId xmlns:a16="http://schemas.microsoft.com/office/drawing/2014/main" id="{41AB8F2F-4E5A-F141-8CA3-64040156A7C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06450" y="1233488"/>
            <a:ext cx="7697788" cy="4530725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disco pode ser subdividido em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partições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Discos ou partições podem ser protegidos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por RAID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contra falhas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disco ou partição pode ser usado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cru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sem sistema de arquivos ou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formatado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com um sistema de arquivos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Partições também conhecidas como minidiscos, fatias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Entidade que contém um sistema de arquivos conhecido como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volume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Cada volume que contém o sistema de arquivos também rastreia as informações desse sistema de arquivos </a:t>
            </a:r>
            <a:r xmlns:a="http://schemas.openxmlformats.org/drawingml/2006/main">
              <a:rPr lang="pt" altLang="en-US">
                <a:ea typeface="ＭＳ Ｐゴシック" panose="020B0600070205080204" pitchFamily="34" charset="-128"/>
              </a:rPr>
              <a:t>no </a:t>
            </a:r>
            <a:r xmlns:a="http://schemas.openxmlformats.org/drawingml/2006/main">
              <a:rPr lang="pt" altLang="ja-JP">
                <a:ea typeface="ＭＳ Ｐゴシック" panose="020B0600070205080204" pitchFamily="34" charset="-128"/>
              </a:rPr>
              <a:t>diretório </a:t>
            </a:r>
            <a:r xmlns:a="http://schemas.openxmlformats.org/drawingml/2006/main">
              <a:rPr lang="pt" altLang="ja-JP" b="1">
                <a:solidFill>
                  <a:srgbClr val="3366FF"/>
                </a:solidFill>
                <a:ea typeface="ＭＳ Ｐゴシック" panose="020B0600070205080204" pitchFamily="34" charset="-128"/>
              </a:rPr>
              <a:t>do dispositivo</a:t>
            </a:r>
            <a:r xmlns:a="http://schemas.openxmlformats.org/drawingml/2006/main">
              <a:rPr lang="pt" altLang="ja-JP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ja-JP">
                <a:ea typeface="ＭＳ Ｐゴシック" panose="020B0600070205080204" pitchFamily="34" charset="-128"/>
              </a:rPr>
              <a:t>ou </a:t>
            </a:r>
            <a:r xmlns:a="http://schemas.openxmlformats.org/drawingml/2006/main">
              <a:rPr lang="pt" altLang="ja-JP" b="1">
                <a:solidFill>
                  <a:srgbClr val="3366FF"/>
                </a:solidFill>
                <a:ea typeface="ＭＳ Ｐゴシック" panose="020B0600070205080204" pitchFamily="34" charset="-128"/>
              </a:rPr>
              <a:t>índice de volume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Bem como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sistemas de arquivos de uso geral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Existem muitos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sistemas de arquivos de propósito específico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, frequentemente todos dentro do mesmo sistema operacional ou computador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>
            <a:extLst>
              <a:ext uri="{FF2B5EF4-FFF2-40B4-BE49-F238E27FC236}">
                <a16:creationId xmlns:a16="http://schemas.microsoft.com/office/drawing/2014/main" id="{FF846DDE-D4E8-D64A-A512-C8DD9E907C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2325" y="277813"/>
            <a:ext cx="8229600" cy="576262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Uma organização típica de sistema de arquivos</a:t>
            </a:r>
          </a:p>
        </p:txBody>
      </p:sp>
      <p:pic>
        <p:nvPicPr>
          <p:cNvPr id="46082" name="Picture 6" descr="10">
            <a:extLst>
              <a:ext uri="{FF2B5EF4-FFF2-40B4-BE49-F238E27FC236}">
                <a16:creationId xmlns:a16="http://schemas.microsoft.com/office/drawing/2014/main" id="{C155C22C-D401-544A-BC15-C9EAB7DD34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225" y="1457325"/>
            <a:ext cx="7434263" cy="395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2">
            <a:extLst>
              <a:ext uri="{FF2B5EF4-FFF2-40B4-BE49-F238E27FC236}">
                <a16:creationId xmlns:a16="http://schemas.microsoft.com/office/drawing/2014/main" id="{2640E976-9954-0E4B-9E73-B2E1468FA04B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Tipos de sistemas de arquivos</a:t>
            </a:r>
          </a:p>
        </p:txBody>
      </p:sp>
      <p:sp>
        <p:nvSpPr>
          <p:cNvPr id="48130" name="Content Placeholder 3">
            <a:extLst>
              <a:ext uri="{FF2B5EF4-FFF2-40B4-BE49-F238E27FC236}">
                <a16:creationId xmlns:a16="http://schemas.microsoft.com/office/drawing/2014/main" id="{161CEE70-901C-DB4B-ABD4-D14BC0741B8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06450" y="1233488"/>
            <a:ext cx="7697788" cy="4530725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Falamos principalmente de sistemas de arquivos de uso geral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Mas os sistemas frequentemente têm sistemas de arquivos, alguns de propósito geral e alguns de propósito especial.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Considere que o Solaris tem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tmpfs – sistema de arquivos volátil baseado em memória para E/S rápida e temporária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objfs – interface na memória do kernel para obter símbolos do kernel para depuração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ctfs – sistema de arquivos de contrato para gerenciamento de daemons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lofs – sistema de arquivos de loopback permite que um FS seja acessado no lugar de outro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procfs – interface do kernel para processar estruturas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ufs, zfs – sistemas de arquivos de uso geral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>
            <a:extLst>
              <a:ext uri="{FF2B5EF4-FFF2-40B4-BE49-F238E27FC236}">
                <a16:creationId xmlns:a16="http://schemas.microsoft.com/office/drawing/2014/main" id="{AFDEDC7A-72F4-3B42-A0C7-9E3AF204C3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4075" y="277813"/>
            <a:ext cx="8229600" cy="576262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Operações realizadas no diretório</a:t>
            </a:r>
          </a:p>
        </p:txBody>
      </p:sp>
      <p:sp>
        <p:nvSpPr>
          <p:cNvPr id="50178" name="Rectangle 3">
            <a:extLst>
              <a:ext uri="{FF2B5EF4-FFF2-40B4-BE49-F238E27FC236}">
                <a16:creationId xmlns:a16="http://schemas.microsoft.com/office/drawing/2014/main" id="{853FE75B-09F3-B349-8216-637E40B498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Pesquisar um arquivo</a:t>
            </a:r>
          </a:p>
          <a:p>
            <a:endParaRPr lang="en-US" altLang="pt-BR" sz="8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Criar um arquivo</a:t>
            </a:r>
          </a:p>
          <a:p>
            <a:endParaRPr lang="en-US" altLang="pt-BR" sz="8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Excluir um arquivo</a:t>
            </a:r>
          </a:p>
          <a:p>
            <a:endParaRPr lang="en-US" altLang="pt-BR" sz="8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Listar um diretório</a:t>
            </a:r>
          </a:p>
          <a:p>
            <a:endParaRPr lang="en-US" altLang="pt-BR" sz="8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Renomear um arquivo</a:t>
            </a:r>
          </a:p>
          <a:p>
            <a:endParaRPr lang="en-US" altLang="pt-BR" sz="8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Percorrer o sistema de arquivos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>
            <a:extLst>
              <a:ext uri="{FF2B5EF4-FFF2-40B4-BE49-F238E27FC236}">
                <a16:creationId xmlns:a16="http://schemas.microsoft.com/office/drawing/2014/main" id="{1F2C0B1A-A37A-C543-88FA-25BA5ADB0A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52513" y="409575"/>
            <a:ext cx="7743825" cy="45720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 sz="2800">
                <a:ea typeface="ＭＳ Ｐゴシック" panose="020B0600070205080204" pitchFamily="34" charset="-128"/>
              </a:rPr>
              <a:t>Organize o diretório (logicamente) para obter</a:t>
            </a:r>
          </a:p>
        </p:txBody>
      </p:sp>
      <p:sp>
        <p:nvSpPr>
          <p:cNvPr id="52226" name="Rectangle 3">
            <a:extLst>
              <a:ext uri="{FF2B5EF4-FFF2-40B4-BE49-F238E27FC236}">
                <a16:creationId xmlns:a16="http://schemas.microsoft.com/office/drawing/2014/main" id="{A7C1C2CC-9B6D-9347-ABF7-634B160753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303338"/>
            <a:ext cx="7270750" cy="4460875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Eficiência – localizar um arquivo rapidamente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Nomenclatura – conveniente para os usuários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Dois usuários podem ter o mesmo nome para arquivos diferentes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mesmo arquivo pode ter vários nomes diferentes</a:t>
            </a: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Agrupamento – agrupamento lógico de arquivos por propriedades (por exemplo, todos os programas Java, todos os jogos, …)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>
            <a:extLst>
              <a:ext uri="{FF2B5EF4-FFF2-40B4-BE49-F238E27FC236}">
                <a16:creationId xmlns:a16="http://schemas.microsoft.com/office/drawing/2014/main" id="{10FB50C0-A9CF-1F42-9D63-E339040CE1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Diretório de nível único</a:t>
            </a:r>
            <a:endParaRPr xmlns:a="http://schemas.openxmlformats.org/drawingml/2006/main" lang="en-US" altLang="pt-BR" sz="2400">
              <a:ea typeface="ＭＳ Ｐゴシック" panose="020B0600070205080204" pitchFamily="34" charset="-128"/>
            </a:endParaRPr>
          </a:p>
        </p:txBody>
      </p:sp>
      <p:sp>
        <p:nvSpPr>
          <p:cNvPr id="54274" name="Rectangle 3">
            <a:extLst>
              <a:ext uri="{FF2B5EF4-FFF2-40B4-BE49-F238E27FC236}">
                <a16:creationId xmlns:a16="http://schemas.microsoft.com/office/drawing/2014/main" id="{2A8CE19C-50A5-9043-8C7E-E8429EB0B8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1525" y="1482725"/>
            <a:ext cx="7029450" cy="561975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 único diretório para todos os usuários</a:t>
            </a:r>
          </a:p>
        </p:txBody>
      </p:sp>
      <p:sp>
        <p:nvSpPr>
          <p:cNvPr id="54275" name="Rectangle 5">
            <a:extLst>
              <a:ext uri="{FF2B5EF4-FFF2-40B4-BE49-F238E27FC236}">
                <a16:creationId xmlns:a16="http://schemas.microsoft.com/office/drawing/2014/main" id="{67BDF1D3-FE38-9E4A-BB25-5C13563A6A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925" y="4238625"/>
            <a:ext cx="7123113" cy="101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 xmlns:a="http://schemas.openxmlformats.org/drawingml/2006/main">
              <a:rPr lang="pt" altLang="pt-BR" sz="2000">
                <a:latin typeface="Helvetica" pitchFamily="2" charset="0"/>
              </a:rPr>
              <a:t>Problema de nomenclatura</a:t>
            </a:r>
            <a:br xmlns:a="http://schemas.openxmlformats.org/drawingml/2006/main">
              <a:rPr lang="en-US" altLang="pt-BR" sz="2000">
                <a:latin typeface="Helvetica" pitchFamily="2" charset="0"/>
              </a:rPr>
            </a:br>
            <a:endParaRPr xmlns:a="http://schemas.openxmlformats.org/drawingml/2006/main" lang="en-US" altLang="pt-BR" sz="2000">
              <a:latin typeface="Helvetica" pitchFamily="2" charset="0"/>
            </a:endParaRPr>
          </a:p>
          <a:p>
            <a:r xmlns:a="http://schemas.openxmlformats.org/drawingml/2006/main">
              <a:rPr lang="pt" altLang="pt-BR" sz="2000">
                <a:latin typeface="Helvetica" pitchFamily="2" charset="0"/>
              </a:rPr>
              <a:t>Problema de agrupamento</a:t>
            </a:r>
          </a:p>
        </p:txBody>
      </p:sp>
      <p:pic>
        <p:nvPicPr>
          <p:cNvPr id="54276" name="Picture 7">
            <a:extLst>
              <a:ext uri="{FF2B5EF4-FFF2-40B4-BE49-F238E27FC236}">
                <a16:creationId xmlns:a16="http://schemas.microsoft.com/office/drawing/2014/main" id="{B8DB2178-0670-F94A-9E9F-1D1A989312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100263"/>
            <a:ext cx="7077075" cy="172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>
            <a:extLst>
              <a:ext uri="{FF2B5EF4-FFF2-40B4-BE49-F238E27FC236}">
                <a16:creationId xmlns:a16="http://schemas.microsoft.com/office/drawing/2014/main" id="{1C4A6C5B-DB20-6349-9850-A80DBC3372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Diretório de dois níveis</a:t>
            </a:r>
            <a:endParaRPr xmlns:a="http://schemas.openxmlformats.org/drawingml/2006/main" lang="en-US" altLang="pt-BR" sz="2400">
              <a:ea typeface="ＭＳ Ｐゴシック" panose="020B0600070205080204" pitchFamily="34" charset="-128"/>
            </a:endParaRPr>
          </a:p>
        </p:txBody>
      </p:sp>
      <p:sp>
        <p:nvSpPr>
          <p:cNvPr id="56322" name="Rectangle 3">
            <a:extLst>
              <a:ext uri="{FF2B5EF4-FFF2-40B4-BE49-F238E27FC236}">
                <a16:creationId xmlns:a16="http://schemas.microsoft.com/office/drawing/2014/main" id="{2237C69D-CEEA-C54A-BD35-6445F858FE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869238" cy="555625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Diretório separado para cada usuário</a:t>
            </a:r>
          </a:p>
        </p:txBody>
      </p:sp>
      <p:sp>
        <p:nvSpPr>
          <p:cNvPr id="56323" name="Rectangle 5">
            <a:extLst>
              <a:ext uri="{FF2B5EF4-FFF2-40B4-BE49-F238E27FC236}">
                <a16:creationId xmlns:a16="http://schemas.microsoft.com/office/drawing/2014/main" id="{C31C8CD2-D6BD-6541-87E2-4D71F3864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513" y="4575175"/>
            <a:ext cx="7002462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 xmlns:a="http://schemas.openxmlformats.org/drawingml/2006/main">
              <a:rPr kumimoji="1" lang="pt" altLang="pt-BR" sz="1800">
                <a:latin typeface="Helvetica" pitchFamily="2" charset="0"/>
              </a:rPr>
              <a:t>Nome do caminho</a:t>
            </a:r>
          </a:p>
          <a:p>
            <a:pPr xmlns:a="http://schemas.openxmlformats.org/drawingml/2006/main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 xmlns:a="http://schemas.openxmlformats.org/drawingml/2006/main">
              <a:rPr kumimoji="1" lang="pt" altLang="pt-BR" sz="1800">
                <a:latin typeface="Helvetica" pitchFamily="2" charset="0"/>
              </a:rPr>
              <a:t>Pode ter o mesmo nome de arquivo para usuários diferentes</a:t>
            </a:r>
          </a:p>
          <a:p>
            <a:pPr xmlns:a="http://schemas.openxmlformats.org/drawingml/2006/main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 xmlns:a="http://schemas.openxmlformats.org/drawingml/2006/main">
              <a:rPr kumimoji="1" lang="pt" altLang="pt-BR" sz="1800">
                <a:latin typeface="Helvetica" pitchFamily="2" charset="0"/>
              </a:rPr>
              <a:t>Pesquisa eficiente</a:t>
            </a:r>
          </a:p>
          <a:p>
            <a:pPr xmlns:a="http://schemas.openxmlformats.org/drawingml/2006/main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 xmlns:a="http://schemas.openxmlformats.org/drawingml/2006/main">
              <a:rPr kumimoji="1" lang="pt" altLang="pt-BR" sz="1800">
                <a:latin typeface="Helvetica" pitchFamily="2" charset="0"/>
              </a:rPr>
              <a:t>Nenhuma capacidade de agrupamento</a:t>
            </a:r>
          </a:p>
        </p:txBody>
      </p:sp>
      <p:pic>
        <p:nvPicPr>
          <p:cNvPr id="56324" name="Picture 8">
            <a:extLst>
              <a:ext uri="{FF2B5EF4-FFF2-40B4-BE49-F238E27FC236}">
                <a16:creationId xmlns:a16="http://schemas.microsoft.com/office/drawing/2014/main" id="{D5D889EF-9448-3649-9B49-BA1713C2BA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2688" y="1887538"/>
            <a:ext cx="7102475" cy="242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>
            <a:extLst>
              <a:ext uri="{FF2B5EF4-FFF2-40B4-BE49-F238E27FC236}">
                <a16:creationId xmlns:a16="http://schemas.microsoft.com/office/drawing/2014/main" id="{A6B434DC-B67C-F74A-9876-8EAE39061A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Diretórios estruturados em árvore</a:t>
            </a:r>
          </a:p>
        </p:txBody>
      </p:sp>
      <p:pic>
        <p:nvPicPr>
          <p:cNvPr id="58370" name="Picture 6">
            <a:extLst>
              <a:ext uri="{FF2B5EF4-FFF2-40B4-BE49-F238E27FC236}">
                <a16:creationId xmlns:a16="http://schemas.microsoft.com/office/drawing/2014/main" id="{93795C02-845C-514C-AE74-1654DC200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0" y="1385888"/>
            <a:ext cx="7305675" cy="465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>
            <a:extLst>
              <a:ext uri="{FF2B5EF4-FFF2-40B4-BE49-F238E27FC236}">
                <a16:creationId xmlns:a16="http://schemas.microsoft.com/office/drawing/2014/main" id="{DB4EA501-6179-F94D-9A4D-93EDC12AC1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74700" y="277813"/>
            <a:ext cx="8229600" cy="576262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Diretórios estruturados em árvore (cont.)</a:t>
            </a:r>
          </a:p>
        </p:txBody>
      </p:sp>
      <p:sp>
        <p:nvSpPr>
          <p:cNvPr id="60418" name="Rectangle 3">
            <a:extLst>
              <a:ext uri="{FF2B5EF4-FFF2-40B4-BE49-F238E27FC236}">
                <a16:creationId xmlns:a16="http://schemas.microsoft.com/office/drawing/2014/main" id="{81C316F3-DB91-D14A-88B4-0B259F9504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Pesquisa eficiente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Capacidade de agrupamento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Diretório atual (diretório de trabalho)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00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cd /spell/mail/prog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00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lista de tipos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>
            <a:extLst>
              <a:ext uri="{FF2B5EF4-FFF2-40B4-BE49-F238E27FC236}">
                <a16:creationId xmlns:a16="http://schemas.microsoft.com/office/drawing/2014/main" id="{6BBB392B-CF0D-3F4D-8B1A-557B1638E2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1200" y="277813"/>
            <a:ext cx="8229600" cy="576262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Diretórios Estruturados em Árvore (Cont.)</a:t>
            </a:r>
          </a:p>
        </p:txBody>
      </p:sp>
      <p:sp>
        <p:nvSpPr>
          <p:cNvPr id="62466" name="Rectangle 3">
            <a:extLst>
              <a:ext uri="{FF2B5EF4-FFF2-40B4-BE49-F238E27FC236}">
                <a16:creationId xmlns:a16="http://schemas.microsoft.com/office/drawing/2014/main" id="{CDFAF049-BC5C-1D4B-AE03-B0F3DE4938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0738" y="1290638"/>
            <a:ext cx="7370762" cy="2992437"/>
          </a:xfrm>
        </p:spPr>
        <p:txBody>
          <a:bodyPr/>
          <a:lstStyle/>
          <a:p>
            <a:pPr xmlns:a="http://schemas.openxmlformats.org/drawingml/2006/main">
              <a:lnSpc>
                <a:spcPct val="90000"/>
              </a:lnSpc>
              <a:tabLst>
                <a:tab pos="2857500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Nome do caminho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absoluto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ou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relativo</a:t>
            </a:r>
          </a:p>
          <a:p>
            <a:pPr xmlns:a="http://schemas.openxmlformats.org/drawingml/2006/main">
              <a:lnSpc>
                <a:spcPct val="90000"/>
              </a:lnSpc>
              <a:tabLst>
                <a:tab pos="2857500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criação de um novo arquivo é feita no diretório atual</a:t>
            </a:r>
          </a:p>
          <a:p>
            <a:pPr xmlns:a="http://schemas.openxmlformats.org/drawingml/2006/main">
              <a:lnSpc>
                <a:spcPct val="90000"/>
              </a:lnSpc>
              <a:tabLst>
                <a:tab pos="2857500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Excluir um arquivo</a:t>
            </a:r>
          </a:p>
          <a:p>
            <a:pPr xmlns:a="http://schemas.openxmlformats.org/drawingml/2006/main">
              <a:lnSpc>
                <a:spcPct val="90000"/>
              </a:lnSpc>
              <a:buFont typeface="Monotype Sorts" pitchFamily="2" charset="2"/>
              <a:buNone/>
              <a:tabLst>
                <a:tab pos="2857500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</a:t>
            </a:r>
            <a:r xmlns:a="http://schemas.openxmlformats.org/drawingml/2006/main">
              <a:rPr lang="pt" altLang="pt-BR" b="1">
                <a:solidFill>
                  <a:srgbClr val="00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rm &lt;nome-do-arquivo&gt;</a:t>
            </a:r>
          </a:p>
          <a:p>
            <a:pPr xmlns:a="http://schemas.openxmlformats.org/drawingml/2006/main">
              <a:lnSpc>
                <a:spcPct val="90000"/>
              </a:lnSpc>
              <a:tabLst>
                <a:tab pos="2857500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criação de um novo subdiretório é feita no diretório atual</a:t>
            </a:r>
          </a:p>
          <a:p>
            <a:pPr xmlns:a="http://schemas.openxmlformats.org/drawingml/2006/main" marL="342900" lvl="1" indent="-342900">
              <a:lnSpc>
                <a:spcPct val="90000"/>
              </a:lnSpc>
              <a:buClr>
                <a:srgbClr val="993300"/>
              </a:buClr>
              <a:buSzPct val="90000"/>
              <a:buFont typeface="Monotype Sorts" pitchFamily="2" charset="2"/>
              <a:buNone/>
              <a:tabLst>
                <a:tab pos="2857500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</a:t>
            </a:r>
            <a:r xmlns:a="http://schemas.openxmlformats.org/drawingml/2006/main">
              <a:rPr lang="pt" altLang="pt-BR" b="1">
                <a:solidFill>
                  <a:srgbClr val="00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mkdir &lt;nome-do-diretório&gt;</a:t>
            </a:r>
          </a:p>
          <a:p>
            <a:pPr xmlns:a="http://schemas.openxmlformats.org/drawingml/2006/main" marL="342900" lvl="1" indent="-342900">
              <a:lnSpc>
                <a:spcPct val="90000"/>
              </a:lnSpc>
              <a:buClr>
                <a:srgbClr val="993300"/>
              </a:buClr>
              <a:buSzPct val="90000"/>
              <a:buFont typeface="Monotype Sorts" pitchFamily="2" charset="2"/>
              <a:buNone/>
              <a:tabLst>
                <a:tab pos="2857500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Exemplo: se no diretório atual </a:t>
            </a:r>
            <a:r xmlns:a="http://schemas.openxmlformats.org/drawingml/2006/main">
              <a:rPr lang="pt" altLang="pt-BR" b="1">
                <a:solidFill>
                  <a:srgbClr val="00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/mail</a:t>
            </a:r>
          </a:p>
          <a:p>
            <a:pPr xmlns:a="http://schemas.openxmlformats.org/drawingml/2006/main" marL="342900" lvl="1" indent="-342900">
              <a:lnSpc>
                <a:spcPct val="90000"/>
              </a:lnSpc>
              <a:buClr>
                <a:srgbClr val="993300"/>
              </a:buClr>
              <a:buSzPct val="90000"/>
              <a:buFont typeface="Monotype Sorts" pitchFamily="2" charset="2"/>
              <a:buNone/>
              <a:tabLst>
                <a:tab pos="2857500" algn="ctr"/>
              </a:tabLst>
            </a:pPr>
            <a:r xmlns:a="http://schemas.openxmlformats.org/drawingml/2006/main">
              <a:rPr lang="pt" altLang="pt-BR" b="1">
                <a:solidFill>
                  <a:srgbClr val="00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contagem de mkdir</a:t>
            </a:r>
          </a:p>
        </p:txBody>
      </p:sp>
      <p:sp>
        <p:nvSpPr>
          <p:cNvPr id="62467" name="Rectangle 4">
            <a:extLst>
              <a:ext uri="{FF2B5EF4-FFF2-40B4-BE49-F238E27FC236}">
                <a16:creationId xmlns:a16="http://schemas.microsoft.com/office/drawing/2014/main" id="{62E2EA8D-5F67-EA48-B56D-8D4C5C384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4275" y="4589463"/>
            <a:ext cx="879475" cy="3317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/>
            <a:r xmlns:a="http://schemas.openxmlformats.org/drawingml/2006/main">
              <a:rPr lang="pt" altLang="pt-BR" sz="1800">
                <a:latin typeface="Helvetica" pitchFamily="2" charset="0"/>
              </a:rPr>
              <a:t>correspondência</a:t>
            </a:r>
          </a:p>
        </p:txBody>
      </p:sp>
      <p:sp>
        <p:nvSpPr>
          <p:cNvPr id="62468" name="Rectangle 5">
            <a:extLst>
              <a:ext uri="{FF2B5EF4-FFF2-40B4-BE49-F238E27FC236}">
                <a16:creationId xmlns:a16="http://schemas.microsoft.com/office/drawing/2014/main" id="{C759AF13-5BD6-2146-8E05-76D9781F3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3650" y="5232400"/>
            <a:ext cx="720725" cy="3317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/>
            <a:r xmlns:a="http://schemas.openxmlformats.org/drawingml/2006/main">
              <a:rPr lang="pt" altLang="pt-BR" sz="1800">
                <a:latin typeface="Helvetica" pitchFamily="2" charset="0"/>
              </a:rPr>
              <a:t>progressivo</a:t>
            </a:r>
          </a:p>
        </p:txBody>
      </p:sp>
      <p:sp>
        <p:nvSpPr>
          <p:cNvPr id="62469" name="Rectangle 6">
            <a:extLst>
              <a:ext uri="{FF2B5EF4-FFF2-40B4-BE49-F238E27FC236}">
                <a16:creationId xmlns:a16="http://schemas.microsoft.com/office/drawing/2014/main" id="{06F37CB7-12E5-FA4F-B304-0D7611B3F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4375" y="5232400"/>
            <a:ext cx="720725" cy="3317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/>
            <a:r xmlns:a="http://schemas.openxmlformats.org/drawingml/2006/main">
              <a:rPr lang="pt" altLang="pt-BR" sz="1800">
                <a:latin typeface="Helvetica" pitchFamily="2" charset="0"/>
              </a:rPr>
              <a:t>cópia</a:t>
            </a:r>
          </a:p>
        </p:txBody>
      </p:sp>
      <p:sp>
        <p:nvSpPr>
          <p:cNvPr id="62470" name="Rectangle 7">
            <a:extLst>
              <a:ext uri="{FF2B5EF4-FFF2-40B4-BE49-F238E27FC236}">
                <a16:creationId xmlns:a16="http://schemas.microsoft.com/office/drawing/2014/main" id="{40005FC5-616A-8E46-8932-6302FFF06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100" y="5232400"/>
            <a:ext cx="446088" cy="3317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/>
            <a:r xmlns:a="http://schemas.openxmlformats.org/drawingml/2006/main">
              <a:rPr lang="pt" altLang="pt-BR" sz="1800">
                <a:latin typeface="Helvetica" pitchFamily="2" charset="0"/>
              </a:rPr>
              <a:t>prt</a:t>
            </a:r>
          </a:p>
        </p:txBody>
      </p:sp>
      <p:sp>
        <p:nvSpPr>
          <p:cNvPr id="62471" name="Rectangle 8">
            <a:extLst>
              <a:ext uri="{FF2B5EF4-FFF2-40B4-BE49-F238E27FC236}">
                <a16:creationId xmlns:a16="http://schemas.microsoft.com/office/drawing/2014/main" id="{D08B97F1-124A-274F-80C3-AD37995C8B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6425" y="5232400"/>
            <a:ext cx="446088" cy="3317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/>
            <a:r xmlns:a="http://schemas.openxmlformats.org/drawingml/2006/main">
              <a:rPr lang="pt" altLang="pt-BR" sz="1800">
                <a:latin typeface="Helvetica" pitchFamily="2" charset="0"/>
              </a:rPr>
              <a:t>experiência</a:t>
            </a:r>
          </a:p>
        </p:txBody>
      </p:sp>
      <p:sp>
        <p:nvSpPr>
          <p:cNvPr id="62472" name="Rectangle 9">
            <a:extLst>
              <a:ext uri="{FF2B5EF4-FFF2-40B4-BE49-F238E27FC236}">
                <a16:creationId xmlns:a16="http://schemas.microsoft.com/office/drawing/2014/main" id="{0C289754-C28F-324C-BBDA-DCE68EBF8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2513" y="5232400"/>
            <a:ext cx="706437" cy="3317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/>
            <a:r xmlns:a="http://schemas.openxmlformats.org/drawingml/2006/main">
              <a:rPr lang="pt" altLang="pt-BR" sz="1800">
                <a:latin typeface="Helvetica" pitchFamily="2" charset="0"/>
              </a:rPr>
              <a:t>contar</a:t>
            </a:r>
          </a:p>
        </p:txBody>
      </p:sp>
      <p:sp>
        <p:nvSpPr>
          <p:cNvPr id="62473" name="Line 10">
            <a:extLst>
              <a:ext uri="{FF2B5EF4-FFF2-40B4-BE49-F238E27FC236}">
                <a16:creationId xmlns:a16="http://schemas.microsoft.com/office/drawing/2014/main" id="{3FCD96FF-D6BB-D940-AA10-E4C4C85BC82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1438" y="4921250"/>
            <a:ext cx="0" cy="307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62474" name="Rectangle 11">
            <a:extLst>
              <a:ext uri="{FF2B5EF4-FFF2-40B4-BE49-F238E27FC236}">
                <a16:creationId xmlns:a16="http://schemas.microsoft.com/office/drawing/2014/main" id="{10C07027-3025-FE44-9953-38BD6825A8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488" y="5902325"/>
            <a:ext cx="7423150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857500" algn="ctr"/>
              </a:tabLs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2857500" algn="ctr"/>
              </a:tabLs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2857500" algn="ctr"/>
              </a:tabLs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2857500" algn="ctr"/>
              </a:tabLs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2857500" algn="ctr"/>
              </a:tabLs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7500" algn="ctr"/>
              </a:tabLs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7500" algn="ctr"/>
              </a:tabLs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7500" algn="ctr"/>
              </a:tabLs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7500" algn="ctr"/>
              </a:tabLs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 xmlns:a="http://schemas.openxmlformats.org/drawingml/2006/main">
              <a:rPr lang="pt" altLang="pt-BR" sz="2000">
                <a:latin typeface="Helvetica" pitchFamily="2" charset="0"/>
              </a:rPr>
              <a:t>Excluindo </a:t>
            </a:r>
            <a:r xmlns:a="http://schemas.openxmlformats.org/drawingml/2006/main">
              <a:rPr lang="pt" altLang="en-US" sz="2000">
                <a:latin typeface="Helvetica" pitchFamily="2" charset="0"/>
              </a:rPr>
              <a:t>“ </a:t>
            </a:r>
            <a:r xmlns:a="http://schemas.openxmlformats.org/drawingml/2006/main">
              <a:rPr lang="pt" altLang="ja-JP" sz="2000">
                <a:latin typeface="Helvetica" pitchFamily="2" charset="0"/>
              </a:rPr>
              <a:t>mail </a:t>
            </a:r>
            <a:r xmlns:a="http://schemas.openxmlformats.org/drawingml/2006/main">
              <a:rPr lang="pt" altLang="en-US" sz="2000">
                <a:latin typeface="Helvetica" pitchFamily="2" charset="0"/>
              </a:rPr>
              <a:t>”</a:t>
            </a:r>
            <a:r xmlns:a="http://schemas.openxmlformats.org/drawingml/2006/main">
              <a:rPr lang="pt" altLang="ja-JP" sz="2000">
                <a:latin typeface="Helvetica" pitchFamily="2" charset="0"/>
              </a:rPr>
              <a:t> </a:t>
            </a:r>
            <a:r xmlns:a="http://schemas.openxmlformats.org/drawingml/2006/main">
              <a:rPr lang="pt" altLang="ja-JP" sz="2000">
                <a:latin typeface="Helvetica" pitchFamily="2" charset="0"/>
                <a:sym typeface="Symbol" pitchFamily="2" charset="2"/>
              </a:rPr>
              <a:t> excluindo toda a subárvore enraizada por </a:t>
            </a:r>
            <a:r xmlns:a="http://schemas.openxmlformats.org/drawingml/2006/main">
              <a:rPr lang="pt" altLang="en-US" sz="2000">
                <a:latin typeface="Helvetica" pitchFamily="2" charset="0"/>
                <a:sym typeface="Symbol" pitchFamily="2" charset="2"/>
              </a:rPr>
              <a:t>“ </a:t>
            </a:r>
            <a:r xmlns:a="http://schemas.openxmlformats.org/drawingml/2006/main">
              <a:rPr lang="pt" altLang="ja-JP" sz="2000">
                <a:latin typeface="Helvetica" pitchFamily="2" charset="0"/>
                <a:sym typeface="Symbol" pitchFamily="2" charset="2"/>
              </a:rPr>
              <a:t>mail </a:t>
            </a:r>
            <a:r xmlns:a="http://schemas.openxmlformats.org/drawingml/2006/main">
              <a:rPr lang="pt" altLang="en-US" sz="2000">
                <a:latin typeface="Helvetica" pitchFamily="2" charset="0"/>
                <a:sym typeface="Symbol" pitchFamily="2" charset="2"/>
              </a:rPr>
              <a:t>”</a:t>
            </a:r>
            <a:endParaRPr xmlns:a="http://schemas.openxmlformats.org/drawingml/2006/main" lang="en-US" altLang="pt-BR" sz="2000"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>
            <a:extLst>
              <a:ext uri="{FF2B5EF4-FFF2-40B4-BE49-F238E27FC236}">
                <a16:creationId xmlns:a16="http://schemas.microsoft.com/office/drawing/2014/main" id="{056943EE-ACB9-354A-B288-F90776D991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Diretórios de grafos acíclicos</a:t>
            </a:r>
            <a:endParaRPr xmlns:a="http://schemas.openxmlformats.org/drawingml/2006/main" lang="en-US" altLang="pt-BR" sz="2400">
              <a:ea typeface="ＭＳ Ｐゴシック" panose="020B0600070205080204" pitchFamily="34" charset="-128"/>
            </a:endParaRPr>
          </a:p>
        </p:txBody>
      </p:sp>
      <p:sp>
        <p:nvSpPr>
          <p:cNvPr id="64514" name="Rectangle 3">
            <a:extLst>
              <a:ext uri="{FF2B5EF4-FFF2-40B4-BE49-F238E27FC236}">
                <a16:creationId xmlns:a16="http://schemas.microsoft.com/office/drawing/2014/main" id="{1269AEB2-CE78-4049-A92F-851CBFC8E7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8350" y="1262063"/>
            <a:ext cx="7029450" cy="522287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Ter subdiretórios e arquivos compartilhados</a:t>
            </a:r>
          </a:p>
        </p:txBody>
      </p:sp>
      <p:pic>
        <p:nvPicPr>
          <p:cNvPr id="64515" name="Picture 7" descr="10">
            <a:extLst>
              <a:ext uri="{FF2B5EF4-FFF2-40B4-BE49-F238E27FC236}">
                <a16:creationId xmlns:a16="http://schemas.microsoft.com/office/drawing/2014/main" id="{6D6C2E97-71F3-C048-9A69-F44562B37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2963" y="1825625"/>
            <a:ext cx="5351462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>
            <a:extLst>
              <a:ext uri="{FF2B5EF4-FFF2-40B4-BE49-F238E27FC236}">
                <a16:creationId xmlns:a16="http://schemas.microsoft.com/office/drawing/2014/main" id="{CE825438-8206-874B-B43A-4013A62F7E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8375" y="277813"/>
            <a:ext cx="7718425" cy="576262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Diretórios de grafos acíclicos (cont.)</a:t>
            </a:r>
          </a:p>
        </p:txBody>
      </p:sp>
      <p:sp>
        <p:nvSpPr>
          <p:cNvPr id="66562" name="Rectangle 3">
            <a:extLst>
              <a:ext uri="{FF2B5EF4-FFF2-40B4-BE49-F238E27FC236}">
                <a16:creationId xmlns:a16="http://schemas.microsoft.com/office/drawing/2014/main" id="{AA90E48A-9CB7-1445-BF24-1D1BC11714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Dois nomes diferentes (aliasing)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o dict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excluir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a lista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 ponteiro pendurado</a:t>
            </a:r>
          </a:p>
          <a:p>
            <a:pPr xmlns:a="http://schemas.openxmlformats.org/drawingml/2006/main">
              <a:buFont typeface="Monotype Sorts" pitchFamily="2" charset="2"/>
              <a:buNone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Soluções: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Backpointers, para que possamos apagar todos os ponteiros 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Registros de tamanho variável são um problema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Backpointers usando uma organização em cadeia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Solução de entrada-retenção-contagem</a:t>
            </a: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Novo tipo de entrada de diretório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Link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outro nome (ponteiro) para um arquivo existente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Resolva o link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siga o ponteiro para localizar o arquivo</a:t>
            </a:r>
            <a:endParaRPr xmlns:a="http://schemas.openxmlformats.org/drawingml/2006/main" lang="en-US" altLang="pt-BR" b="1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>
            <a:extLst>
              <a:ext uri="{FF2B5EF4-FFF2-40B4-BE49-F238E27FC236}">
                <a16:creationId xmlns:a16="http://schemas.microsoft.com/office/drawing/2014/main" id="{F50F7744-14ED-1341-A06D-627E8E14E7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30288" y="277813"/>
            <a:ext cx="7656512" cy="576262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Diretório Geral de Gráficos</a:t>
            </a:r>
            <a:endParaRPr xmlns:a="http://schemas.openxmlformats.org/drawingml/2006/main" lang="en-US" altLang="pt-BR" sz="2400">
              <a:ea typeface="ＭＳ Ｐゴシック" panose="020B0600070205080204" pitchFamily="34" charset="-128"/>
            </a:endParaRPr>
          </a:p>
        </p:txBody>
      </p:sp>
      <p:pic>
        <p:nvPicPr>
          <p:cNvPr id="68610" name="Picture 6" descr="10">
            <a:extLst>
              <a:ext uri="{FF2B5EF4-FFF2-40B4-BE49-F238E27FC236}">
                <a16:creationId xmlns:a16="http://schemas.microsoft.com/office/drawing/2014/main" id="{717FD9F6-E7CB-CA4C-BBF2-2544731BF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975" y="1260475"/>
            <a:ext cx="7235825" cy="428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>
            <a:extLst>
              <a:ext uri="{FF2B5EF4-FFF2-40B4-BE49-F238E27FC236}">
                <a16:creationId xmlns:a16="http://schemas.microsoft.com/office/drawing/2014/main" id="{FD79C966-FBBD-964E-9A94-56FC6AAED1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9488" y="277813"/>
            <a:ext cx="7707312" cy="576262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Diretório Geral de Gráficos (Cont.)</a:t>
            </a:r>
          </a:p>
        </p:txBody>
      </p:sp>
      <p:sp>
        <p:nvSpPr>
          <p:cNvPr id="70658" name="Rectangle 3">
            <a:extLst>
              <a:ext uri="{FF2B5EF4-FFF2-40B4-BE49-F238E27FC236}">
                <a16:creationId xmlns:a16="http://schemas.microsoft.com/office/drawing/2014/main" id="{7CD88777-A7AA-8B4D-9F56-64B5387D23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Como garantimos que não há ciclos?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Permitir apenas links para arquivos, não subdiretórios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Coleta de lixo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Cada vez que um novo link é adicionado, use um algoritmo de detecção de ciclo para determinar se está OK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>
            <a:extLst>
              <a:ext uri="{FF2B5EF4-FFF2-40B4-BE49-F238E27FC236}">
                <a16:creationId xmlns:a16="http://schemas.microsoft.com/office/drawing/2014/main" id="{4238F6EE-96EB-C140-8628-2956C3B9BE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8375" y="277813"/>
            <a:ext cx="7718425" cy="576262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Montagem do sistema de arquivos</a:t>
            </a:r>
          </a:p>
        </p:txBody>
      </p:sp>
      <p:sp>
        <p:nvSpPr>
          <p:cNvPr id="72706" name="Rectangle 3">
            <a:extLst>
              <a:ext uri="{FF2B5EF4-FFF2-40B4-BE49-F238E27FC236}">
                <a16:creationId xmlns:a16="http://schemas.microsoft.com/office/drawing/2014/main" id="{0FB951C7-262E-A249-848E-C7B669120C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6821488" cy="3067050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 sistema de arquivos deve ser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montado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antes de poder ser acessado</a:t>
            </a:r>
          </a:p>
          <a:p>
            <a:endParaRPr lang="en-US" altLang="pt-BR" b="1">
              <a:solidFill>
                <a:srgbClr val="3366FF"/>
              </a:solidFill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 sistema de arquivos não montado (ou seja, Fig. 11-11(b)) é montado em um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ponto de montagem</a:t>
            </a:r>
          </a:p>
        </p:txBody>
      </p:sp>
      <p:pic>
        <p:nvPicPr>
          <p:cNvPr id="72707" name="Picture 1" descr="11_14.pdf">
            <a:extLst>
              <a:ext uri="{FF2B5EF4-FFF2-40B4-BE49-F238E27FC236}">
                <a16:creationId xmlns:a16="http://schemas.microsoft.com/office/drawing/2014/main" id="{AC3A929E-D633-FD46-AD53-D9C129D2C9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7475" y="2811463"/>
            <a:ext cx="6265863" cy="362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>
            <a:extLst>
              <a:ext uri="{FF2B5EF4-FFF2-40B4-BE49-F238E27FC236}">
                <a16:creationId xmlns:a16="http://schemas.microsoft.com/office/drawing/2014/main" id="{CAA92DC0-E0A3-CB4E-A846-8F15E1F813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Ponto de montagem</a:t>
            </a:r>
            <a:endParaRPr xmlns:a="http://schemas.openxmlformats.org/drawingml/2006/main" lang="en-US" altLang="pt-BR" sz="2400">
              <a:ea typeface="ＭＳ Ｐゴシック" panose="020B0600070205080204" pitchFamily="34" charset="-128"/>
            </a:endParaRPr>
          </a:p>
        </p:txBody>
      </p:sp>
      <p:pic>
        <p:nvPicPr>
          <p:cNvPr id="74754" name="Picture 5">
            <a:extLst>
              <a:ext uri="{FF2B5EF4-FFF2-40B4-BE49-F238E27FC236}">
                <a16:creationId xmlns:a16="http://schemas.microsoft.com/office/drawing/2014/main" id="{8F8EB9AA-1E95-9349-AEA3-F19EC1763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406525"/>
            <a:ext cx="3684588" cy="422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>
            <a:extLst>
              <a:ext uri="{FF2B5EF4-FFF2-40B4-BE49-F238E27FC236}">
                <a16:creationId xmlns:a16="http://schemas.microsoft.com/office/drawing/2014/main" id="{950124D7-CF8E-E04F-8943-0AC77BF23B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Compartilhamento de arquivos</a:t>
            </a:r>
          </a:p>
        </p:txBody>
      </p:sp>
      <p:sp>
        <p:nvSpPr>
          <p:cNvPr id="76802" name="Rectangle 3">
            <a:extLst>
              <a:ext uri="{FF2B5EF4-FFF2-40B4-BE49-F238E27FC236}">
                <a16:creationId xmlns:a16="http://schemas.microsoft.com/office/drawing/2014/main" id="{DB5B2F3E-3FF0-9949-AA01-4B66148EE0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compartilhamento de arquivos em sistemas multiusuários é desejável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partilha pode ser feita através de um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esquema 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de proteção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Em sistemas distribuídos, os arquivos podem ser compartilhados em uma rede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Network File System (NFS) é um método comum de compartilhamento de arquivos distribuídos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 o sistema for multiusuário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Os IDs de usuário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identificam os usuários, permitindo que permissões e proteções sejam por usuário. 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Os IDs de grupo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permitem que os usuários estejam em grupos, permitindo direitos de acesso ao grupo.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Proprietário de um arquivo/diretório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Grupo de um arquivo / diretório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>
            <a:extLst>
              <a:ext uri="{FF2B5EF4-FFF2-40B4-BE49-F238E27FC236}">
                <a16:creationId xmlns:a16="http://schemas.microsoft.com/office/drawing/2014/main" id="{30B27EC0-7B05-D948-88AA-4053211DE3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31825" y="277813"/>
            <a:ext cx="8531225" cy="576262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Compartilhamento de arquivos – Sistemas de arquivos remotos</a:t>
            </a:r>
          </a:p>
        </p:txBody>
      </p:sp>
      <p:sp>
        <p:nvSpPr>
          <p:cNvPr id="78850" name="Rectangle 3">
            <a:extLst>
              <a:ext uri="{FF2B5EF4-FFF2-40B4-BE49-F238E27FC236}">
                <a16:creationId xmlns:a16="http://schemas.microsoft.com/office/drawing/2014/main" id="{F1873D18-E957-0D4E-B7D9-33D33C52EA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98513" y="1222375"/>
            <a:ext cx="7732712" cy="5275263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Usa rede para permitir acesso ao sistema de arquivos entre sistemas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Manualmente por meio de programas como FTP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Automaticamente, sem interrupções, usando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sistemas de arquivos distribuídos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Semi automaticamente através do</a:t>
            </a:r>
            <a:r xmlns:a="http://schemas.openxmlformats.org/drawingml/2006/main">
              <a:rPr lang="pt" altLang="pt-BR" b="1">
                <a:solidFill>
                  <a:schemeClr val="tx2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rede mundial de computadores</a:t>
            </a:r>
          </a:p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cliente-servidor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permite que os clientes montem sistemas de arquivos remotos de servidores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servidor pode atender vários clientes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identificação do cliente e do usuário no cliente é insegura ou complicada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NFS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é um protocolo padrão de compartilhamento de arquivos cliente-servidor UNIX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CIFS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é um protocolo padrão do Windows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Chamadas de arquivo do sistema operacional padrão são traduzidas em chamadas remotas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Sistemas de Informação Distribuídos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(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serviços de nomenclatura distribuídos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),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como LDAP, DNS, NIS, Active Directory, implementam acesso unificado às informações necessárias para computação remota.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>
            <a:extLst>
              <a:ext uri="{FF2B5EF4-FFF2-40B4-BE49-F238E27FC236}">
                <a16:creationId xmlns:a16="http://schemas.microsoft.com/office/drawing/2014/main" id="{6F505636-EFF9-C743-9881-B20C089D28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98513" y="277813"/>
            <a:ext cx="7888287" cy="576262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Compartilhamento de arquivos – Modos de falha</a:t>
            </a:r>
          </a:p>
        </p:txBody>
      </p:sp>
      <p:sp>
        <p:nvSpPr>
          <p:cNvPr id="80898" name="Rectangle 3">
            <a:extLst>
              <a:ext uri="{FF2B5EF4-FFF2-40B4-BE49-F238E27FC236}">
                <a16:creationId xmlns:a16="http://schemas.microsoft.com/office/drawing/2014/main" id="{F5F3F2A8-9356-9F43-85BC-90FE4B1098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699375" cy="4429125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Todos os sistemas de arquivos têm modos de falha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Por exemplo, corrupção de estruturas de diretório ou outros dados não pertencentes ao usuário, chamados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metadados</a:t>
            </a:r>
          </a:p>
          <a:p>
            <a:pPr lvl="1"/>
            <a:endParaRPr lang="en-US" altLang="pt-BR" b="1">
              <a:solidFill>
                <a:srgbClr val="3366FF"/>
              </a:solidFill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Os sistemas de arquivos remotos adicionam novos modos de falha, devido a falhas de rede e falhas de servidor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recuperação de falhas pode envolver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informações de estado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sobre o status de cada solicitação remota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sem estado,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como o NFS v3, incluem todas as informações em cada solicitação, permitindo recuperação fácil, mas menos segurança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>
            <a:extLst>
              <a:ext uri="{FF2B5EF4-FFF2-40B4-BE49-F238E27FC236}">
                <a16:creationId xmlns:a16="http://schemas.microsoft.com/office/drawing/2014/main" id="{4EEDE427-B8B3-B74E-8AA1-B32A7B6719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4363" y="285750"/>
            <a:ext cx="8501062" cy="576263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Compartilhamento de arquivos – Semântica de consistência</a:t>
            </a:r>
          </a:p>
        </p:txBody>
      </p:sp>
      <p:sp>
        <p:nvSpPr>
          <p:cNvPr id="82946" name="Rectangle 3">
            <a:extLst>
              <a:ext uri="{FF2B5EF4-FFF2-40B4-BE49-F238E27FC236}">
                <a16:creationId xmlns:a16="http://schemas.microsoft.com/office/drawing/2014/main" id="{BD3D37B8-081B-B84A-A1E4-5BDCE73179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363663"/>
            <a:ext cx="7737475" cy="5003800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Especificar como vários usuários devem acessar um arquivo compartilhado simultaneamente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Semelhante aos algoritmos de sincronização de processo do Ch 5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Tendem a ser menos complexos devido à E/S do disco e à latência da rede (para sistemas de arquivos remotos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Andrew File System (AFS) implementou semântica complexa de compartilhamento remoto de arquivos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sistema de arquivos Unix (UFS) implementa: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Grava em um arquivo aberto visível imediatamente para outros usuários do mesmo arquivo aberto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Compartilhamento de ponteiro de arquivo para permitir que vários usuários leiam e escrevam simultaneamente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AFS tem semântica de sessão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Gravações visíveis somente para sessões iniciadas após o arquivo ser fechado</a:t>
            </a:r>
          </a:p>
          <a:p>
            <a:pPr lvl="2"/>
            <a:endParaRPr lang="en-US" altLang="pt-BR">
              <a:ea typeface="ＭＳ Ｐゴシック" panose="020B0600070205080204" pitchFamily="34" charset="-128"/>
            </a:endParaRPr>
          </a:p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>
            <a:extLst>
              <a:ext uri="{FF2B5EF4-FFF2-40B4-BE49-F238E27FC236}">
                <a16:creationId xmlns:a16="http://schemas.microsoft.com/office/drawing/2014/main" id="{2D7391FC-B57D-9E43-AA8E-D3AD7F6409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Proteção</a:t>
            </a:r>
          </a:p>
        </p:txBody>
      </p:sp>
      <p:sp>
        <p:nvSpPr>
          <p:cNvPr id="84994" name="Rectangle 3">
            <a:extLst>
              <a:ext uri="{FF2B5EF4-FFF2-40B4-BE49-F238E27FC236}">
                <a16:creationId xmlns:a16="http://schemas.microsoft.com/office/drawing/2014/main" id="{C33855B1-E01E-9444-AAD0-0F23C51791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proprietário/criador do arquivo deve ser capaz de controlar: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que pode ser feito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por quem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Tipos de acesso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Ler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Escrever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Executar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Acrescentar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Excluir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Lista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2">
            <a:extLst>
              <a:ext uri="{FF2B5EF4-FFF2-40B4-BE49-F238E27FC236}">
                <a16:creationId xmlns:a16="http://schemas.microsoft.com/office/drawing/2014/main" id="{79CAD3FC-A109-074A-8050-1FC37AEC73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Listas e grupos de acesso</a:t>
            </a:r>
          </a:p>
        </p:txBody>
      </p:sp>
      <p:sp>
        <p:nvSpPr>
          <p:cNvPr id="87042" name="Rectangle 3">
            <a:extLst>
              <a:ext uri="{FF2B5EF4-FFF2-40B4-BE49-F238E27FC236}">
                <a16:creationId xmlns:a16="http://schemas.microsoft.com/office/drawing/2014/main" id="{BB36E535-7598-2B45-A112-E2B1B78017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342188" cy="3575050"/>
          </a:xfrm>
        </p:spPr>
        <p:txBody>
          <a:bodyPr/>
          <a:lstStyle/>
          <a:p>
            <a:pPr xmlns:a="http://schemas.openxmlformats.org/drawingml/2006/main">
              <a:lnSpc>
                <a:spcPct val="90000"/>
              </a:lnSpc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Modo de acesso: leitura, escrita, execução</a:t>
            </a:r>
          </a:p>
          <a:p>
            <a:pPr xmlns:a="http://schemas.openxmlformats.org/drawingml/2006/main">
              <a:lnSpc>
                <a:spcPct val="90000"/>
              </a:lnSpc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Três classes de usuários no Unix / Linux</a:t>
            </a:r>
          </a:p>
          <a:p>
            <a:pPr xmlns:a="http://schemas.openxmlformats.org/drawingml/2006/main">
              <a:lnSpc>
                <a:spcPct val="90000"/>
              </a:lnSpc>
              <a:spcBef>
                <a:spcPct val="10000"/>
              </a:spcBef>
              <a:buFont typeface="Monotype Sorts" pitchFamily="2" charset="2"/>
              <a:buNone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 xmlns:a="http://schemas.openxmlformats.org/drawingml/2006/main">
              <a:rPr lang="pt" altLang="pt-BR" sz="1600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 sz="800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 sz="1600">
                <a:ea typeface="ＭＳ Ｐゴシック" panose="020B0600070205080204" pitchFamily="34" charset="-128"/>
              </a:rPr>
              <a:t>RWX</a:t>
            </a:r>
          </a:p>
          <a:p>
            <a:pPr xmlns:a="http://schemas.openxmlformats.org/drawingml/2006/main">
              <a:lnSpc>
                <a:spcPct val="90000"/>
              </a:lnSpc>
              <a:spcBef>
                <a:spcPct val="10000"/>
              </a:spcBef>
              <a:buFont typeface="Monotype Sorts" pitchFamily="2" charset="2"/>
              <a:buNone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 xmlns:a="http://schemas.openxmlformats.org/drawingml/2006/main">
              <a:rPr lang="pt" altLang="pt-BR" sz="1600">
                <a:ea typeface="ＭＳ Ｐゴシック" panose="020B0600070205080204" pitchFamily="34" charset="-128"/>
              </a:rPr>
              <a:t>a) </a:t>
            </a:r>
            <a:r xmlns:a="http://schemas.openxmlformats.org/drawingml/2006/main">
              <a:rPr lang="pt" altLang="pt-BR" sz="1600" b="1">
                <a:ea typeface="ＭＳ Ｐゴシック" panose="020B0600070205080204" pitchFamily="34" charset="-128"/>
              </a:rPr>
              <a:t>acesso do proprietário </a:t>
            </a:r>
            <a:r xmlns:a="http://schemas.openxmlformats.org/drawingml/2006/main">
              <a:rPr lang="pt" altLang="pt-BR" sz="1600">
                <a:ea typeface="ＭＳ Ｐゴシック" panose="020B0600070205080204" pitchFamily="34" charset="-128"/>
              </a:rPr>
              <a:t>7 </a:t>
            </a:r>
            <a:r xmlns:a="http://schemas.openxmlformats.org/drawingml/2006/main">
              <a:rPr lang="pt" altLang="pt-BR" sz="1600">
                <a:ea typeface="ＭＳ Ｐゴシック" panose="020B0600070205080204" pitchFamily="34" charset="-128"/>
                <a:sym typeface="Symbol" pitchFamily="2" charset="2"/>
              </a:rPr>
              <a:t> 1 1 1 </a:t>
            </a:r>
            <a:br xmlns:a="http://schemas.openxmlformats.org/drawingml/2006/main">
              <a:rPr lang="en-US" altLang="pt-BR" sz="1600">
                <a:ea typeface="ＭＳ Ｐゴシック" panose="020B0600070205080204" pitchFamily="34" charset="-128"/>
                <a:sym typeface="Symbol" pitchFamily="2" charset="2"/>
              </a:rPr>
            </a:br>
            <a:r xmlns:a="http://schemas.openxmlformats.org/drawingml/2006/main">
              <a:rPr lang="pt" altLang="pt-BR" sz="1600">
                <a:ea typeface="ＭＳ Ｐゴシック" panose="020B0600070205080204" pitchFamily="34" charset="-128"/>
                <a:sym typeface="Symbol" pitchFamily="2" charset="2"/>
              </a:rPr>
              <a:t>RWX</a:t>
            </a:r>
          </a:p>
          <a:p>
            <a:pPr xmlns:a="http://schemas.openxmlformats.org/drawingml/2006/main">
              <a:lnSpc>
                <a:spcPct val="90000"/>
              </a:lnSpc>
              <a:spcBef>
                <a:spcPct val="10000"/>
              </a:spcBef>
              <a:buFont typeface="Monotype Sorts" pitchFamily="2" charset="2"/>
              <a:buNone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 xmlns:a="http://schemas.openxmlformats.org/drawingml/2006/main">
              <a:rPr lang="pt" altLang="pt-BR" sz="1600">
                <a:ea typeface="ＭＳ Ｐゴシック" panose="020B0600070205080204" pitchFamily="34" charset="-128"/>
                <a:sym typeface="Symbol" pitchFamily="2" charset="2"/>
              </a:rPr>
              <a:t>b) </a:t>
            </a:r>
            <a:r xmlns:a="http://schemas.openxmlformats.org/drawingml/2006/main">
              <a:rPr lang="pt" altLang="pt-BR" sz="1600" b="1">
                <a:ea typeface="ＭＳ Ｐゴシック" panose="020B0600070205080204" pitchFamily="34" charset="-128"/>
                <a:sym typeface="Symbol" pitchFamily="2" charset="2"/>
              </a:rPr>
              <a:t>acesso em grupo </a:t>
            </a:r>
            <a:r xmlns:a="http://schemas.openxmlformats.org/drawingml/2006/main">
              <a:rPr lang="pt" altLang="pt-BR" sz="1600">
                <a:ea typeface="ＭＳ Ｐゴシック" panose="020B0600070205080204" pitchFamily="34" charset="-128"/>
                <a:sym typeface="Symbol" pitchFamily="2" charset="2"/>
              </a:rPr>
              <a:t>6  1 1 0</a:t>
            </a:r>
          </a:p>
          <a:p>
            <a:pPr xmlns:a="http://schemas.openxmlformats.org/drawingml/2006/main">
              <a:lnSpc>
                <a:spcPct val="90000"/>
              </a:lnSpc>
              <a:spcBef>
                <a:spcPct val="10000"/>
              </a:spcBef>
              <a:buFont typeface="Monotype Sorts" pitchFamily="2" charset="2"/>
              <a:buNone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 xmlns:a="http://schemas.openxmlformats.org/drawingml/2006/main">
              <a:rPr lang="pt" altLang="pt-BR" sz="1600">
                <a:ea typeface="ＭＳ Ｐゴシック" panose="020B0600070205080204" pitchFamily="34" charset="-128"/>
                <a:sym typeface="Symbol" pitchFamily="2" charset="2"/>
              </a:rPr>
              <a:t>RWX</a:t>
            </a:r>
          </a:p>
          <a:p>
            <a:pPr xmlns:a="http://schemas.openxmlformats.org/drawingml/2006/main">
              <a:lnSpc>
                <a:spcPct val="90000"/>
              </a:lnSpc>
              <a:spcBef>
                <a:spcPct val="10000"/>
              </a:spcBef>
              <a:buFont typeface="Monotype Sorts" pitchFamily="2" charset="2"/>
              <a:buNone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 xmlns:a="http://schemas.openxmlformats.org/drawingml/2006/main">
              <a:rPr lang="pt" altLang="pt-BR" sz="1600">
                <a:ea typeface="ＭＳ Ｐゴシック" panose="020B0600070205080204" pitchFamily="34" charset="-128"/>
                <a:sym typeface="Symbol" pitchFamily="2" charset="2"/>
              </a:rPr>
              <a:t>c) </a:t>
            </a:r>
            <a:r xmlns:a="http://schemas.openxmlformats.org/drawingml/2006/main">
              <a:rPr lang="pt" altLang="pt-BR" sz="1600" b="1">
                <a:ea typeface="ＭＳ Ｐゴシック" panose="020B0600070205080204" pitchFamily="34" charset="-128"/>
                <a:sym typeface="Symbol" pitchFamily="2" charset="2"/>
              </a:rPr>
              <a:t>acesso público </a:t>
            </a:r>
            <a:r xmlns:a="http://schemas.openxmlformats.org/drawingml/2006/main">
              <a:rPr lang="pt" altLang="pt-BR" sz="1600">
                <a:ea typeface="ＭＳ Ｐゴシック" panose="020B0600070205080204" pitchFamily="34" charset="-128"/>
                <a:sym typeface="Symbol" pitchFamily="2" charset="2"/>
              </a:rPr>
              <a:t>1  0 0 1</a:t>
            </a:r>
          </a:p>
          <a:p>
            <a:pPr xmlns:a="http://schemas.openxmlformats.org/drawingml/2006/main">
              <a:lnSpc>
                <a:spcPct val="90000"/>
              </a:lnSpc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Peça ao gerente para criar um grupo (nome exclusivo), digamos G, e adicionar alguns usuários ao grupo.</a:t>
            </a:r>
          </a:p>
          <a:p>
            <a:pPr xmlns:a="http://schemas.openxmlformats.org/drawingml/2006/main">
              <a:lnSpc>
                <a:spcPct val="90000"/>
              </a:lnSpc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Para um arquivo específico (digamos,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  <a:sym typeface="Symbol" pitchFamily="2" charset="2"/>
              </a:rPr>
              <a:t>jogo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) ou subdiretório, defina um acesso apropriado.</a:t>
            </a:r>
          </a:p>
        </p:txBody>
      </p:sp>
      <p:sp>
        <p:nvSpPr>
          <p:cNvPr id="87043" name="Text Box 4">
            <a:extLst>
              <a:ext uri="{FF2B5EF4-FFF2-40B4-BE49-F238E27FC236}">
                <a16:creationId xmlns:a16="http://schemas.microsoft.com/office/drawing/2014/main" id="{B62A1589-51D1-F34A-9F66-07E53E3FE7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7250" y="4884738"/>
            <a:ext cx="6350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1200" b="1">
                <a:latin typeface="Helvetica" pitchFamily="2" charset="0"/>
              </a:rPr>
              <a:t>proprietário</a:t>
            </a:r>
          </a:p>
        </p:txBody>
      </p:sp>
      <p:sp>
        <p:nvSpPr>
          <p:cNvPr id="87044" name="Text Box 5">
            <a:extLst>
              <a:ext uri="{FF2B5EF4-FFF2-40B4-BE49-F238E27FC236}">
                <a16:creationId xmlns:a16="http://schemas.microsoft.com/office/drawing/2014/main" id="{12B8190B-AA46-D840-A9EF-FC04B2505C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9713" y="4884738"/>
            <a:ext cx="61753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1200" b="1">
                <a:latin typeface="Helvetica" pitchFamily="2" charset="0"/>
              </a:rPr>
              <a:t>grupo</a:t>
            </a:r>
          </a:p>
        </p:txBody>
      </p:sp>
      <p:sp>
        <p:nvSpPr>
          <p:cNvPr id="87045" name="Text Box 6">
            <a:extLst>
              <a:ext uri="{FF2B5EF4-FFF2-40B4-BE49-F238E27FC236}">
                <a16:creationId xmlns:a16="http://schemas.microsoft.com/office/drawing/2014/main" id="{C936885E-D5FB-3140-BDCA-B04AB11E5B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884738"/>
            <a:ext cx="6350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1200" b="1">
                <a:latin typeface="Helvetica" pitchFamily="2" charset="0"/>
              </a:rPr>
              <a:t>público</a:t>
            </a:r>
          </a:p>
        </p:txBody>
      </p:sp>
      <p:sp>
        <p:nvSpPr>
          <p:cNvPr id="87046" name="Text Box 7">
            <a:extLst>
              <a:ext uri="{FF2B5EF4-FFF2-40B4-BE49-F238E27FC236}">
                <a16:creationId xmlns:a16="http://schemas.microsoft.com/office/drawing/2014/main" id="{42CA4F64-0A32-4D44-BD22-EEF77FBE69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2813" y="5399088"/>
            <a:ext cx="6842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1200" b="1">
                <a:latin typeface="Helvetica" pitchFamily="2" charset="0"/>
              </a:rPr>
              <a:t>chmod</a:t>
            </a:r>
          </a:p>
        </p:txBody>
      </p:sp>
      <p:sp>
        <p:nvSpPr>
          <p:cNvPr id="87047" name="Text Box 8">
            <a:extLst>
              <a:ext uri="{FF2B5EF4-FFF2-40B4-BE49-F238E27FC236}">
                <a16:creationId xmlns:a16="http://schemas.microsoft.com/office/drawing/2014/main" id="{071CD3CF-61CE-6042-8469-B258195D7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8450" y="5399088"/>
            <a:ext cx="43656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1200" b="1">
                <a:latin typeface="Helvetica" pitchFamily="2" charset="0"/>
              </a:rPr>
              <a:t>761</a:t>
            </a:r>
          </a:p>
        </p:txBody>
      </p:sp>
      <p:sp>
        <p:nvSpPr>
          <p:cNvPr id="87048" name="Text Box 9">
            <a:extLst>
              <a:ext uri="{FF2B5EF4-FFF2-40B4-BE49-F238E27FC236}">
                <a16:creationId xmlns:a16="http://schemas.microsoft.com/office/drawing/2014/main" id="{2EC670D9-A05A-FD44-9140-F45C16B024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3113" y="5399088"/>
            <a:ext cx="5810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1200" b="1">
                <a:latin typeface="Helvetica" pitchFamily="2" charset="0"/>
              </a:rPr>
              <a:t>jogo</a:t>
            </a:r>
          </a:p>
        </p:txBody>
      </p:sp>
      <p:sp>
        <p:nvSpPr>
          <p:cNvPr id="87049" name="Line 10">
            <a:extLst>
              <a:ext uri="{FF2B5EF4-FFF2-40B4-BE49-F238E27FC236}">
                <a16:creationId xmlns:a16="http://schemas.microsoft.com/office/drawing/2014/main" id="{C04F9D82-323E-CD40-BE12-EB84F7654DB0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6975" y="5065713"/>
            <a:ext cx="461963" cy="3317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87050" name="Line 11">
            <a:extLst>
              <a:ext uri="{FF2B5EF4-FFF2-40B4-BE49-F238E27FC236}">
                <a16:creationId xmlns:a16="http://schemas.microsoft.com/office/drawing/2014/main" id="{87689ED2-7E52-FF4D-8147-88B6160171F6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5108575"/>
            <a:ext cx="0" cy="274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87051" name="Line 12">
            <a:extLst>
              <a:ext uri="{FF2B5EF4-FFF2-40B4-BE49-F238E27FC236}">
                <a16:creationId xmlns:a16="http://schemas.microsoft.com/office/drawing/2014/main" id="{DA4175B8-0C28-9148-BF54-754F3839DDF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94213" y="5080000"/>
            <a:ext cx="600075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87052" name="Rectangle 13">
            <a:extLst>
              <a:ext uri="{FF2B5EF4-FFF2-40B4-BE49-F238E27FC236}">
                <a16:creationId xmlns:a16="http://schemas.microsoft.com/office/drawing/2014/main" id="{BD6F65F6-7A04-8641-9807-AC19AB8F7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513" y="5643563"/>
            <a:ext cx="7029450" cy="808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1833563" algn="l"/>
                <a:tab pos="4459288" algn="l"/>
                <a:tab pos="5195888" algn="l"/>
                <a:tab pos="5888038" algn="l"/>
              </a:tabLs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1833563" algn="l"/>
                <a:tab pos="4459288" algn="l"/>
                <a:tab pos="5195888" algn="l"/>
                <a:tab pos="5888038" algn="l"/>
              </a:tabLs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1833563" algn="l"/>
                <a:tab pos="4459288" algn="l"/>
                <a:tab pos="5195888" algn="l"/>
                <a:tab pos="5888038" algn="l"/>
              </a:tabLs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1833563" algn="l"/>
                <a:tab pos="4459288" algn="l"/>
                <a:tab pos="5195888" algn="l"/>
                <a:tab pos="5888038" algn="l"/>
              </a:tabLs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1833563" algn="l"/>
                <a:tab pos="4459288" algn="l"/>
                <a:tab pos="5195888" algn="l"/>
                <a:tab pos="5888038" algn="l"/>
              </a:tabLs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33563" algn="l"/>
                <a:tab pos="4459288" algn="l"/>
                <a:tab pos="5195888" algn="l"/>
                <a:tab pos="5888038" algn="l"/>
              </a:tabLs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33563" algn="l"/>
                <a:tab pos="4459288" algn="l"/>
                <a:tab pos="5195888" algn="l"/>
                <a:tab pos="5888038" algn="l"/>
              </a:tabLs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33563" algn="l"/>
                <a:tab pos="4459288" algn="l"/>
                <a:tab pos="5195888" algn="l"/>
                <a:tab pos="5888038" algn="l"/>
              </a:tabLs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33563" algn="l"/>
                <a:tab pos="4459288" algn="l"/>
                <a:tab pos="5195888" algn="l"/>
                <a:tab pos="5888038" algn="l"/>
              </a:tabLs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</a:pPr>
            <a:r xmlns:a="http://schemas.openxmlformats.org/drawingml/2006/main">
              <a:rPr kumimoji="1" lang="pt" altLang="pt-BR" sz="1800">
                <a:latin typeface="Arial" panose="020B0604020202020204" pitchFamily="34" charset="0"/>
                <a:sym typeface="Symbol" pitchFamily="2" charset="2"/>
              </a:rPr>
              <a:t>Anexar um grupo a um arquivo</a:t>
            </a:r>
            <a:br xmlns:a="http://schemas.openxmlformats.org/drawingml/2006/main">
              <a:rPr kumimoji="1" lang="en-US" altLang="pt-BR" sz="1800">
                <a:latin typeface="Arial" panose="020B0604020202020204" pitchFamily="34" charset="0"/>
                <a:sym typeface="Symbol" pitchFamily="2" charset="2"/>
              </a:rPr>
            </a:br>
            <a:r xmlns:a="http://schemas.openxmlformats.org/drawingml/2006/main">
              <a:rPr kumimoji="1" lang="pt" altLang="pt-BR" sz="1800">
                <a:latin typeface="Arial" panose="020B0604020202020204" pitchFamily="34" charset="0"/>
                <a:sym typeface="Symbol" pitchFamily="2" charset="2"/>
              </a:rPr>
              <a:t>          </a:t>
            </a:r>
            <a:r xmlns:a="http://schemas.openxmlformats.org/drawingml/2006/main">
              <a:rPr kumimoji="1" lang="pt" altLang="pt-BR" sz="1800" b="1">
                <a:latin typeface="Courier New" panose="02070309020205020404" pitchFamily="49" charset="0"/>
                <a:sym typeface="Symbol" pitchFamily="2" charset="2"/>
              </a:rPr>
              <a:t>jogo chgrp G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>
            <a:extLst>
              <a:ext uri="{FF2B5EF4-FFF2-40B4-BE49-F238E27FC236}">
                <a16:creationId xmlns:a16="http://schemas.microsoft.com/office/drawing/2014/main" id="{734B3755-F0F8-E342-B749-2E31C7346B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5500" y="258763"/>
            <a:ext cx="8077200" cy="60960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 sz="2800">
                <a:ea typeface="ＭＳ Ｐゴシック" panose="020B0600070205080204" pitchFamily="34" charset="-128"/>
              </a:rPr>
              <a:t>Gerenciamento da Lista de Controle de Acesso do Windows 7</a:t>
            </a:r>
          </a:p>
        </p:txBody>
      </p:sp>
      <p:pic>
        <p:nvPicPr>
          <p:cNvPr id="89090" name="Picture 2" descr="11_16.pdf">
            <a:extLst>
              <a:ext uri="{FF2B5EF4-FFF2-40B4-BE49-F238E27FC236}">
                <a16:creationId xmlns:a16="http://schemas.microsoft.com/office/drawing/2014/main" id="{611A72AA-7DB0-654F-8299-617CC3D5D0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0288" y="882650"/>
            <a:ext cx="4075112" cy="560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>
            <a:extLst>
              <a:ext uri="{FF2B5EF4-FFF2-40B4-BE49-F238E27FC236}">
                <a16:creationId xmlns:a16="http://schemas.microsoft.com/office/drawing/2014/main" id="{13E9994B-A939-9144-AC88-263B94CE30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9325" y="277813"/>
            <a:ext cx="7737475" cy="576262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 exemplo de listagem de diretórios UNIX</a:t>
            </a:r>
          </a:p>
        </p:txBody>
      </p:sp>
      <p:pic>
        <p:nvPicPr>
          <p:cNvPr id="91138" name="Picture 4">
            <a:extLst>
              <a:ext uri="{FF2B5EF4-FFF2-40B4-BE49-F238E27FC236}">
                <a16:creationId xmlns:a16="http://schemas.microsoft.com/office/drawing/2014/main" id="{F1BD2001-03D4-7446-84B7-0412C9118E10}"/>
              </a:ext>
            </a:extLst>
          </p:cNvPr>
          <p:cNvPicPr>
            <a:picLocks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" t="27065" r="722" b="27065"/>
          <a:stretch>
            <a:fillRect/>
          </a:stretch>
        </p:blipFill>
        <p:spPr>
          <a:xfrm>
            <a:off x="1079500" y="2003425"/>
            <a:ext cx="7350125" cy="3360738"/>
          </a:xfrm>
          <a:noFill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2">
            <a:extLst>
              <a:ext uri="{FF2B5EF4-FFF2-40B4-BE49-F238E27FC236}">
                <a16:creationId xmlns:a16="http://schemas.microsoft.com/office/drawing/2014/main" id="{30EE3FF5-0FBF-4F45-B379-C501334DE28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Fim do Capítulo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6280</TotalTime>
  <Words>2179</Words>
  <Application>Microsoft Macintosh PowerPoint</Application>
  <PresentationFormat>Apresentação na tela (4:3)</PresentationFormat>
  <Paragraphs>369</Paragraphs>
  <Slides>44</Slides>
  <Notes>44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44</vt:i4>
      </vt:variant>
    </vt:vector>
  </HeadingPairs>
  <TitlesOfParts>
    <vt:vector size="54" baseType="lpstr">
      <vt:lpstr>Verdana</vt:lpstr>
      <vt:lpstr>ＭＳ Ｐゴシック</vt:lpstr>
      <vt:lpstr>Arial</vt:lpstr>
      <vt:lpstr>Helvetica</vt:lpstr>
      <vt:lpstr>Monotype Sorts</vt:lpstr>
      <vt:lpstr>Webdings</vt:lpstr>
      <vt:lpstr>Times New Roman</vt:lpstr>
      <vt:lpstr>Courier New</vt:lpstr>
      <vt:lpstr>Symbol</vt:lpstr>
      <vt:lpstr>os-8</vt:lpstr>
      <vt:lpstr>Chapter 11:   File-System Interface</vt:lpstr>
      <vt:lpstr>Chapter 11:  File-System Interface</vt:lpstr>
      <vt:lpstr>Objectives</vt:lpstr>
      <vt:lpstr>File Concept</vt:lpstr>
      <vt:lpstr>File Attributes</vt:lpstr>
      <vt:lpstr>File info Window on Mac OS X</vt:lpstr>
      <vt:lpstr>File Operations</vt:lpstr>
      <vt:lpstr>Open Files</vt:lpstr>
      <vt:lpstr>Open File Locking</vt:lpstr>
      <vt:lpstr>File Locking Example – Java API</vt:lpstr>
      <vt:lpstr>File Locking Example –  Java API (Cont.)</vt:lpstr>
      <vt:lpstr>File Types – Name, Extension</vt:lpstr>
      <vt:lpstr>File Structure</vt:lpstr>
      <vt:lpstr>Sequential-access File</vt:lpstr>
      <vt:lpstr>Access Methods</vt:lpstr>
      <vt:lpstr>Simulation of Sequential Access on  Direct-access File</vt:lpstr>
      <vt:lpstr>Other Access Methods</vt:lpstr>
      <vt:lpstr>Example of Index and Relative Files</vt:lpstr>
      <vt:lpstr>Directory Structure</vt:lpstr>
      <vt:lpstr>Disk Structure</vt:lpstr>
      <vt:lpstr>A Typical File-system Organization</vt:lpstr>
      <vt:lpstr>Types of File Systems</vt:lpstr>
      <vt:lpstr>Operations Performed on Directory</vt:lpstr>
      <vt:lpstr>Organize the Directory (Logically) to Obtain</vt:lpstr>
      <vt:lpstr>Single-Level Directory</vt:lpstr>
      <vt:lpstr>Two-Level Directory</vt:lpstr>
      <vt:lpstr>Tree-Structured Directories</vt:lpstr>
      <vt:lpstr>Tree-Structured Directories (Cont.)</vt:lpstr>
      <vt:lpstr>Tree-Structured Directories (Cont)</vt:lpstr>
      <vt:lpstr>Acyclic-Graph Directories</vt:lpstr>
      <vt:lpstr>Acyclic-Graph Directories (Cont.)</vt:lpstr>
      <vt:lpstr>General Graph Directory</vt:lpstr>
      <vt:lpstr>General Graph Directory (Cont.)</vt:lpstr>
      <vt:lpstr>File System Mounting</vt:lpstr>
      <vt:lpstr>Mount Point</vt:lpstr>
      <vt:lpstr>File Sharing</vt:lpstr>
      <vt:lpstr>File Sharing – Remote File Systems</vt:lpstr>
      <vt:lpstr>File Sharing – Failure Modes</vt:lpstr>
      <vt:lpstr>File Sharing – Consistency Semantics</vt:lpstr>
      <vt:lpstr>Protection</vt:lpstr>
      <vt:lpstr>Access Lists and Groups</vt:lpstr>
      <vt:lpstr>Windows 7 Access-Control List Management</vt:lpstr>
      <vt:lpstr>A Sample UNIX Directory Listing</vt:lpstr>
      <vt:lpstr>End of Chapter 11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1.01</dc:title>
  <dc:creator>Lucent End User</dc:creator>
  <cp:lastModifiedBy>Getulio Pereira</cp:lastModifiedBy>
  <cp:revision>95</cp:revision>
  <dcterms:created xsi:type="dcterms:W3CDTF">2004-10-07T18:29:30Z</dcterms:created>
  <dcterms:modified xsi:type="dcterms:W3CDTF">2020-10-08T15:13:20Z</dcterms:modified>
</cp:coreProperties>
</file>