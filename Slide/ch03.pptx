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 autoCompressPictures="0">
  <p:sldMasterIdLst>
    <p:sldMasterId id="2147483662" r:id="rId1"/>
  </p:sldMasterIdLst>
  <p:notesMasterIdLst>
    <p:notesMasterId r:id="rId60"/>
  </p:notesMasterIdLst>
  <p:handoutMasterIdLst>
    <p:handoutMasterId r:id="rId61"/>
  </p:handoutMasterIdLst>
  <p:sldIdLst>
    <p:sldId id="325" r:id="rId2"/>
    <p:sldId id="256" r:id="rId3"/>
    <p:sldId id="335" r:id="rId4"/>
    <p:sldId id="257" r:id="rId5"/>
    <p:sldId id="327" r:id="rId6"/>
    <p:sldId id="258" r:id="rId7"/>
    <p:sldId id="278" r:id="rId8"/>
    <p:sldId id="259" r:id="rId9"/>
    <p:sldId id="280" r:id="rId10"/>
    <p:sldId id="260" r:id="rId11"/>
    <p:sldId id="347" r:id="rId12"/>
    <p:sldId id="348" r:id="rId13"/>
    <p:sldId id="281" r:id="rId14"/>
    <p:sldId id="282" r:id="rId15"/>
    <p:sldId id="261" r:id="rId16"/>
    <p:sldId id="283" r:id="rId17"/>
    <p:sldId id="263" r:id="rId18"/>
    <p:sldId id="350" r:id="rId19"/>
    <p:sldId id="349" r:id="rId20"/>
    <p:sldId id="264" r:id="rId21"/>
    <p:sldId id="328" r:id="rId22"/>
    <p:sldId id="265" r:id="rId23"/>
    <p:sldId id="309" r:id="rId24"/>
    <p:sldId id="351" r:id="rId25"/>
    <p:sldId id="266" r:id="rId26"/>
    <p:sldId id="352" r:id="rId27"/>
    <p:sldId id="336" r:id="rId28"/>
    <p:sldId id="333" r:id="rId29"/>
    <p:sldId id="267" r:id="rId30"/>
    <p:sldId id="268" r:id="rId31"/>
    <p:sldId id="331" r:id="rId32"/>
    <p:sldId id="332" r:id="rId33"/>
    <p:sldId id="310" r:id="rId34"/>
    <p:sldId id="271" r:id="rId35"/>
    <p:sldId id="272" r:id="rId36"/>
    <p:sldId id="273" r:id="rId37"/>
    <p:sldId id="274" r:id="rId38"/>
    <p:sldId id="298" r:id="rId39"/>
    <p:sldId id="275" r:id="rId40"/>
    <p:sldId id="299" r:id="rId41"/>
    <p:sldId id="353" r:id="rId42"/>
    <p:sldId id="276" r:id="rId43"/>
    <p:sldId id="337" r:id="rId44"/>
    <p:sldId id="354" r:id="rId45"/>
    <p:sldId id="355" r:id="rId46"/>
    <p:sldId id="338" r:id="rId47"/>
    <p:sldId id="339" r:id="rId48"/>
    <p:sldId id="340" r:id="rId49"/>
    <p:sldId id="300" r:id="rId50"/>
    <p:sldId id="301" r:id="rId51"/>
    <p:sldId id="292" r:id="rId52"/>
    <p:sldId id="302" r:id="rId53"/>
    <p:sldId id="356" r:id="rId54"/>
    <p:sldId id="293" r:id="rId55"/>
    <p:sldId id="342" r:id="rId56"/>
    <p:sldId id="343" r:id="rId57"/>
    <p:sldId id="345" r:id="rId58"/>
    <p:sldId id="334" r:id="rId59"/>
  </p:sldIdLst>
  <p:sldSz cx="13716000" cy="9144000"/>
  <p:notesSz cx="6881813" cy="9296400"/>
  <p:defaultTextStyle>
    <a:defPPr>
      <a:defRPr lang="p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>
          <p15:clr>
            <a:srgbClr val="A4A3A4"/>
          </p15:clr>
        </p15:guide>
        <p15:guide id="2" pos="19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83"/>
  </p:normalViewPr>
  <p:slideViewPr>
    <p:cSldViewPr snapToGrid="0">
      <p:cViewPr varScale="1">
        <p:scale>
          <a:sx n="71" d="100"/>
          <a:sy n="71" d="100"/>
        </p:scale>
        <p:origin x="1248" y="168"/>
      </p:cViewPr>
      <p:guideLst>
        <p:guide orient="horz" pos="1536"/>
        <p:guide pos="1961"/>
      </p:guideLst>
    </p:cSldViewPr>
  </p:slideViewPr>
  <p:outlineViewPr>
    <p:cViewPr>
      <p:scale>
        <a:sx n="33" d="100"/>
        <a:sy n="33" d="100"/>
      </p:scale>
      <p:origin x="0" y="345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-1914" y="-84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2AEFFB7-BE0C-AB4D-B6ED-3FEC85197C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6ADCFAEF-35F1-1B4C-AC8E-648E36F27D7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113463EB-9C87-334F-8AAC-02C8308FB5E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D64F6CFD-FEA9-2D41-AFC3-413C11ADB4D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pitchFamily="2" charset="0"/>
              </a:defRPr>
            </a:lvl1pPr>
          </a:lstStyle>
          <a:p>
            <a:fld id="{696D346E-5138-7E4B-BDB4-D7A5940A451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C02EB1D-7929-0446-8A8F-ED15879F11F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485DF6D5-8169-BD47-863C-46B7E3271D4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8335D8AE-E99C-674C-9B98-B9A6407B3E5E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781050" y="688975"/>
            <a:ext cx="5262563" cy="350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>
            <a:extLst>
              <a:ext uri="{FF2B5EF4-FFF2-40B4-BE49-F238E27FC236}">
                <a16:creationId xmlns:a16="http://schemas.microsoft.com/office/drawing/2014/main" id="{4C5C6998-1FA4-E448-8308-43DEB2D6A79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427538"/>
            <a:ext cx="5100637" cy="419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>
            <a:extLst>
              <a:ext uri="{FF2B5EF4-FFF2-40B4-BE49-F238E27FC236}">
                <a16:creationId xmlns:a16="http://schemas.microsoft.com/office/drawing/2014/main" id="{B148A7FD-69C0-6444-B8E7-33FEEE7480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>
            <a:extLst>
              <a:ext uri="{FF2B5EF4-FFF2-40B4-BE49-F238E27FC236}">
                <a16:creationId xmlns:a16="http://schemas.microsoft.com/office/drawing/2014/main" id="{1F1AB510-2687-534E-ADD8-120D5AE09D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pitchFamily="2" charset="0"/>
              </a:defRPr>
            </a:lvl1pPr>
          </a:lstStyle>
          <a:p>
            <a:fld id="{2D9B32E8-0469-ED46-BE20-EEABA6C923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:a16="http://schemas.microsoft.com/office/drawing/2014/main" id="{EFDB2814-16B7-6044-858A-E69182939D1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83A5DFF2-BD6A-2443-990C-FCE1895D8A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>
            <a:extLst>
              <a:ext uri="{FF2B5EF4-FFF2-40B4-BE49-F238E27FC236}">
                <a16:creationId xmlns:a16="http://schemas.microsoft.com/office/drawing/2014/main" id="{1FE227CE-9C29-2642-A5FF-96BD325AED5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4" name="Rectangle 3">
            <a:extLst>
              <a:ext uri="{FF2B5EF4-FFF2-40B4-BE49-F238E27FC236}">
                <a16:creationId xmlns:a16="http://schemas.microsoft.com/office/drawing/2014/main" id="{F3927A01-793E-9944-B6EE-9AD1EEDD9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5179B1B5-AAF2-8B49-8203-846E6877376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0DAF84AE-8305-3B48-AB15-F976A7DC3B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09720A5B-87D0-BB41-8295-27AC5BEAC35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DD264A53-67CC-294F-90D7-146C4F8715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459E4A96-0D3C-9049-9362-ECA9F24169B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A93DE4E0-DB7C-B94F-9DD0-5628C34B0F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4F1F945-A442-A040-A325-D0ED884A34E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AB22526E-B65A-CC48-8D28-777CA49F07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CBF84E3-BFE4-834D-AC54-93CCD18F728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BB9BD65E-8DDA-9C47-9BDE-E5D304B296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9CF3BA5D-CFAB-7943-86FD-27388798AAA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74642B18-B913-DA41-ABE0-4D6C3B1EF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26777DA6-BA03-1F4E-ADDD-5448EF9272A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2292157A-F788-544A-A691-AA0B8C706C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DD5DAF15-20DC-2748-9E9D-4FF1EB4E17A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668DF387-A4DA-134A-BA57-9FAD25D4D2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9861F7FE-2F3A-4D47-9501-80035D7ABE4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817E7FAC-8898-D84F-AF83-D92D153630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94844203-0CA1-2749-B969-F010C7F2DDF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B342BF40-CA68-5344-9FE1-BF8B6811C3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B3423476-DD68-4D4F-A5BF-45CE7CED800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AAA22B33-511F-404A-AD30-8021C14B7E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944F4D70-49E6-9E41-A113-411F3D4382A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E1B4942E-C666-DF43-8454-D8489ECB05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AFC1327B-3FC6-E44E-A240-B317D8392A5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D92F7D1E-5AAD-204F-8C6F-84BBB953A4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4C2AA166-D032-864B-818B-AA9F7522214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B1E63655-B25B-4C44-BA65-791BA85C4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0B57A54F-33CD-4A4E-85C1-0D80E8EB401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BB0DA077-9BB0-E149-AB43-772CCFE6CC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26ED4F27-0E29-9749-8C9C-BF1CC8C0A55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EBD38C93-21BF-484C-88EB-6B1FC73A1B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0ED9B0CE-79FD-DF41-806D-1EF9F80699B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0B4DD63A-0CB4-1040-AD0E-F160156F66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B6644FF4-61B1-F84F-BC69-A1AAAB459D0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7E93CC02-7231-E647-8E60-0C044FC0C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03C1BCFB-82B4-5949-99F7-D62E9F8FD21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DEC37BF0-07DB-E24A-BB03-5BAA4A6E60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23A3B3A6-FA1A-8E47-88AC-9B37C2507C0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DA60E9D4-5021-6E42-AD9F-43E1CD9019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0A69D714-D0E4-E147-BDB6-A5A21DBB61E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97BB1470-68A9-784F-B135-22BE525BF9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D2313368-B1DE-904A-8FB5-B760C743271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F062A2E0-C425-014C-A2CD-EAF31FB1C6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757E46CC-72AE-874B-85E3-59ABE2ECF8E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6C78BF57-B023-4746-9F2B-EA9AD150C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D049F28F-7F86-A64B-AD6A-E447975A8AA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15F05A78-2610-1E4B-B40B-9E9E9D6D93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45512AD8-3D03-DC48-A685-4FAD5AA851D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BE1209B6-C476-234C-B9D9-27849458A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A58917AF-2C4A-3448-82EA-D48C20293F7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6E5D91F0-F82C-774C-88EF-C3E234DAFE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CE10FFF8-9974-6C43-8228-A13C4476D95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898B5877-D8D9-A248-8C92-0146A3706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36C9DC2D-04AD-BE41-988C-CA74D945C1A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1E8E9CF9-FCF3-1041-9965-50D8FC03F3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1206745A-AC30-AA45-8A9B-7226501695C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B15A0118-0D0D-E44B-BA5F-6D4AD9D3EC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FE3BD104-AB4C-1847-9A8F-AC27436798C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BC1B56DF-F018-FF4D-868C-9278C68FF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BB268C1A-70EB-494E-8B01-6250C6D694E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35813E02-30C3-A84A-925F-2FC89379A0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BD51580C-973C-C74F-A595-80D6D367365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8AB506EA-EF8D-6645-9F5C-F0F4523B2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E69E864F-58A6-324C-A537-EC39EF4A345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355F1A05-A02C-2546-9CFA-174A8CD6A2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02D9876F-81EB-604A-9A9F-0B83A7CBC9D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0FDC2DB7-BF4F-2F43-81EA-393F69D457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2626625C-0412-2B4E-9E36-90176474592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410602F4-709A-DB4A-942E-12232AEC4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8A1198F1-EB76-4B4F-8D36-62CAA8BF5C5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07DE4469-B1C5-2F44-A1A3-93B9900FFA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9D1F6022-184A-4C49-9345-463B979D60D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4" name="Rectangle 3">
            <a:extLst>
              <a:ext uri="{FF2B5EF4-FFF2-40B4-BE49-F238E27FC236}">
                <a16:creationId xmlns:a16="http://schemas.microsoft.com/office/drawing/2014/main" id="{6BE058A7-D436-8142-966A-190B88D61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9EF44725-B74A-514F-A8EF-286222373A9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D9E9D4EB-1327-E24A-B492-E1AD6FC1AA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CCFB4331-F182-4842-B3DE-33C0EF949BC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AC787010-1A4C-4342-8695-1C9EB396BA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>
            <a:extLst>
              <a:ext uri="{FF2B5EF4-FFF2-40B4-BE49-F238E27FC236}">
                <a16:creationId xmlns:a16="http://schemas.microsoft.com/office/drawing/2014/main" id="{6B3857DA-7267-9F4C-B27D-06A0A50492D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8" name="Rectangle 3">
            <a:extLst>
              <a:ext uri="{FF2B5EF4-FFF2-40B4-BE49-F238E27FC236}">
                <a16:creationId xmlns:a16="http://schemas.microsoft.com/office/drawing/2014/main" id="{423DB048-E496-8C4C-AD98-AD6252A4BF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EB778944-DA26-4E44-BAF7-3AFB439A802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6" name="Rectangle 3">
            <a:extLst>
              <a:ext uri="{FF2B5EF4-FFF2-40B4-BE49-F238E27FC236}">
                <a16:creationId xmlns:a16="http://schemas.microsoft.com/office/drawing/2014/main" id="{5FEA4F8E-5D2D-E046-B351-43711BEFCD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>
            <a:extLst>
              <a:ext uri="{FF2B5EF4-FFF2-40B4-BE49-F238E27FC236}">
                <a16:creationId xmlns:a16="http://schemas.microsoft.com/office/drawing/2014/main" id="{73EF59A1-8E3A-7944-B2D7-09649AE2E96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4" name="Rectangle 3">
            <a:extLst>
              <a:ext uri="{FF2B5EF4-FFF2-40B4-BE49-F238E27FC236}">
                <a16:creationId xmlns:a16="http://schemas.microsoft.com/office/drawing/2014/main" id="{A55F64A7-AE83-FD46-9344-FE52DFB362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>
            <a:extLst>
              <a:ext uri="{FF2B5EF4-FFF2-40B4-BE49-F238E27FC236}">
                <a16:creationId xmlns:a16="http://schemas.microsoft.com/office/drawing/2014/main" id="{703312BE-D443-B349-98E4-920E9368585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2" name="Rectangle 3">
            <a:extLst>
              <a:ext uri="{FF2B5EF4-FFF2-40B4-BE49-F238E27FC236}">
                <a16:creationId xmlns:a16="http://schemas.microsoft.com/office/drawing/2014/main" id="{3F6CCA0C-7C7E-2448-850D-E5F8AA19D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>
            <a:extLst>
              <a:ext uri="{FF2B5EF4-FFF2-40B4-BE49-F238E27FC236}">
                <a16:creationId xmlns:a16="http://schemas.microsoft.com/office/drawing/2014/main" id="{4EC46016-6B06-164D-8AA0-333141657C1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0" name="Rectangle 3">
            <a:extLst>
              <a:ext uri="{FF2B5EF4-FFF2-40B4-BE49-F238E27FC236}">
                <a16:creationId xmlns:a16="http://schemas.microsoft.com/office/drawing/2014/main" id="{98A12ED5-9C5F-6A4F-9BC1-9E74BA2F8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>
            <a:extLst>
              <a:ext uri="{FF2B5EF4-FFF2-40B4-BE49-F238E27FC236}">
                <a16:creationId xmlns:a16="http://schemas.microsoft.com/office/drawing/2014/main" id="{AE763856-A3A9-2D4E-8889-D0442B24B8D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8" name="Rectangle 3">
            <a:extLst>
              <a:ext uri="{FF2B5EF4-FFF2-40B4-BE49-F238E27FC236}">
                <a16:creationId xmlns:a16="http://schemas.microsoft.com/office/drawing/2014/main" id="{03FC0952-D7B0-E94D-888D-5DB28C1222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>
            <a:extLst>
              <a:ext uri="{FF2B5EF4-FFF2-40B4-BE49-F238E27FC236}">
                <a16:creationId xmlns:a16="http://schemas.microsoft.com/office/drawing/2014/main" id="{0A8FF7A2-59C9-F441-8ADD-4FA81BC97D7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6" name="Rectangle 3">
            <a:extLst>
              <a:ext uri="{FF2B5EF4-FFF2-40B4-BE49-F238E27FC236}">
                <a16:creationId xmlns:a16="http://schemas.microsoft.com/office/drawing/2014/main" id="{41493693-F04E-5745-8417-2556B00F9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>
            <a:extLst>
              <a:ext uri="{FF2B5EF4-FFF2-40B4-BE49-F238E27FC236}">
                <a16:creationId xmlns:a16="http://schemas.microsoft.com/office/drawing/2014/main" id="{DF9EF70C-6153-714F-B46E-E730A60E32A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4" name="Rectangle 3">
            <a:extLst>
              <a:ext uri="{FF2B5EF4-FFF2-40B4-BE49-F238E27FC236}">
                <a16:creationId xmlns:a16="http://schemas.microsoft.com/office/drawing/2014/main" id="{E230095E-EE9E-774B-9082-E0781C3B84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>
            <a:extLst>
              <a:ext uri="{FF2B5EF4-FFF2-40B4-BE49-F238E27FC236}">
                <a16:creationId xmlns:a16="http://schemas.microsoft.com/office/drawing/2014/main" id="{165996FC-0BC1-4948-94CE-48FB74A2627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2" name="Rectangle 3">
            <a:extLst>
              <a:ext uri="{FF2B5EF4-FFF2-40B4-BE49-F238E27FC236}">
                <a16:creationId xmlns:a16="http://schemas.microsoft.com/office/drawing/2014/main" id="{2F7DCF3E-9FAB-894A-8A9F-2BB9CDBE68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>
            <a:extLst>
              <a:ext uri="{FF2B5EF4-FFF2-40B4-BE49-F238E27FC236}">
                <a16:creationId xmlns:a16="http://schemas.microsoft.com/office/drawing/2014/main" id="{5DBC3B31-BFF5-444C-86BE-6FF79A40819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0" name="Rectangle 3">
            <a:extLst>
              <a:ext uri="{FF2B5EF4-FFF2-40B4-BE49-F238E27FC236}">
                <a16:creationId xmlns:a16="http://schemas.microsoft.com/office/drawing/2014/main" id="{255B0F8E-E869-7147-BE2E-7166796EE5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>
            <a:extLst>
              <a:ext uri="{FF2B5EF4-FFF2-40B4-BE49-F238E27FC236}">
                <a16:creationId xmlns:a16="http://schemas.microsoft.com/office/drawing/2014/main" id="{820326B3-98D9-AC44-BCB0-FE0A836E0E6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8" name="Rectangle 3">
            <a:extLst>
              <a:ext uri="{FF2B5EF4-FFF2-40B4-BE49-F238E27FC236}">
                <a16:creationId xmlns:a16="http://schemas.microsoft.com/office/drawing/2014/main" id="{25350A83-E22E-9742-9204-E3D4FC794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>
            <a:extLst>
              <a:ext uri="{FF2B5EF4-FFF2-40B4-BE49-F238E27FC236}">
                <a16:creationId xmlns:a16="http://schemas.microsoft.com/office/drawing/2014/main" id="{821B5D5A-45AC-2C4C-A3CE-E19B38868FB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6" name="Rectangle 3">
            <a:extLst>
              <a:ext uri="{FF2B5EF4-FFF2-40B4-BE49-F238E27FC236}">
                <a16:creationId xmlns:a16="http://schemas.microsoft.com/office/drawing/2014/main" id="{3FE31EBA-B76E-A044-9BEE-1BECBE7C0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2">
            <a:extLst>
              <a:ext uri="{FF2B5EF4-FFF2-40B4-BE49-F238E27FC236}">
                <a16:creationId xmlns:a16="http://schemas.microsoft.com/office/drawing/2014/main" id="{B821E1FD-CC82-D64F-9DE4-054170F42D2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4" name="Rectangle 3">
            <a:extLst>
              <a:ext uri="{FF2B5EF4-FFF2-40B4-BE49-F238E27FC236}">
                <a16:creationId xmlns:a16="http://schemas.microsoft.com/office/drawing/2014/main" id="{6DDCAB90-6DD6-B34B-BD28-DEFC688DFC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2">
            <a:extLst>
              <a:ext uri="{FF2B5EF4-FFF2-40B4-BE49-F238E27FC236}">
                <a16:creationId xmlns:a16="http://schemas.microsoft.com/office/drawing/2014/main" id="{D91F4342-C93C-6045-8F32-5056021F84F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2" name="Rectangle 3">
            <a:extLst>
              <a:ext uri="{FF2B5EF4-FFF2-40B4-BE49-F238E27FC236}">
                <a16:creationId xmlns:a16="http://schemas.microsoft.com/office/drawing/2014/main" id="{8630BC9B-C8AD-A04C-B13E-7F5A4C6508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>
            <a:extLst>
              <a:ext uri="{FF2B5EF4-FFF2-40B4-BE49-F238E27FC236}">
                <a16:creationId xmlns:a16="http://schemas.microsoft.com/office/drawing/2014/main" id="{96B6A2A0-CCC1-F640-9BB6-A6184DF28D7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0" name="Rectangle 3">
            <a:extLst>
              <a:ext uri="{FF2B5EF4-FFF2-40B4-BE49-F238E27FC236}">
                <a16:creationId xmlns:a16="http://schemas.microsoft.com/office/drawing/2014/main" id="{7D2AFD33-3EA5-774A-937A-F41ED4F530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>
            <a:extLst>
              <a:ext uri="{FF2B5EF4-FFF2-40B4-BE49-F238E27FC236}">
                <a16:creationId xmlns:a16="http://schemas.microsoft.com/office/drawing/2014/main" id="{7260FD1E-54F3-5647-A8D9-E7F5F000A47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8" name="Rectangle 3">
            <a:extLst>
              <a:ext uri="{FF2B5EF4-FFF2-40B4-BE49-F238E27FC236}">
                <a16:creationId xmlns:a16="http://schemas.microsoft.com/office/drawing/2014/main" id="{E452810B-291F-554B-A3A9-DB818664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13F57C1-6065-2845-8629-93CF06DBDEA1}"/>
              </a:ext>
            </a:extLst>
          </p:cNvPr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89995431-07DD-B242-ABCA-D2C291A45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94D05861-DCBE-074F-B4ED-9DE46275C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EDD8A86-6FA1-E446-B1DE-5ECF38C38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6235E115-DFA8-3244-8C20-34F494335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Silberschatz, Galvin and Gagne ©2013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58F71DD-5996-9E41-975A-F5DA2FA4B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" y="8818563"/>
            <a:ext cx="37782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Operating System Concepts  – 9</a:t>
            </a:r>
            <a:r>
              <a:rPr lang="en-US" altLang="pt-BR" sz="1400" b="1" baseline="30000">
                <a:solidFill>
                  <a:srgbClr val="336699"/>
                </a:solidFill>
                <a:latin typeface="Helvetica" pitchFamily="2" charset="0"/>
              </a:rPr>
              <a:t>th</a:t>
            </a: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77B1B7FD-CA34-6B47-8731-039BDE273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6F55DE09-597B-B347-AEB7-17DAE55CC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5391150"/>
            <a:ext cx="3505200" cy="2455863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2385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4381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8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4306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367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524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2220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0363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67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913467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846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0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1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4831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360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1306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ABF04EC-90BB-5742-8620-83C001C13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1CA259F0-EBE0-684F-B92B-3BC61523F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5B66185-374B-D548-91C9-44429B9D22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  <a:p>
            <a:pPr lvl="3"/>
            <a:r>
              <a:rPr lang="en-US" altLang="pt-BR"/>
              <a:t>Fourth level</a:t>
            </a:r>
          </a:p>
          <a:p>
            <a:pPr lvl="4"/>
            <a:r>
              <a:rPr lang="en-US" altLang="pt-BR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2C28B64-EC92-7D49-AC64-58CE7910A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 sz="3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C8F694B-D038-E844-A8F1-8F10E8A231E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30622" tIns="65311" rIns="130622" bIns="65311"/>
          <a:lstStyle/>
          <a:p>
            <a:endParaRPr lang="pt-BR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F61D2D8-E6A5-0A41-A446-324AF2B7B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 sz="3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32828BA6-81E3-4341-B4F4-490464B02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 sz="3400">
              <a:latin typeface="Times New Roman" panose="02020603050405020304" pitchFamily="18" charset="0"/>
            </a:endParaRPr>
          </a:p>
        </p:txBody>
      </p:sp>
      <p:sp>
        <p:nvSpPr>
          <p:cNvPr id="146441" name="Text Box 9">
            <a:extLst>
              <a:ext uri="{FF2B5EF4-FFF2-40B4-BE49-F238E27FC236}">
                <a16:creationId xmlns:a16="http://schemas.microsoft.com/office/drawing/2014/main" id="{49401DD7-34C2-7543-B920-89DE532A5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3975" y="8818563"/>
            <a:ext cx="631825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3.</a:t>
            </a:r>
            <a:fld id="{B8B1A2B0-6C20-0E48-A7BC-DA9FF68F22AF}" type="slidenum"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</a:pPr>
              <a:t>‹nº›</a:t>
            </a:fld>
            <a:endParaRPr lang="en-US" altLang="pt-BR" sz="14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46442" name="Text Box 10">
            <a:extLst>
              <a:ext uri="{FF2B5EF4-FFF2-40B4-BE49-F238E27FC236}">
                <a16:creationId xmlns:a16="http://schemas.microsoft.com/office/drawing/2014/main" id="{13F75F9C-231E-D041-88FC-1344CB7BB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Silberschatz, Galvin and Gagne ©2013</a:t>
            </a:r>
          </a:p>
        </p:txBody>
      </p:sp>
      <p:sp>
        <p:nvSpPr>
          <p:cNvPr id="146443" name="Text Box 11">
            <a:extLst>
              <a:ext uri="{FF2B5EF4-FFF2-40B4-BE49-F238E27FC236}">
                <a16:creationId xmlns:a16="http://schemas.microsoft.com/office/drawing/2014/main" id="{044DB44A-2B1D-D14B-8083-0B3448AF1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8802688"/>
            <a:ext cx="37274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Operating System Concepts – 9</a:t>
            </a:r>
            <a:r>
              <a:rPr lang="en-US" altLang="pt-BR" sz="14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16A338D4-0F76-DD45-A8E4-8835B8727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8950" indent="-4889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2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1060450" indent="-407988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2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550988" indent="-325438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2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2039938" indent="-325438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2530475" indent="-325438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318391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702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9013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324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498AC0AA-DDC1-5143-A31E-75E3E881CFD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Capítulo 3: Processos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FC6858D5-744E-684C-8E6E-4B1D1C2BB8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6975" y="369888"/>
            <a:ext cx="9571038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Capítulo 3: Processos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45BEFA23-4D90-6B48-8FC0-4C4A11953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056938" cy="509587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Conceito de Processo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Processos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Operações em Processos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Comunicação entre processos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Exemplos de sistemas IPC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Comunicação em Sistemas Cliente-Servidor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>
            <a:extLst>
              <a:ext uri="{FF2B5EF4-FFF2-40B4-BE49-F238E27FC236}">
                <a16:creationId xmlns:a16="http://schemas.microsoft.com/office/drawing/2014/main" id="{012BF8A9-29E4-D144-9E8C-6BA1607B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Objetivos</a:t>
            </a:r>
          </a:p>
        </p:txBody>
      </p:sp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4C2BE9EF-FCBF-6343-9A83-17E8DFED9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0234613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introduzir a noção de um processo – um programa em execução, que forma a base de toda a computação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Descrever as várias características dos processos, incluindo agendamento, criação e término e comunicação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Explorar a comunicação entre processos usando memória compartilhada e passagem de mensagens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descrever a comunicação em sistemas cliente-servidor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4B9F13C1-7DDD-8046-8698-E1A626470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5375" y="369888"/>
            <a:ext cx="91598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Conceito de Processo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22E4310-5E3D-C044-9CF2-04FE82E5B0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056938" cy="6381750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sistema operacional executa uma variedade de programas: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Sistema de lote –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trabalhos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Sistemas de tempo compartilhado –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programas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tarefas do usuário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livro didático usa os termos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trabalho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processo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quase indistintamente</a:t>
            </a: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Processo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um programa em execução; a execução do processo deve progredir de forma sequencial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Várias partes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código do programa, também chamado de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seção de texto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Atividade atual incluindo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programa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contador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registradores do processador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Pilha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contendo dados temporários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Parâmetros de função, endereços de retorno, variáveis locais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Seção de dados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contendo variáveis globais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Monte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contendo memória alocada dinamicamente durante o tempo de execução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programa é uma entidade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passiva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armazenada no disco 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arquivo executável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), o processo é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ativo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programa se torna um processo quando o arquivo executável é carregado na memória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Execução do programa iniciada por meio de cliques do mouse na GUI, entrada de linha de comando do seu nome, etc.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programa pode ser vários processos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Considere vários usuários executando o mesmo programa</a:t>
            </a:r>
          </a:p>
          <a:p>
            <a:pPr>
              <a:lnSpc>
                <a:spcPct val="90000"/>
              </a:lnSpc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AC8BA645-2B06-F740-BED5-5138C7F188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Processo na Memória</a:t>
            </a:r>
          </a:p>
        </p:txBody>
      </p:sp>
      <p:pic>
        <p:nvPicPr>
          <p:cNvPr id="13314" name="Picture 4">
            <a:extLst>
              <a:ext uri="{FF2B5EF4-FFF2-40B4-BE49-F238E27FC236}">
                <a16:creationId xmlns:a16="http://schemas.microsoft.com/office/drawing/2014/main" id="{2A9F89F9-B24B-F840-A61B-B54BD8042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038" y="1903413"/>
            <a:ext cx="4367212" cy="613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76B24CCC-C7F5-234A-AC55-93E38013A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41525" y="369888"/>
            <a:ext cx="9377363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Estado do processo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6393BC9F-0ED3-F641-97CA-8A76CA2792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056938" cy="4338637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À medida que um processo é executado, ele muda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de estado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novo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 O processo está sendo criado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em execução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 as instruções estão sendo executadas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esperando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 O processo está esperando que algum evento ocorra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pronto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 o processo está aguardando para ser atribuído a um processador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terminado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 o processo concluiu a execução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71F51A71-CA93-9849-A489-92BABE7923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9663" y="369888"/>
            <a:ext cx="119205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Diagrama do Estado do Processo</a:t>
            </a:r>
          </a:p>
        </p:txBody>
      </p:sp>
      <p:pic>
        <p:nvPicPr>
          <p:cNvPr id="17410" name="Picture 9">
            <a:extLst>
              <a:ext uri="{FF2B5EF4-FFF2-40B4-BE49-F238E27FC236}">
                <a16:creationId xmlns:a16="http://schemas.microsoft.com/office/drawing/2014/main" id="{14F19039-70BF-A64C-9AD9-384DED68F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75" y="2751138"/>
            <a:ext cx="11325225" cy="401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1B6A0D33-89BF-5D4B-8BD3-02584B7A09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1013" y="369888"/>
            <a:ext cx="1127918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Bloco de Controle de Processo (PCB)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5BB9297D-E5D8-7E4E-9E9D-4F9D354D4F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6870700" cy="6362700"/>
          </a:xfrm>
        </p:spPr>
        <p:txBody>
          <a:bodyPr/>
          <a:lstStyle/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Informações associadas a cada processo</a:t>
            </a:r>
          </a:p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(também chamado de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bloco de controle de tarefas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Estado do processo – em execução, em espera, etc.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Contador de programa – localização da instrução a ser executada em seguida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Registradores da CPU – conteúdo de todos os registradores centrados no processo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Informações de agendamento da CPU - prioridades, ponteiros de fila de agendamento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Informações de gerenciamento de memória – memória alocada ao processo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Informações contábeis – CPU usada, tempo decorrido desde o início, limites de tempo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Informações de status de E/S – dispositivos de E/S alocados para processar, lista de arquivos abertos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  <p:pic>
        <p:nvPicPr>
          <p:cNvPr id="19459" name="Picture 9">
            <a:extLst>
              <a:ext uri="{FF2B5EF4-FFF2-40B4-BE49-F238E27FC236}">
                <a16:creationId xmlns:a16="http://schemas.microsoft.com/office/drawing/2014/main" id="{21B6E7C7-20B1-8344-9F6C-D9A4DBC54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1565275"/>
            <a:ext cx="4192588" cy="598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C452EFF9-F2DC-E54E-8088-56BFB18BF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0963" y="3698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Troca de CPU de processo para processo</a:t>
            </a:r>
          </a:p>
        </p:txBody>
      </p:sp>
      <p:pic>
        <p:nvPicPr>
          <p:cNvPr id="21506" name="Picture 9">
            <a:extLst>
              <a:ext uri="{FF2B5EF4-FFF2-40B4-BE49-F238E27FC236}">
                <a16:creationId xmlns:a16="http://schemas.microsoft.com/office/drawing/2014/main" id="{EF70E634-FDF4-9A42-8314-95946DE30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50" y="1830388"/>
            <a:ext cx="10453688" cy="624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2FFC9E12-3C25-1840-9E2F-119B97264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2100" y="369888"/>
            <a:ext cx="114681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Tópicos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381FEBDD-37E2-B241-AEE5-117FC61D5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2850" y="2000250"/>
            <a:ext cx="10463213" cy="531018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Até agora, o processo tem um único thread de execução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Considere ter vários contadores de programa por processo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Vários locais podem ser executados ao mesmo tempo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Vários threads de controle -&gt;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threads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Deve então ter armazenamento para detalhes de thread, vários contadores de programa no PCB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Veja o próximo capítulo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D9E7C529-AE3E-ED4D-A3FA-744106027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Representação de Processos no Linux</a:t>
            </a:r>
          </a:p>
        </p:txBody>
      </p:sp>
      <p:sp>
        <p:nvSpPr>
          <p:cNvPr id="25602" name="Content Placeholder 2">
            <a:extLst>
              <a:ext uri="{FF2B5EF4-FFF2-40B4-BE49-F238E27FC236}">
                <a16:creationId xmlns:a16="http://schemas.microsoft.com/office/drawing/2014/main" id="{B96D3C6A-B6E4-BF4C-831D-E3A7AC235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Representado pela estrutura C </a:t>
            </a: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task_struct </a:t>
            </a:r>
            <a:br xmlns:a="http://schemas.openxmlformats.org/drawingml/2006/main">
              <a:rPr lang="en-US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pid t pid; /* identificador do processo */ </a:t>
            </a:r>
            <a:br xmlns:a="http://schemas.openxmlformats.org/drawingml/2006/main">
              <a:rPr lang="en-US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long state; /* estado do processo */ </a:t>
            </a:r>
            <a:br xmlns:a="http://schemas.openxmlformats.org/drawingml/2006/main">
              <a:rPr lang="en-US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unsigned int time slice /* informações de agendamento */ </a:t>
            </a:r>
            <a:br xmlns:a="http://schemas.openxmlformats.org/drawingml/2006/main">
              <a:rPr lang="en-US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struct task struct *parent; /* pai deste processo </a:t>
            </a:r>
            <a:r xmlns:a="http://schemas.openxmlformats.org/drawingml/2006/main">
              <a:rPr lang="pt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* </a:t>
            </a:r>
            <a:r xmlns:a="http://schemas.openxmlformats.org/drawingml/2006/main">
              <a:rPr lang="pt" altLang="ja-JP">
                <a:latin typeface="Courier New" panose="02070309020205020404" pitchFamily="49" charset="0"/>
                <a:ea typeface="ＭＳ Ｐゴシック" panose="020B0600070205080204" pitchFamily="34" charset="-128"/>
              </a:rPr>
              <a:t>/ struct list head children; /* filhos </a:t>
            </a:r>
            <a:br xmlns:a="http://schemas.openxmlformats.org/drawingml/2006/main">
              <a:rPr lang="en-US" altLang="ja-JP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deste </a:t>
            </a:r>
            <a:r xmlns:a="http://schemas.openxmlformats.org/drawingml/2006/main">
              <a:rPr lang="pt" altLang="ja-JP">
                <a:latin typeface="Courier New" panose="02070309020205020404" pitchFamily="49" charset="0"/>
                <a:ea typeface="ＭＳ Ｐゴシック" panose="020B0600070205080204" pitchFamily="34" charset="-128"/>
              </a:rPr>
              <a:t>processo </a:t>
            </a:r>
            <a:r xmlns:a="http://schemas.openxmlformats.org/drawingml/2006/main">
              <a:rPr lang="pt" altLang="ja-JP">
                <a:latin typeface="Courier New" panose="02070309020205020404" pitchFamily="49" charset="0"/>
                <a:ea typeface="ＭＳ Ｐゴシック" panose="020B0600070205080204" pitchFamily="34" charset="-128"/>
              </a:rPr>
              <a:t>*/ </a:t>
            </a:r>
            <a:br xmlns:a="http://schemas.openxmlformats.org/drawingml/2006/main">
              <a:rPr lang="en-US" altLang="ja-JP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ja-JP">
                <a:latin typeface="Courier New" panose="02070309020205020404" pitchFamily="49" charset="0"/>
                <a:ea typeface="ＭＳ Ｐゴシック" panose="020B0600070205080204" pitchFamily="34" charset="-128"/>
              </a:rPr>
              <a:t>struct files struct *files; /* lista de arquivos abertos */ </a:t>
            </a:r>
            <a:br xmlns:a="http://schemas.openxmlformats.org/drawingml/2006/main">
              <a:rPr lang="en-US" altLang="ja-JP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ja-JP">
                <a:latin typeface="Courier New" panose="02070309020205020404" pitchFamily="49" charset="0"/>
                <a:ea typeface="ＭＳ Ｐゴシック" panose="020B0600070205080204" pitchFamily="34" charset="-128"/>
              </a:rPr>
              <a:t>struct mm struct *mm; /* espaço de endereço deste processo */</a:t>
            </a:r>
            <a:endParaRPr xmlns:a="http://schemas.openxmlformats.org/drawingml/2006/main" lang="en-US" altLang="pt-BR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</p:txBody>
      </p:sp>
      <p:pic>
        <p:nvPicPr>
          <p:cNvPr id="25603" name="Picture 3">
            <a:extLst>
              <a:ext uri="{FF2B5EF4-FFF2-40B4-BE49-F238E27FC236}">
                <a16:creationId xmlns:a16="http://schemas.microsoft.com/office/drawing/2014/main" id="{AE67F5C8-15D4-2343-A51C-03518AD4F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4360863"/>
            <a:ext cx="9150350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45987709-4D4A-4142-BE6A-2F7116240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2100" y="369888"/>
            <a:ext cx="114681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Agendamento de Processos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FFFA20BA-7BA7-6C4E-AFE1-406297E4C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2850" y="2000250"/>
            <a:ext cx="10463213" cy="531018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Maximize o uso da CPU, alterne rapidamente os processos para a CPU para compartilhamento de tempo</a:t>
            </a: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 agendador de processos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seleciona entre os processos disponíveis para a próxima execução na CPU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Mantém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filas de agendamento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processos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Fila de tarefas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conjunto de todos os processos no sistema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Fila de prontidão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conjunto de todos os processos que residem na memória principal, prontos e aguardando execução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Filas de dispositivos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conjunto de processos aguardando um dispositivo de E/S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processos migram entre as várias filas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B8426BE9-2583-CC4F-9BFB-1CBD0E032D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2088" y="609600"/>
            <a:ext cx="11976100" cy="6096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Fila de prontidão e várias </a:t>
            </a:r>
            <a:br xmlns:a="http://schemas.openxmlformats.org/drawingml/2006/main">
              <a:rPr lang="en-US" altLang="pt-BR" sz="40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filas de dispositivos de E/S</a:t>
            </a:r>
          </a:p>
        </p:txBody>
      </p:sp>
      <p:pic>
        <p:nvPicPr>
          <p:cNvPr id="28674" name="Picture 7">
            <a:extLst>
              <a:ext uri="{FF2B5EF4-FFF2-40B4-BE49-F238E27FC236}">
                <a16:creationId xmlns:a16="http://schemas.microsoft.com/office/drawing/2014/main" id="{E1BFE60A-BD8E-A04B-8796-C2A108201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713" y="1619250"/>
            <a:ext cx="8734425" cy="669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6D0B8F64-DCA2-A94D-B51C-F479F5F1DB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7325" y="3698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Representação do Escalonamento de Processos</a:t>
            </a:r>
          </a:p>
        </p:txBody>
      </p:sp>
      <p:pic>
        <p:nvPicPr>
          <p:cNvPr id="30722" name="Picture 4" descr="3">
            <a:extLst>
              <a:ext uri="{FF2B5EF4-FFF2-40B4-BE49-F238E27FC236}">
                <a16:creationId xmlns:a16="http://schemas.microsoft.com/office/drawing/2014/main" id="{1E812B50-CAE4-F14C-9E1A-E52BCEB68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2620963"/>
            <a:ext cx="10853737" cy="55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Rectangle 3">
            <a:extLst>
              <a:ext uri="{FF2B5EF4-FFF2-40B4-BE49-F238E27FC236}">
                <a16:creationId xmlns:a16="http://schemas.microsoft.com/office/drawing/2014/main" id="{9FD792D1-AEAC-CB48-8BA0-7ABE7DD64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2850" y="1736725"/>
            <a:ext cx="10463213" cy="531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88950" indent="-4889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 b="1">
                <a:solidFill>
                  <a:srgbClr val="3366FF"/>
                </a:solidFill>
                <a:latin typeface="Helvetica" pitchFamily="2" charset="0"/>
              </a:rPr>
              <a:t>O diagrama de filas </a:t>
            </a:r>
            <a:r xmlns:a="http://schemas.openxmlformats.org/drawingml/2006/main">
              <a:rPr kumimoji="1" lang="pt" altLang="pt-BR" sz="1800">
                <a:latin typeface="Helvetica" pitchFamily="2" charset="0"/>
              </a:rPr>
              <a:t>representa filas, recursos e fluxos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A302BEAB-D9AA-1E47-A18A-DDE93FA9FC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Agendadores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54A2211B-C988-3E49-8636-3405428EC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930400"/>
            <a:ext cx="10801350" cy="5799138"/>
          </a:xfrm>
        </p:spPr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Agendador de longo prazo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(ou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agendador de tarefas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– seleciona quais processos devem ser colocados na fila de espera</a:t>
            </a: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Agendador de curto prazo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(ou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agendador de CPU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– seleciona qual processo deve ser executado em seguida e aloca CPU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Às vezes, o único planejador em um sistema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agendador de curto prazo é invocado com muita frequência (milissegundos)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 (deve ser rápido)</a:t>
            </a:r>
          </a:p>
          <a:p>
            <a:endParaRPr lang="en-US" altLang="pt-BR" sz="1100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O agendador de longo prazo é invocado com pouca frequência (segundos, minutos)  (pode ser lento)</a:t>
            </a:r>
          </a:p>
          <a:p>
            <a:endParaRPr lang="en-US" altLang="pt-BR" sz="1100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O planejador de longo prazo controla 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grau de multiprogramação</a:t>
            </a:r>
          </a:p>
          <a:p>
            <a:endParaRPr lang="en-US" altLang="pt-BR" sz="1100" i="1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Os processos podem ser descritos como: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Processo vinculado a E/S</a:t>
            </a:r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– gasta mais tempo fazendo E/S do que cálculos, muitos picos curtos de CPU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Processo limitado pela CPU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– gasta mais tempo fazendo cálculos; poucas explosões muito longas da CPU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O planejador de longo prazo se esforça para obter uma boa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combinação de processos</a:t>
            </a:r>
            <a:endParaRPr xmlns:a="http://schemas.openxmlformats.org/drawingml/2006/main"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DAEC9E28-669B-934D-A6B7-7275958013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3825" y="3698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Adição de Agendamento de Médio Prazo</a:t>
            </a:r>
          </a:p>
        </p:txBody>
      </p:sp>
      <p:pic>
        <p:nvPicPr>
          <p:cNvPr id="34818" name="Picture 11">
            <a:extLst>
              <a:ext uri="{FF2B5EF4-FFF2-40B4-BE49-F238E27FC236}">
                <a16:creationId xmlns:a16="http://schemas.microsoft.com/office/drawing/2014/main" id="{BFA3E864-7878-5346-85DD-E79E7E4C6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897188"/>
            <a:ext cx="10991850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Rectangle 3">
            <a:extLst>
              <a:ext uri="{FF2B5EF4-FFF2-40B4-BE49-F238E27FC236}">
                <a16:creationId xmlns:a16="http://schemas.microsoft.com/office/drawing/2014/main" id="{5882B86D-1C52-CF46-B3A3-0B858331F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1930400"/>
            <a:ext cx="10801350" cy="579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88950" indent="-4889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1060450" indent="-4079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 b="1">
                <a:solidFill>
                  <a:srgbClr val="3366FF"/>
                </a:solidFill>
                <a:latin typeface="Helvetica" pitchFamily="2" charset="0"/>
              </a:rPr>
              <a:t>O agendador de médio prazo </a:t>
            </a:r>
            <a:r xmlns:a="http://schemas.openxmlformats.org/drawingml/2006/main">
              <a:rPr kumimoji="1" lang="pt" altLang="pt-BR" sz="1800">
                <a:latin typeface="Helvetica" pitchFamily="2" charset="0"/>
              </a:rPr>
              <a:t>pode ser adicionado se o grau de programação múltipla precisar diminuir</a:t>
            </a:r>
          </a:p>
          <a:p>
            <a:pPr xmlns:a="http://schemas.openxmlformats.org/drawingml/2006/main"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Remover processo da memória, armazenar no disco e trazer de volta do disco para continuar a execução: </a:t>
            </a:r>
            <a:r xmlns:a="http://schemas.openxmlformats.org/drawingml/2006/main">
              <a:rPr kumimoji="1" lang="pt" altLang="pt-BR" sz="1800" b="1">
                <a:solidFill>
                  <a:srgbClr val="3366FF"/>
                </a:solidFill>
                <a:latin typeface="Helvetica" pitchFamily="2" charset="0"/>
              </a:rPr>
              <a:t>swapping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pt-BR" sz="1800"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pt-BR" sz="180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E8F1870E-64A1-2548-9A87-744F59418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Multitarefa em Sistemas Móveis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936B32D4-7CFC-7C4E-ABEE-6B97E82C65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20450" cy="593090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Alguns sistemas / sistemas antigos permitem que apenas um processo seja executado, outros são suspensos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Devido ao espaço da tela, os limites da interface do usuário do iOS fornecem um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de primeiro plano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único - controlado pela interface do usuário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Vários processos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em segundo plano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na memória, em execução, mas não na tela e com limites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limites incluem tarefas únicas e curtas, recebimento de notificações de eventos e tarefas específicas de longa duração, como reprodução de áudio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Android roda em primeiro e segundo plano, com menos limites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processo em segundo plano usa um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serviço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executar tarefas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serviço pode continuar em execução mesmo se o processo em segundo plano for suspenso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serviço não tem interface de usuário e consome pouca memória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E5C2F9A2-3103-5E46-945F-07862FBAF6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Troca de contexto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BD2852B8-D725-1B47-BE10-45BABBA7ED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20450" cy="593090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a CPU muda para outro processo, o sistema deve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salvar o estado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do processo antigo e carregar 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estado salvo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o novo processo por meio de uma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troca de contexto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Contexto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um processo representado no PCB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tempo de troca de contexto é uma sobrecarga; o sistema não realiza nenhum trabalho útil durante a troca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Quanto mais complexo o sistema operacional e o PCB -&gt; maior a troca de contexto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dependente do suporte de hardware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Alguns hardwares fornecem vários conjuntos de registradores por CPU -&gt; vários contextos carregados de uma vez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FD189BCD-3516-EA4F-BB3B-ACB315B14E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Operações em Processos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627D6510-4A91-7149-9B58-DED87D3941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20450" cy="593090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sistema deve fornecer mecanismos para criação, término de processos e assim por diante, conforme detalhado a seguir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A3139CAF-9529-3340-9447-BC34C2749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Criação de Processos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A12205A7-5552-8344-AB45-4F9E7C16B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10950" cy="6769100"/>
          </a:xfrm>
        </p:spPr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Pais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processo cria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filhos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processos, que por sua vez criam outros processos, formando uma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árvore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processos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Geralmente, o processo é identificado e gerenciado por meio de um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identificador de processo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pid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Opções de compartilhamento de recursos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Pais e filhos compartilham todos os recursos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crianças compartilham um subconjunto dos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recursos dos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pais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Pais e filhos não compartilham recursos</a:t>
            </a:r>
          </a:p>
          <a:p>
            <a:pPr lvl="1"/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Opções de execução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Pais e filhos executam simultaneamente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Pais esperam até que os filhos terminem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34BDDB45-C8AF-0848-9138-6F4143FA11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5275" y="3698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Uma Árvore de Processos no Linux</a:t>
            </a:r>
          </a:p>
        </p:txBody>
      </p:sp>
      <p:pic>
        <p:nvPicPr>
          <p:cNvPr id="45058" name="Picture 1" descr="3_08.pdf">
            <a:extLst>
              <a:ext uri="{FF2B5EF4-FFF2-40B4-BE49-F238E27FC236}">
                <a16:creationId xmlns:a16="http://schemas.microsoft.com/office/drawing/2014/main" id="{E83FF611-0C7C-F644-93BB-427D5BCEAA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688" y="1995488"/>
            <a:ext cx="11033125" cy="519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C6C951B7-F03E-274E-9CD1-44B4BD8CE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4963" y="369888"/>
            <a:ext cx="114252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Criação de Processos (Cont.)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D5D71F81-BE96-D44C-AFB0-6EAF4683F6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Espaço de endereço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Duplicata infantil do pai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criança tem um programa carregado nela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Exemplos de UNIX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garfo()</a:t>
            </a:r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chamada de sistema cria novo processo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exec()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usada após um </a:t>
            </a:r>
            <a:r xmlns:a="http://schemas.openxmlformats.org/drawingml/2006/main">
              <a:rPr lang="pt" altLang="pt-BR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fork()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substituir o espaço de memória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do processo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por um novo programa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</p:txBody>
      </p:sp>
      <p:pic>
        <p:nvPicPr>
          <p:cNvPr id="47107" name="Picture 4" descr="3">
            <a:extLst>
              <a:ext uri="{FF2B5EF4-FFF2-40B4-BE49-F238E27FC236}">
                <a16:creationId xmlns:a16="http://schemas.microsoft.com/office/drawing/2014/main" id="{B3B87387-094B-4C43-98AA-AAFFFF252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088" y="4906963"/>
            <a:ext cx="11680825" cy="261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2B138FE9-1C5E-6249-B5CC-7C16A7DE44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8738" y="3698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Processo separado de bifurcação de programa em C</a:t>
            </a:r>
          </a:p>
        </p:txBody>
      </p:sp>
      <p:pic>
        <p:nvPicPr>
          <p:cNvPr id="49154" name="Picture 5" descr="Screen Shot 2012-12-04 at 11.21.10 AM.png">
            <a:extLst>
              <a:ext uri="{FF2B5EF4-FFF2-40B4-BE49-F238E27FC236}">
                <a16:creationId xmlns:a16="http://schemas.microsoft.com/office/drawing/2014/main" id="{60AE4774-E618-8543-8771-89736F1CC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913" y="1292225"/>
            <a:ext cx="9058275" cy="747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6A61F3D0-35AC-5D4C-9C9A-05418DFA26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8738" y="3698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Criando um processo separado via API do Windows</a:t>
            </a:r>
          </a:p>
        </p:txBody>
      </p:sp>
      <p:pic>
        <p:nvPicPr>
          <p:cNvPr id="51202" name="Picture 1" descr="Screen Shot 2012-12-04 at 11.23.48 AM.png">
            <a:extLst>
              <a:ext uri="{FF2B5EF4-FFF2-40B4-BE49-F238E27FC236}">
                <a16:creationId xmlns:a16="http://schemas.microsoft.com/office/drawing/2014/main" id="{37402320-C101-B94C-B811-58BCE7F0C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150" y="1284288"/>
            <a:ext cx="6546850" cy="738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E40BD0E2-168A-924A-9B87-A93A38A3D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Término do Processo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E94B0BC-D0A0-234A-B3C3-D04D5C3B9C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395075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processo executa a última instrução e pede ao sistema operacional para excluí-la ( </a:t>
            </a:r>
            <a:r xmlns:a="http://schemas.openxmlformats.org/drawingml/2006/main">
              <a:rPr lang="pt" altLang="pt-BR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exit()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Dados de saída do filho para o pai (via </a:t>
            </a:r>
            <a:r xmlns:a="http://schemas.openxmlformats.org/drawingml/2006/main">
              <a:rPr lang="pt" altLang="pt-BR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wait()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xmlns:a="http://schemas.openxmlformats.org/drawingml/2006/main" lvl="1"/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do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processo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são desalocados pelo sistema operacional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pai pode encerrar a execução dos processos filhos ( </a:t>
            </a:r>
            <a:r xmlns:a="http://schemas.openxmlformats.org/drawingml/2006/main">
              <a:rPr lang="pt" altLang="pt-BR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abort()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criança excedeu os recursos alocados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tarefa atribuída à criança não é mais necessária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o pai estiver saindo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Alguns sistemas operacionais não permitem que a criança continue se o pai encerrar</a:t>
            </a:r>
          </a:p>
          <a:p>
            <a:pPr xmlns:a="http://schemas.openxmlformats.org/drawingml/2006/main" lvl="3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Todas as crianças são eliminadas -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eliminação em cascata</a:t>
            </a:r>
          </a:p>
          <a:p>
            <a:pPr lvl="3"/>
            <a:endParaRPr lang="en-US" altLang="pt-BR" b="1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Aguarde o término, retornando o pid:</a:t>
            </a:r>
          </a:p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pid t pid; int status;</a:t>
            </a:r>
          </a:p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solidFill>
                  <a:srgbClr val="00000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pid = esperar(&amp;status);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nenhum pai estiver esperando, o processo encerrado é um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zumbi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o pai for encerrado, os processos ficarão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órfãos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FB89BE86-673A-D649-9509-4D7F90F96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788" y="369888"/>
            <a:ext cx="11555412" cy="768350"/>
          </a:xfrm>
        </p:spPr>
        <p:txBody>
          <a:bodyPr/>
          <a:lstStyle/>
          <a:p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Arquitetura Multiprocesso – Navegador Chrome</a:t>
            </a:r>
          </a:p>
        </p:txBody>
      </p:sp>
      <p:sp>
        <p:nvSpPr>
          <p:cNvPr id="55298" name="Content Placeholder 2">
            <a:extLst>
              <a:ext uri="{FF2B5EF4-FFF2-40B4-BE49-F238E27FC236}">
                <a16:creationId xmlns:a16="http://schemas.microsoft.com/office/drawing/2014/main" id="{E0B681F0-EEB8-8145-8A1B-6E5A4748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268075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Muitos navegadores da web eram executados como um único processo (alguns ainda o fazem)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um site causar problemas, o navegador inteiro pode travar ou travar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navegador Google Chrome é multiprocesso com 3 categorias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do navegador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gerencia a interface do usuário, o disco e a E/S da rede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de renderização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renderiza páginas da web, lida com HTML, Javascript, uma nova para cada site aberto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Executa em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sandbox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restringindo E/S de disco e rede, minimizando o efeito de explorações de segurança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de plug-in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cada tipo de plug-in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</p:txBody>
      </p:sp>
      <p:pic>
        <p:nvPicPr>
          <p:cNvPr id="55299" name="Picture 1" descr="in-3_2.pdf">
            <a:extLst>
              <a:ext uri="{FF2B5EF4-FFF2-40B4-BE49-F238E27FC236}">
                <a16:creationId xmlns:a16="http://schemas.microsoft.com/office/drawing/2014/main" id="{DB910F78-7C39-CA41-A5D3-338D5DEEB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863" y="5780088"/>
            <a:ext cx="11730037" cy="189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1C8D4965-AB9E-E84C-A937-893C0566F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788" y="369888"/>
            <a:ext cx="11555412" cy="7683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Comunicação entre processos</a:t>
            </a:r>
          </a:p>
        </p:txBody>
      </p:sp>
      <p:sp>
        <p:nvSpPr>
          <p:cNvPr id="57346" name="Content Placeholder 2">
            <a:extLst>
              <a:ext uri="{FF2B5EF4-FFF2-40B4-BE49-F238E27FC236}">
                <a16:creationId xmlns:a16="http://schemas.microsoft.com/office/drawing/2014/main" id="{43C54ADE-FBB5-1C46-ADB0-B1783D709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268075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processos dentro de um sistema podem ser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independentes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cooperando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processo de cooperação pode afetar ou ser afetado por outros processos, incluindo o compartilhamento de dados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Razões para processos cooperativos: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Compartilhamento de informações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Aceleração da computação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Modularidade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Conveniência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processos cooperativos necessitam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de comunicação entre processos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IPC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Dois modelos de IPC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Memória compartilhada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Passagem de mensagens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FB1D2C2C-F423-F142-A03D-B40270D38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Modelos de Comunicação</a:t>
            </a:r>
          </a:p>
        </p:txBody>
      </p:sp>
      <p:pic>
        <p:nvPicPr>
          <p:cNvPr id="59394" name="Picture 1" descr="3_12.pdf">
            <a:extLst>
              <a:ext uri="{FF2B5EF4-FFF2-40B4-BE49-F238E27FC236}">
                <a16:creationId xmlns:a16="http://schemas.microsoft.com/office/drawing/2014/main" id="{492627D2-D715-5B49-9362-2F2A1A4FA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138" y="1927225"/>
            <a:ext cx="9653587" cy="608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09D0D574-C20D-5B48-AC34-ECB6F420B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90675" y="369888"/>
            <a:ext cx="114395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Processos Cooperativos</a:t>
            </a:r>
          </a:p>
        </p:txBody>
      </p:sp>
      <p:sp>
        <p:nvSpPr>
          <p:cNvPr id="61442" name="Rectangle 3">
            <a:extLst>
              <a:ext uri="{FF2B5EF4-FFF2-40B4-BE49-F238E27FC236}">
                <a16:creationId xmlns:a16="http://schemas.microsoft.com/office/drawing/2014/main" id="{6045B742-EB54-1243-A25C-0B4CF110A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95063" cy="6040438"/>
          </a:xfrm>
        </p:spPr>
        <p:txBody>
          <a:bodyPr/>
          <a:lstStyle/>
          <a:p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independente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não pode afetar ou ser afetado pela execução de outro processo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 i="1">
                <a:solidFill>
                  <a:srgbClr val="000000"/>
                </a:solidFill>
                <a:ea typeface="ＭＳ Ｐゴシック" panose="020B0600070205080204" pitchFamily="34" charset="-128"/>
              </a:rPr>
              <a:t>cooperativo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afetar ou ser afetado pela execução de outro processo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Vantagens da cooperação de processos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Compartilhamento de informações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Aceleração da computação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Modularidade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Conveniência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>
            <a:extLst>
              <a:ext uri="{FF2B5EF4-FFF2-40B4-BE49-F238E27FC236}">
                <a16:creationId xmlns:a16="http://schemas.microsoft.com/office/drawing/2014/main" id="{1EA5DF40-CACB-D64D-B14E-54AFA82170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3950" y="369888"/>
            <a:ext cx="119062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Problema Produtor-Consumidor</a:t>
            </a:r>
          </a:p>
        </p:txBody>
      </p:sp>
      <p:sp>
        <p:nvSpPr>
          <p:cNvPr id="63490" name="Rectangle 3">
            <a:extLst>
              <a:ext uri="{FF2B5EF4-FFF2-40B4-BE49-F238E27FC236}">
                <a16:creationId xmlns:a16="http://schemas.microsoft.com/office/drawing/2014/main" id="{3BE0D3D3-A905-8842-A765-350F759A5B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881188"/>
            <a:ext cx="10002838" cy="599757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Paradigma para processos cooperativos, o processo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produtor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produz informações que são consumidas por um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consumidor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unbounded-buffer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não impõe nenhum limite prático ao tamanho do buffer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bounded-buffer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assume que há um tamanho de buffer fixo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>
            <a:extLst>
              <a:ext uri="{FF2B5EF4-FFF2-40B4-BE49-F238E27FC236}">
                <a16:creationId xmlns:a16="http://schemas.microsoft.com/office/drawing/2014/main" id="{21FBACDA-C11F-B542-8F84-A4AE839A8A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6350" y="560388"/>
            <a:ext cx="12111038" cy="6096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Solução de memória compartilhada com buffer limitado</a:t>
            </a:r>
          </a:p>
        </p:txBody>
      </p:sp>
      <p:sp>
        <p:nvSpPr>
          <p:cNvPr id="65538" name="Rectangle 3">
            <a:extLst>
              <a:ext uri="{FF2B5EF4-FFF2-40B4-BE49-F238E27FC236}">
                <a16:creationId xmlns:a16="http://schemas.microsoft.com/office/drawing/2014/main" id="{C877199B-4E27-8E46-A537-F08D1A9EF6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75" y="2024063"/>
            <a:ext cx="10696575" cy="62674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Dados compartilhados</a:t>
            </a:r>
          </a:p>
          <a:p>
            <a:pPr xmlns:a="http://schemas.openxmlformats.org/drawingml/2006/main" marL="2284413" lvl="3">
              <a:buFontTx/>
              <a:buNone/>
            </a:pPr>
            <a:r xmlns:a="http://schemas.openxmlformats.org/drawingml/2006/main">
              <a:rPr lang="pt" altLang="pt-BR" sz="2900">
                <a:latin typeface="Courier New" panose="02070309020205020404" pitchFamily="49" charset="0"/>
                <a:ea typeface="ＭＳ Ｐゴシック" panose="020B0600070205080204" pitchFamily="34" charset="-128"/>
              </a:rPr>
              <a:t>#define BUFFER_SIZE 10</a:t>
            </a:r>
          </a:p>
          <a:p>
            <a:pPr xmlns:a="http://schemas.openxmlformats.org/drawingml/2006/main" marL="2284413" lvl="3">
              <a:buFontTx/>
              <a:buNone/>
            </a:pPr>
            <a:r xmlns:a="http://schemas.openxmlformats.org/drawingml/2006/main">
              <a:rPr lang="pt" altLang="pt-BR" sz="2900">
                <a:latin typeface="Courier New" panose="02070309020205020404" pitchFamily="49" charset="0"/>
                <a:ea typeface="ＭＳ Ｐゴシック" panose="020B0600070205080204" pitchFamily="34" charset="-128"/>
              </a:rPr>
              <a:t>typedef struct {</a:t>
            </a:r>
          </a:p>
          <a:p>
            <a:pPr xmlns:a="http://schemas.openxmlformats.org/drawingml/2006/main" marL="2284413" lvl="3">
              <a:buFontTx/>
              <a:buNone/>
            </a:pPr>
            <a:r xmlns:a="http://schemas.openxmlformats.org/drawingml/2006/main">
              <a:rPr lang="pt" altLang="pt-BR" sz="2900">
                <a:latin typeface="Courier New" panose="02070309020205020404" pitchFamily="49" charset="0"/>
                <a:ea typeface="ＭＳ Ｐゴシック" panose="020B0600070205080204" pitchFamily="34" charset="-128"/>
              </a:rPr>
              <a:t>. . .</a:t>
            </a:r>
          </a:p>
          <a:p>
            <a:pPr xmlns:a="http://schemas.openxmlformats.org/drawingml/2006/main" marL="2284413" lvl="3">
              <a:buFontTx/>
              <a:buNone/>
            </a:pPr>
            <a:r xmlns:a="http://schemas.openxmlformats.org/drawingml/2006/main">
              <a:rPr lang="pt" altLang="pt-BR" sz="2900">
                <a:latin typeface="Courier New" panose="02070309020205020404" pitchFamily="49" charset="0"/>
                <a:ea typeface="ＭＳ Ｐゴシック" panose="020B0600070205080204" pitchFamily="34" charset="-128"/>
              </a:rPr>
              <a:t>} item;</a:t>
            </a:r>
          </a:p>
          <a:p>
            <a:pPr marL="2284413" lvl="3">
              <a:buFontTx/>
              <a:buNone/>
            </a:pPr>
            <a:endParaRPr lang="en-US" altLang="pt-BR" sz="110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xmlns:a="http://schemas.openxmlformats.org/drawingml/2006/main" marL="2284413" lvl="3">
              <a:buFontTx/>
              <a:buNone/>
            </a:pPr>
            <a:r xmlns:a="http://schemas.openxmlformats.org/drawingml/2006/main">
              <a:rPr lang="pt" altLang="pt-BR" sz="2900">
                <a:latin typeface="Courier New" panose="02070309020205020404" pitchFamily="49" charset="0"/>
                <a:ea typeface="ＭＳ Ｐゴシック" panose="020B0600070205080204" pitchFamily="34" charset="-128"/>
              </a:rPr>
              <a:t>buffer de item[TAMANHO_DO_BUFFER];</a:t>
            </a:r>
          </a:p>
          <a:p>
            <a:pPr xmlns:a="http://schemas.openxmlformats.org/drawingml/2006/main" marL="2284413" lvl="3">
              <a:buFontTx/>
              <a:buNone/>
            </a:pPr>
            <a:r xmlns:a="http://schemas.openxmlformats.org/drawingml/2006/main">
              <a:rPr lang="pt" altLang="pt-BR" sz="2900">
                <a:latin typeface="Courier New" panose="02070309020205020404" pitchFamily="49" charset="0"/>
                <a:ea typeface="ＭＳ Ｐゴシック" panose="020B0600070205080204" pitchFamily="34" charset="-128"/>
              </a:rPr>
              <a:t>int em = 0;</a:t>
            </a:r>
          </a:p>
          <a:p>
            <a:pPr xmlns:a="http://schemas.openxmlformats.org/drawingml/2006/main" marL="2284413" lvl="3">
              <a:buFontTx/>
              <a:buNone/>
            </a:pPr>
            <a:r xmlns:a="http://schemas.openxmlformats.org/drawingml/2006/main">
              <a:rPr lang="pt" altLang="pt-BR" sz="2900">
                <a:latin typeface="Courier New" panose="02070309020205020404" pitchFamily="49" charset="0"/>
                <a:ea typeface="ＭＳ Ｐゴシック" panose="020B0600070205080204" pitchFamily="34" charset="-128"/>
              </a:rPr>
              <a:t>int saída = 0;</a:t>
            </a:r>
          </a:p>
          <a:p>
            <a:pPr marL="2284413" lvl="3">
              <a:buFontTx/>
              <a:buNone/>
            </a:pPr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solução está correta, mas só pode usar elementos BUFFER_SIZE-1</a:t>
            </a:r>
          </a:p>
          <a:p>
            <a:pPr marL="2284413" lvl="3">
              <a:buFontTx/>
              <a:buNone/>
            </a:pPr>
            <a:endParaRPr lang="en-US" altLang="pt-BR" sz="2900" b="1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4A331D44-4BE1-8A40-960E-7DF410577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369888"/>
            <a:ext cx="113538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Buffer Limitado – Produtor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7B8AC81-F1FF-4245-818A-02883241A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60613" y="1773238"/>
            <a:ext cx="11026775" cy="5976937"/>
          </a:xfrm>
        </p:spPr>
        <p:txBody>
          <a:bodyPr/>
          <a:lstStyle/>
          <a:p>
            <a:pPr>
              <a:buFont typeface="Monotype Sorts" charset="0"/>
              <a:buNone/>
              <a:defRPr/>
            </a:pPr>
            <a:endParaRPr lang="en-US" sz="2800" dirty="0">
              <a:latin typeface="Monaco" charset="0"/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 marL="0" indent="0">
              <a:buFont typeface="Monotype Sorts" charset="0"/>
              <a:buNone/>
              <a:defRPr/>
            </a:pPr>
            <a:r xmlns:a="http://schemas.openxmlformats.org/drawingml/2006/main">
              <a:rPr lang="pt" sz="2800" dirty="0">
                <a:latin typeface="Courier New"/>
                <a:cs typeface="Courier New"/>
              </a:rPr>
              <a:t>próximo item produzido;</a:t>
            </a:r>
          </a:p>
          <a:p>
            <a:pPr xmlns:a="http://schemas.openxmlformats.org/drawingml/2006/main" marL="0" indent="0">
              <a:buFont typeface="Monotype Sorts" charset="0"/>
              <a:buNone/>
              <a:defRPr/>
            </a:pPr>
            <a:r xmlns:a="http://schemas.openxmlformats.org/drawingml/2006/main">
              <a:rPr lang="pt" sz="2800" dirty="0">
                <a:latin typeface="Courier New"/>
                <a:cs typeface="Courier New"/>
              </a:rPr>
              <a:t>enquanto (verdadeiro) {</a:t>
            </a:r>
          </a:p>
          <a:p>
            <a:pPr xmlns:a="http://schemas.openxmlformats.org/drawingml/2006/main" marL="0" indent="0">
              <a:buFont typeface="Monotype Sorts" charset="0"/>
              <a:buNone/>
              <a:defRPr/>
            </a:pPr>
            <a:r xmlns:a="http://schemas.openxmlformats.org/drawingml/2006/main">
              <a:rPr lang="pt" sz="2800" dirty="0">
                <a:latin typeface="Courier New"/>
                <a:cs typeface="Courier New"/>
              </a:rPr>
              <a:t>/* produzir um item no próximo produzido */</a:t>
            </a:r>
          </a:p>
          <a:p>
            <a:pPr xmlns:a="http://schemas.openxmlformats.org/drawingml/2006/main" marL="0" indent="0">
              <a:buFont typeface="Monotype Sorts" charset="0"/>
              <a:buNone/>
              <a:defRPr/>
            </a:pPr>
            <a:r xmlns:a="http://schemas.openxmlformats.org/drawingml/2006/main">
              <a:rPr lang="pt" sz="2800" dirty="0">
                <a:latin typeface="Courier New"/>
                <a:cs typeface="Courier New"/>
              </a:rPr>
              <a:t>enquanto (((entrada + 1) % TAMANHO DO BUFFER) == saída)</a:t>
            </a:r>
          </a:p>
          <a:p>
            <a:pPr xmlns:a="http://schemas.openxmlformats.org/drawingml/2006/main" marL="0" indent="0">
              <a:buFont typeface="Monotype Sorts" charset="0"/>
              <a:buNone/>
              <a:defRPr/>
            </a:pPr>
            <a:r xmlns:a="http://schemas.openxmlformats.org/drawingml/2006/main">
              <a:rPr lang="pt" sz="2800" dirty="0">
                <a:latin typeface="Courier New"/>
                <a:cs typeface="Courier New"/>
              </a:rPr>
              <a:t>; /* não fazer nada */</a:t>
            </a:r>
          </a:p>
          <a:p>
            <a:pPr xmlns:a="http://schemas.openxmlformats.org/drawingml/2006/main" marL="0" indent="0">
              <a:buFont typeface="Monotype Sorts" charset="0"/>
              <a:buNone/>
              <a:defRPr/>
            </a:pPr>
            <a:r xmlns:a="http://schemas.openxmlformats.org/drawingml/2006/main">
              <a:rPr lang="pt" sz="2800" dirty="0">
                <a:latin typeface="Courier New"/>
                <a:cs typeface="Courier New"/>
              </a:rPr>
              <a:t>buffer[in] = próximo produzido;</a:t>
            </a:r>
          </a:p>
          <a:p>
            <a:pPr xmlns:a="http://schemas.openxmlformats.org/drawingml/2006/main" marL="0" indent="0">
              <a:buFont typeface="Monotype Sorts" charset="0"/>
              <a:buNone/>
              <a:defRPr/>
            </a:pPr>
            <a:r xmlns:a="http://schemas.openxmlformats.org/drawingml/2006/main">
              <a:rPr lang="pt" sz="2800" dirty="0">
                <a:latin typeface="Courier New"/>
                <a:cs typeface="Courier New"/>
              </a:rPr>
              <a:t>em = (em + 1) % TAMANHO DO BUFFER;</a:t>
            </a:r>
          </a:p>
          <a:p>
            <a:pPr xmlns:a="http://schemas.openxmlformats.org/drawingml/2006/main" marL="0" indent="0">
              <a:buFont typeface="Monotype Sorts" charset="0"/>
              <a:buNone/>
              <a:defRPr/>
            </a:pPr>
            <a:r xmlns:a="http://schemas.openxmlformats.org/drawingml/2006/main">
              <a:rPr lang="pt" sz="2800" dirty="0">
                <a:latin typeface="Courier New"/>
                <a:cs typeface="Courier New"/>
              </a:rPr>
              <a:t>}</a:t>
            </a:r>
          </a:p>
          <a:p>
            <a:pPr>
              <a:buFont typeface="Monotype Sorts" charset="0"/>
              <a:buNone/>
              <a:defRPr/>
            </a:pPr>
            <a:endParaRPr lang="en-US" sz="2800" dirty="0">
              <a:latin typeface="Monaco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  <a:defRPr/>
            </a:pPr>
            <a:endParaRPr lang="en-US" sz="2800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>
              <a:buFont typeface="Monotype Sorts" charset="0"/>
              <a:buNone/>
              <a:defRPr/>
            </a:pPr>
            <a:r xmlns:a="http://schemas.openxmlformats.org/drawingml/2006/main">
              <a:rPr lang="pt" sz="2000" dirty="0">
                <a:ea typeface="ＭＳ Ｐゴシック" charset="0"/>
                <a:cs typeface="ＭＳ Ｐゴシック" charset="0"/>
              </a:rPr>
              <a:t> </a:t>
            </a:r>
          </a:p>
          <a:p>
            <a:pPr marL="10240963" lvl="4">
              <a:buFontTx/>
              <a:buNone/>
              <a:defRPr/>
            </a:pPr>
            <a:endParaRPr lang="en-US" sz="1600" dirty="0"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9AA1AB5C-716C-DE48-96A8-7D79A2C42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Buffer Limitado – Consumidor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73E8DB5A-0C4F-7C4D-BC17-CAB7DCB865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6650" y="2065338"/>
            <a:ext cx="11309350" cy="5881687"/>
          </a:xfrm>
        </p:spPr>
        <p:txBody>
          <a:bodyPr/>
          <a:lstStyle/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800">
                <a:latin typeface="Courier New" panose="02070309020205020404" pitchFamily="49" charset="0"/>
                <a:ea typeface="ＭＳ Ｐゴシック" panose="020B0600070205080204" pitchFamily="34" charset="-128"/>
              </a:rPr>
              <a:t>próximo item consumido;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800">
                <a:latin typeface="Courier New" panose="02070309020205020404" pitchFamily="49" charset="0"/>
                <a:ea typeface="ＭＳ Ｐゴシック" panose="020B0600070205080204" pitchFamily="34" charset="-128"/>
              </a:rPr>
              <a:t>enquanto (verdadeiro) { </a:t>
            </a:r>
            <a:br xmlns:a="http://schemas.openxmlformats.org/drawingml/2006/main">
              <a:rPr lang="en-US" altLang="pt-BR" sz="2800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2800">
                <a:latin typeface="Courier New" panose="02070309020205020404" pitchFamily="49" charset="0"/>
                <a:ea typeface="ＭＳ Ｐゴシック" panose="020B0600070205080204" pitchFamily="34" charset="-128"/>
              </a:rPr>
              <a:t>enquanto (dentro == fora)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800">
                <a:latin typeface="Courier New" panose="02070309020205020404" pitchFamily="49" charset="0"/>
                <a:ea typeface="ＭＳ Ｐゴシック" panose="020B0600070205080204" pitchFamily="34" charset="-128"/>
              </a:rPr>
              <a:t>; /* não fazer nada */ </a:t>
            </a:r>
            <a:br xmlns:a="http://schemas.openxmlformats.org/drawingml/2006/main">
              <a:rPr lang="en-US" altLang="pt-BR" sz="2800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2800">
                <a:latin typeface="Courier New" panose="02070309020205020404" pitchFamily="49" charset="0"/>
                <a:ea typeface="ＭＳ Ｐゴシック" panose="020B0600070205080204" pitchFamily="34" charset="-128"/>
              </a:rPr>
              <a:t>próximo consumido = buffer[out];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800">
                <a:latin typeface="Courier New" panose="02070309020205020404" pitchFamily="49" charset="0"/>
                <a:ea typeface="ＭＳ Ｐゴシック" panose="020B0600070205080204" pitchFamily="34" charset="-128"/>
              </a:rPr>
              <a:t>out = (out + 1) % TAMANHO DO BUFFER;</a:t>
            </a:r>
            <a:br xmlns:a="http://schemas.openxmlformats.org/drawingml/2006/main">
              <a:rPr lang="en-US" altLang="pt-BR" sz="2800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 sz="280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800">
                <a:latin typeface="Courier New" panose="02070309020205020404" pitchFamily="49" charset="0"/>
                <a:ea typeface="ＭＳ Ｐゴシック" panose="020B0600070205080204" pitchFamily="34" charset="-128"/>
              </a:rPr>
              <a:t>/* consumir o item no próximo consumo */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2800">
                <a:latin typeface="Courier New" panose="02070309020205020404" pitchFamily="49" charset="0"/>
                <a:ea typeface="ＭＳ Ｐゴシック" panose="020B0600070205080204" pitchFamily="34" charset="-128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F1484DE7-D812-374F-9498-09A6AA065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2338" y="3952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3600">
                <a:ea typeface="ＭＳ Ｐゴシック" panose="020B0600070205080204" pitchFamily="34" charset="-128"/>
              </a:rPr>
              <a:t>Comunicação entre processos – Passagem de mensagens</a:t>
            </a:r>
          </a:p>
        </p:txBody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138C4E6C-D2DF-A441-8B75-7E7824AF9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42713" cy="6040438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Mecanismo para que os processos se comuniquem e sincronizem suas ações</a:t>
            </a:r>
          </a:p>
          <a:p>
            <a:pPr>
              <a:lnSpc>
                <a:spcPct val="90000"/>
              </a:lnSpc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Sistema de mensagens – os processos se comunicam entre si sem recorrer a variáveis compartilhadas</a:t>
            </a:r>
          </a:p>
          <a:p>
            <a:pPr>
              <a:lnSpc>
                <a:spcPct val="90000"/>
              </a:lnSpc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instalação do IPC oferece duas operações: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enviar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mensagem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– tamanho da mensagem fixo ou variável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receber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mensagem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lvl="1">
              <a:lnSpc>
                <a:spcPct val="90000"/>
              </a:lnSpc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Q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desejam se comunicar, eles precisam: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estabelecer uma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comunicação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link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entre eles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trocar mensagens via envio/recebimento</a:t>
            </a:r>
          </a:p>
          <a:p>
            <a:pPr lvl="1">
              <a:lnSpc>
                <a:spcPct val="90000"/>
              </a:lnSpc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Implementação de link de comunicação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físico (por exemplo, memória compartilhada, barramento de hardware)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lógico (por exemplo, direto ou indireto, síncrono ou assíncrono, buffer automático ou explícito)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538FC452-BA24-3D49-BBEB-55260B8289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4963" y="369888"/>
            <a:ext cx="114252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Perguntas de implementação</a:t>
            </a:r>
          </a:p>
        </p:txBody>
      </p:sp>
      <p:sp>
        <p:nvSpPr>
          <p:cNvPr id="73730" name="Rectangle 3">
            <a:extLst>
              <a:ext uri="{FF2B5EF4-FFF2-40B4-BE49-F238E27FC236}">
                <a16:creationId xmlns:a16="http://schemas.microsoft.com/office/drawing/2014/main" id="{F1193E40-74DF-0248-BBB0-3CD2BCDB9B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99850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Como os links são estabelecidos?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link pode ser associado a mais de dois processos?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Quantos links pode haver entre cada par de processos de comunicação?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Qual é a capacidade de um link?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tamanho da mensagem que o link pode acomodar é fixo ou variável?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link é unidirecional ou bidirecional?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2A1341A5-72F1-1F47-99DA-DEF797C9C2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Comunicação Direta</a:t>
            </a:r>
          </a:p>
        </p:txBody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30C53979-246A-1D4E-9F48-E620FDA31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53813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processos devem nomear uns aos outros explicitamente: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enviar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P, mensagem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– enviar uma mensagem para o processo P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receber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Q, mensagem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– receber uma mensagem do processo Q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Propriedades do link de comunicação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links são estabelecidos automaticamente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link está associado a exatamente um par de processos de comunicação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Entre cada par existe exatamente um elo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link pode ser unidirecional, mas geralmente é bidirecional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ABE6069D-5ED9-F745-B8CF-F41BE0BBF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Comunicação Indireta</a:t>
            </a:r>
          </a:p>
        </p:txBody>
      </p:sp>
      <p:sp>
        <p:nvSpPr>
          <p:cNvPr id="77826" name="Rectangle 3">
            <a:extLst>
              <a:ext uri="{FF2B5EF4-FFF2-40B4-BE49-F238E27FC236}">
                <a16:creationId xmlns:a16="http://schemas.microsoft.com/office/drawing/2014/main" id="{77D0EDCF-965C-FC44-84D3-A3A15DF41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395075" cy="5545137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mensagens são direcionadas e recebidas de caixas de correio (também chamadas de portas)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caixa de correio tem um ID único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processos podem se comunicar somente se compartilharem uma caixa de correio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Propriedades do link de comunicação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Link estabelecido somente se os processos compartilharem uma caixa de correio comum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link pode estar associado a muitos processos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par de processos pode compartilhar vários links de comunicação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link pode ser unidirecional ou bidirecional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9994B609-C537-2F45-BE43-D69272DF32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Comunicação Indireta</a:t>
            </a:r>
          </a:p>
        </p:txBody>
      </p:sp>
      <p:sp>
        <p:nvSpPr>
          <p:cNvPr id="79874" name="Rectangle 3">
            <a:extLst>
              <a:ext uri="{FF2B5EF4-FFF2-40B4-BE49-F238E27FC236}">
                <a16:creationId xmlns:a16="http://schemas.microsoft.com/office/drawing/2014/main" id="{3B761834-7818-FD4C-99B6-706458F6CA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371263" cy="5094287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Operações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criar uma nova caixa de correio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enviar e receber mensagens pela caixa de correio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destruir uma caixa de correio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Primitivos são definidos como:</a:t>
            </a:r>
          </a:p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enviar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A, mensagem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– enviar uma mensagem para a caixa de correio A</a:t>
            </a:r>
          </a:p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receber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A, mensagem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– receber uma mensagem da caixa de correio 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>
            <a:extLst>
              <a:ext uri="{FF2B5EF4-FFF2-40B4-BE49-F238E27FC236}">
                <a16:creationId xmlns:a16="http://schemas.microsoft.com/office/drawing/2014/main" id="{52671665-7796-7546-960F-714D81E1E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4450" y="369888"/>
            <a:ext cx="117157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Comunicação Indireta</a:t>
            </a:r>
          </a:p>
        </p:txBody>
      </p:sp>
      <p:sp>
        <p:nvSpPr>
          <p:cNvPr id="81922" name="Rectangle 3">
            <a:extLst>
              <a:ext uri="{FF2B5EF4-FFF2-40B4-BE49-F238E27FC236}">
                <a16:creationId xmlns:a16="http://schemas.microsoft.com/office/drawing/2014/main" id="{54302C2D-ADFA-EB45-AC33-00750CC9FC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42713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Compartilhamento de caixa de correio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, 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3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compartilham a caixa de correio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envia;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2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P3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recebem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​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Quem recebeu a mensagem?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Soluções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Permitir que um link seja associado a no máximo dois processos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Permitir que apenas um processo por vez execute uma operação de recebimento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Permitir que o sistema selecione arbitrariamente o destinatário. O remetente é notificado sobre quem foi o destinatário.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>
            <a:extLst>
              <a:ext uri="{FF2B5EF4-FFF2-40B4-BE49-F238E27FC236}">
                <a16:creationId xmlns:a16="http://schemas.microsoft.com/office/drawing/2014/main" id="{56048829-8812-6D4E-919D-ACD91A140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Sincronização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9019BEE5-2DF3-2243-A0B6-5F44EB35E4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04575" cy="6040438"/>
          </a:xfrm>
        </p:spPr>
        <p:txBody>
          <a:bodyPr/>
          <a:lstStyle/>
          <a:p>
            <a:pPr xmlns:a="http://schemas.openxmlformats.org/drawingml/2006/main" marL="542925" indent="-542925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A passagem de mensagens pode ser bloqueadora ou não bloqueadora</a:t>
            </a:r>
          </a:p>
          <a:p>
            <a:pPr marL="542925" indent="-542925"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 marL="542925" indent="-542925">
              <a:buFont typeface="Monotype Sorts" charset="0"/>
              <a:buChar char="n"/>
              <a:defRPr/>
            </a:pPr>
            <a:r xmlns:a="http://schemas.openxmlformats.org/drawingml/2006/main">
              <a:rPr lang="pt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O bloqueio </a:t>
            </a: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é considerado </a:t>
            </a:r>
            <a:r xmlns:a="http://schemas.openxmlformats.org/drawingml/2006/main">
              <a:rPr lang="pt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síncrono</a:t>
            </a:r>
          </a:p>
          <a:p>
            <a:pPr xmlns:a="http://schemas.openxmlformats.org/drawingml/2006/main" marL="1141413" lvl="1" indent="-488950">
              <a:buFont typeface="Monotype Sorts" charset="0"/>
              <a:buChar char="l"/>
              <a:defRPr/>
            </a:pPr>
            <a:r xmlns:a="http://schemas.openxmlformats.org/drawingml/2006/main">
              <a:rPr lang="pt" b="1" dirty="0">
                <a:ea typeface="ＭＳ Ｐゴシック" charset="0"/>
              </a:rPr>
              <a:t>O bloqueio de envio </a:t>
            </a:r>
            <a:r xmlns:a="http://schemas.openxmlformats.org/drawingml/2006/main">
              <a:rPr lang="pt" dirty="0">
                <a:ea typeface="ＭＳ Ｐゴシック" charset="0"/>
              </a:rPr>
              <a:t>faz com que o remetente bloqueie até que a mensagem seja recebida</a:t>
            </a:r>
          </a:p>
          <a:p>
            <a:pPr xmlns:a="http://schemas.openxmlformats.org/drawingml/2006/main" marL="1141413" lvl="1" indent="-488950">
              <a:buFont typeface="Monotype Sorts" charset="0"/>
              <a:buChar char="l"/>
              <a:defRPr/>
            </a:pPr>
            <a:r xmlns:a="http://schemas.openxmlformats.org/drawingml/2006/main">
              <a:rPr lang="pt" b="1" dirty="0">
                <a:ea typeface="ＭＳ Ｐゴシック" charset="0"/>
              </a:rPr>
              <a:t>O bloqueio de recebimento </a:t>
            </a:r>
            <a:r xmlns:a="http://schemas.openxmlformats.org/drawingml/2006/main">
              <a:rPr lang="pt" dirty="0">
                <a:ea typeface="ＭＳ Ｐゴシック" charset="0"/>
              </a:rPr>
              <a:t>faz com que o receptor bloqueie até que uma mensagem esteja disponível</a:t>
            </a:r>
          </a:p>
          <a:p>
            <a:pPr marL="1141413" lvl="1" indent="-488950">
              <a:buFont typeface="Monotype Sorts" charset="0"/>
              <a:buChar char="l"/>
              <a:defRPr/>
            </a:pPr>
            <a:endParaRPr lang="en-US" dirty="0">
              <a:ea typeface="ＭＳ Ｐゴシック" charset="0"/>
            </a:endParaRPr>
          </a:p>
          <a:p>
            <a:pPr xmlns:a="http://schemas.openxmlformats.org/drawingml/2006/main" marL="542925" indent="-542925">
              <a:buFont typeface="Monotype Sorts" charset="0"/>
              <a:buChar char="n"/>
              <a:defRPr/>
            </a:pPr>
            <a:r xmlns:a="http://schemas.openxmlformats.org/drawingml/2006/main">
              <a:rPr lang="pt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Não bloqueante </a:t>
            </a: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é considerado </a:t>
            </a:r>
            <a:r xmlns:a="http://schemas.openxmlformats.org/drawingml/2006/main">
              <a:rPr lang="pt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assíncrono</a:t>
            </a:r>
          </a:p>
          <a:p>
            <a:pPr xmlns:a="http://schemas.openxmlformats.org/drawingml/2006/main" marL="1141413" lvl="1" indent="-488950">
              <a:buFont typeface="Monotype Sorts" charset="0"/>
              <a:buChar char="l"/>
              <a:defRPr/>
            </a:pPr>
            <a:r xmlns:a="http://schemas.openxmlformats.org/drawingml/2006/main">
              <a:rPr lang="pt" b="1" dirty="0">
                <a:ea typeface="ＭＳ Ｐゴシック" charset="0"/>
              </a:rPr>
              <a:t>sem bloqueio </a:t>
            </a:r>
            <a:r xmlns:a="http://schemas.openxmlformats.org/drawingml/2006/main">
              <a:rPr lang="pt" dirty="0">
                <a:ea typeface="ＭＳ Ｐゴシック" charset="0"/>
              </a:rPr>
              <a:t>faz com que o remetente envie a mensagem e continue</a:t>
            </a:r>
          </a:p>
          <a:p>
            <a:pPr xmlns:a="http://schemas.openxmlformats.org/drawingml/2006/main" marL="1141413" lvl="1" indent="-488950">
              <a:buFont typeface="Monotype Sorts" charset="0"/>
              <a:buChar char="l"/>
              <a:defRPr/>
            </a:pPr>
            <a:r xmlns:a="http://schemas.openxmlformats.org/drawingml/2006/main">
              <a:rPr lang="pt" b="1" dirty="0">
                <a:ea typeface="ＭＳ Ｐゴシック" charset="0"/>
              </a:rPr>
              <a:t>não bloqueante </a:t>
            </a:r>
            <a:r xmlns:a="http://schemas.openxmlformats.org/drawingml/2006/main">
              <a:rPr lang="pt" dirty="0">
                <a:ea typeface="ＭＳ Ｐゴシック" charset="0"/>
              </a:rPr>
              <a:t>faz com que o receptor receba uma mensagem válida ou nula</a:t>
            </a:r>
          </a:p>
          <a:p>
            <a:pPr xmlns:a="http://schemas.openxmlformats.org/drawingml/2006/main" marL="0" indent="0">
              <a:buFont typeface="Monotype Sorts" charset="0"/>
              <a:buNone/>
              <a:defRPr/>
            </a:pPr>
            <a:r xmlns:a="http://schemas.openxmlformats.org/drawingml/2006/main">
              <a:rPr lang="pt" dirty="0">
                <a:latin typeface="Courier New"/>
                <a:cs typeface="Courier New"/>
              </a:rP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>
            <a:extLst>
              <a:ext uri="{FF2B5EF4-FFF2-40B4-BE49-F238E27FC236}">
                <a16:creationId xmlns:a16="http://schemas.microsoft.com/office/drawing/2014/main" id="{202E7E91-E28A-9C4D-9E48-A49CA7320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Sincronização (Cont.)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987E521A-376A-A94B-A844-C84649A35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04575" cy="6040438"/>
          </a:xfrm>
        </p:spPr>
        <p:txBody>
          <a:bodyPr/>
          <a:lstStyle/>
          <a:p>
            <a:pPr xmlns:a="http://schemas.openxmlformats.org/drawingml/2006/main" marL="569913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Diferentes combinações possíveis</a:t>
            </a:r>
          </a:p>
          <a:p>
            <a:pPr xmlns:a="http://schemas.openxmlformats.org/drawingml/2006/main" marL="1141413" lvl="1">
              <a:buFont typeface="Monotype Sorts" charset="0"/>
              <a:buChar char="l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Se tanto o envio quanto o recebimento estiverem bloqueados, temos um </a:t>
            </a:r>
            <a:r xmlns:a="http://schemas.openxmlformats.org/drawingml/2006/main">
              <a:rPr lang="pt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encontro</a:t>
            </a: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Produtor-consumidor torna-se trivial</a:t>
            </a:r>
            <a:br xmlns:a="http://schemas.openxmlformats.org/drawingml/2006/main">
              <a:rPr lang="en-US" dirty="0">
                <a:ea typeface="ＭＳ Ｐゴシック" charset="0"/>
              </a:rPr>
            </a:br>
            <a:endParaRPr xmlns:a="http://schemas.openxmlformats.org/drawingml/2006/main" lang="en-US" dirty="0">
              <a:ea typeface="ＭＳ Ｐゴシック" charset="0"/>
            </a:endParaRPr>
          </a:p>
          <a:p>
            <a:pPr xmlns:a="http://schemas.openxmlformats.org/drawingml/2006/main" marL="0" indent="0">
              <a:buFont typeface="Monotype Sorts" charset="0"/>
              <a:buNone/>
              <a:defRPr/>
            </a:pPr>
            <a:r xmlns:a="http://schemas.openxmlformats.org/drawingml/2006/main">
              <a:rPr lang="pt" sz="2400" dirty="0">
                <a:latin typeface="Courier New"/>
                <a:cs typeface="Courier New"/>
              </a:rPr>
              <a:t>próxima mensagem produzida;</a:t>
            </a:r>
          </a:p>
          <a:p>
            <a:pPr xmlns:a="http://schemas.openxmlformats.org/drawingml/2006/main" marL="0" indent="0">
              <a:buFont typeface="Monotype Sorts" charset="0"/>
              <a:buNone/>
              <a:defRPr/>
            </a:pPr>
            <a:r xmlns:a="http://schemas.openxmlformats.org/drawingml/2006/main">
              <a:rPr lang="pt" sz="2400" dirty="0">
                <a:latin typeface="Courier New"/>
                <a:cs typeface="Courier New"/>
              </a:rPr>
              <a:t>enquanto (verdadeiro) </a:t>
            </a:r>
            <a:r xmlns:a="http://schemas.openxmlformats.org/drawingml/2006/main">
              <a:rPr lang="pt" dirty="0">
                <a:latin typeface="Courier New"/>
                <a:cs typeface="Courier New"/>
              </a:rPr>
              <a:t>{</a:t>
            </a:r>
            <a:br xmlns:a="http://schemas.openxmlformats.org/drawingml/2006/main">
              <a:rPr lang="en-US" dirty="0">
                <a:latin typeface="Courier New"/>
                <a:cs typeface="Courier New"/>
              </a:rPr>
            </a:br>
            <a:r xmlns:a="http://schemas.openxmlformats.org/drawingml/2006/main">
              <a:rPr lang="pt" dirty="0">
                <a:latin typeface="Courier New"/>
                <a:cs typeface="Courier New"/>
              </a:rPr>
              <a:t>    </a:t>
            </a:r>
            <a:r xmlns:a="http://schemas.openxmlformats.org/drawingml/2006/main">
              <a:rPr lang="pt" sz="2400" dirty="0">
                <a:latin typeface="Courier New"/>
                <a:cs typeface="Courier New"/>
              </a:rPr>
              <a:t>/* produzir um item no próximo produzido */</a:t>
            </a:r>
          </a:p>
          <a:p>
            <a:pPr xmlns:a="http://schemas.openxmlformats.org/drawingml/2006/main" marL="0" indent="0">
              <a:buFont typeface="Monotype Sorts" charset="0"/>
              <a:buNone/>
              <a:defRPr/>
            </a:pPr>
            <a:r xmlns:a="http://schemas.openxmlformats.org/drawingml/2006/main">
              <a:rPr lang="pt" sz="2400" dirty="0">
                <a:latin typeface="Courier New"/>
                <a:cs typeface="Courier New"/>
              </a:rPr>
              <a:t>enviar(próximo produzido);</a:t>
            </a:r>
          </a:p>
          <a:p>
            <a:pPr xmlns:a="http://schemas.openxmlformats.org/drawingml/2006/main" marL="0" indent="0">
              <a:buFont typeface="Monotype Sorts" charset="0"/>
              <a:buNone/>
              <a:defRPr/>
            </a:pPr>
            <a:r xmlns:a="http://schemas.openxmlformats.org/drawingml/2006/main">
              <a:rPr lang="pt" sz="2400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86019" name="TextBox 1">
            <a:extLst>
              <a:ext uri="{FF2B5EF4-FFF2-40B4-BE49-F238E27FC236}">
                <a16:creationId xmlns:a16="http://schemas.microsoft.com/office/drawing/2014/main" id="{38BFF747-2782-CD4D-A020-8F5AAC394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338" y="5518150"/>
            <a:ext cx="103028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 xmlns:a="http://schemas.openxmlformats.org/drawingml/2006/main">
              <a:rPr kumimoji="1" lang="pt" altLang="pt-BR">
                <a:latin typeface="Courier New" panose="02070309020205020404" pitchFamily="49" charset="0"/>
              </a:rPr>
              <a:t>próxima mensagem consumida;</a:t>
            </a:r>
          </a:p>
          <a:p>
            <a:r xmlns:a="http://schemas.openxmlformats.org/drawingml/2006/main">
              <a:rPr kumimoji="1" lang="pt" altLang="pt-BR">
                <a:latin typeface="Courier New" panose="02070309020205020404" pitchFamily="49" charset="0"/>
              </a:rPr>
              <a:t>enquanto (verdadeiro) {</a:t>
            </a:r>
          </a:p>
          <a:p>
            <a:r xmlns:a="http://schemas.openxmlformats.org/drawingml/2006/main">
              <a:rPr kumimoji="1" lang="pt" altLang="pt-BR">
                <a:latin typeface="Courier New" panose="02070309020205020404" pitchFamily="49" charset="0"/>
              </a:rPr>
              <a:t>receber(próximo consumido);</a:t>
            </a:r>
          </a:p>
          <a:p>
            <a:r xmlns:a="http://schemas.openxmlformats.org/drawingml/2006/main">
              <a:rPr kumimoji="1" lang="pt" altLang="pt-BR">
                <a:latin typeface="Courier New" panose="02070309020205020404" pitchFamily="49" charset="0"/>
              </a:rPr>
              <a:t>   </a:t>
            </a:r>
          </a:p>
          <a:p>
            <a:r xmlns:a="http://schemas.openxmlformats.org/drawingml/2006/main">
              <a:rPr kumimoji="1" lang="pt" altLang="pt-BR">
                <a:latin typeface="Courier New" panose="02070309020205020404" pitchFamily="49" charset="0"/>
              </a:rPr>
              <a:t>/* consumir o item no próximo consumo */</a:t>
            </a:r>
          </a:p>
          <a:p>
            <a:r xmlns:a="http://schemas.openxmlformats.org/drawingml/2006/main">
              <a:rPr kumimoji="1" lang="pt" altLang="pt-BR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>
            <a:extLst>
              <a:ext uri="{FF2B5EF4-FFF2-40B4-BE49-F238E27FC236}">
                <a16:creationId xmlns:a16="http://schemas.microsoft.com/office/drawing/2014/main" id="{5A8B6CCA-3DC8-3D4F-8585-EC314E5796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Buffering</a:t>
            </a:r>
          </a:p>
        </p:txBody>
      </p:sp>
      <p:sp>
        <p:nvSpPr>
          <p:cNvPr id="88066" name="Rectangle 3">
            <a:extLst>
              <a:ext uri="{FF2B5EF4-FFF2-40B4-BE49-F238E27FC236}">
                <a16:creationId xmlns:a16="http://schemas.microsoft.com/office/drawing/2014/main" id="{E30D20CC-3122-FD49-9CFC-76F6084201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90300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Fila de mensagens anexadas ao link; implementada de uma das três maneiras</a:t>
            </a:r>
          </a:p>
          <a:p>
            <a:pPr xmlns:a="http://schemas.openxmlformats.org/drawingml/2006/main" lvl="1">
              <a:buFont typeface="Monotype Sorts" pitchFamily="2" charset="2"/>
              <a:buNone/>
            </a:pPr>
            <a:r xmlns:a="http://schemas.openxmlformats.org/drawingml/2006/main">
              <a:rPr lang="pt" altLang="pt-BR">
                <a:solidFill>
                  <a:srgbClr val="CC6600"/>
                </a:solidFill>
                <a:ea typeface="ＭＳ Ｐゴシック" panose="020B0600070205080204" pitchFamily="34" charset="-128"/>
              </a:rPr>
              <a:t>1.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Capacidade zero – 0 mensagens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remetente deve esperar pelo destinatário (rendezvous)</a:t>
            </a:r>
          </a:p>
          <a:p>
            <a:pPr xmlns:a="http://schemas.openxmlformats.org/drawingml/2006/main" lvl="1">
              <a:buFont typeface="Monotype Sorts" pitchFamily="2" charset="2"/>
              <a:buNone/>
            </a:pPr>
            <a:r xmlns:a="http://schemas.openxmlformats.org/drawingml/2006/main">
              <a:rPr lang="pt" altLang="pt-BR">
                <a:solidFill>
                  <a:srgbClr val="CC6600"/>
                </a:solidFill>
                <a:ea typeface="ＭＳ Ｐゴシック" panose="020B0600070205080204" pitchFamily="34" charset="-128"/>
              </a:rPr>
              <a:t>2.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Capacidade limitada – comprimento finito de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mensagens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remetente deve esperar se o link estiver cheio</a:t>
            </a:r>
          </a:p>
          <a:p>
            <a:pPr xmlns:a="http://schemas.openxmlformats.org/drawingml/2006/main" lvl="1">
              <a:buFont typeface="Monotype Sorts" pitchFamily="2" charset="2"/>
              <a:buNone/>
            </a:pPr>
            <a:r xmlns:a="http://schemas.openxmlformats.org/drawingml/2006/main">
              <a:rPr lang="pt" altLang="pt-BR">
                <a:solidFill>
                  <a:srgbClr val="CC6600"/>
                </a:solidFill>
                <a:ea typeface="ＭＳ Ｐゴシック" panose="020B0600070205080204" pitchFamily="34" charset="-128"/>
              </a:rPr>
              <a:t>3.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Capacidade ilimitada – comprimento infinito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remetente nunca espera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>
            <a:extLst>
              <a:ext uri="{FF2B5EF4-FFF2-40B4-BE49-F238E27FC236}">
                <a16:creationId xmlns:a16="http://schemas.microsoft.com/office/drawing/2014/main" id="{59CA682D-42A7-4D49-A20A-C625519E8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938" y="369888"/>
            <a:ext cx="11776075" cy="7683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Exemplos de Sistemas IPC - POSIX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8D36B1CE-362D-C748-B17B-401CADA59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366500" cy="6040438"/>
          </a:xfrm>
        </p:spPr>
        <p:txBody>
          <a:bodyPr/>
          <a:lstStyle/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Memória compartilhada POSIX</a:t>
            </a:r>
          </a:p>
          <a:p>
            <a:pPr xmlns:a="http://schemas.openxmlformats.org/drawingml/2006/main" lvl="1">
              <a:buFont typeface="Monotype Sorts" charset="0"/>
              <a:buChar char="l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O processo primeiro cria o segmento de memória compartilhada </a:t>
            </a:r>
            <a:br xmlns:a="http://schemas.openxmlformats.org/drawingml/2006/main">
              <a:rPr lang="en-US" dirty="0">
                <a:ea typeface="ＭＳ Ｐゴシック" charset="0"/>
              </a:rPr>
            </a:br>
            <a:r xmlns:a="http://schemas.openxmlformats.org/drawingml/2006/main">
              <a:rPr lang="pt" b="1" dirty="0" err="1">
                <a:latin typeface="Courier New" charset="0"/>
                <a:ea typeface="ＭＳ Ｐゴシック" charset="0"/>
                <a:cs typeface="Courier New" charset="0"/>
              </a:rPr>
              <a:t>shm_fd </a:t>
            </a:r>
            <a:r xmlns:a="http://schemas.openxmlformats.org/drawingml/2006/main">
              <a:rPr lang="pt" b="1" dirty="0">
                <a:latin typeface="Courier New" charset="0"/>
                <a:ea typeface="ＭＳ Ｐゴシック" charset="0"/>
                <a:cs typeface="Courier New" charset="0"/>
              </a:rPr>
              <a:t>= </a:t>
            </a:r>
            <a:r xmlns:a="http://schemas.openxmlformats.org/drawingml/2006/main">
              <a:rPr lang="pt" b="1" dirty="0" err="1">
                <a:latin typeface="Courier New" charset="0"/>
                <a:ea typeface="ＭＳ Ｐゴシック" charset="0"/>
                <a:cs typeface="Courier New" charset="0"/>
              </a:rPr>
              <a:t>shm_open </a:t>
            </a:r>
            <a:r xmlns:a="http://schemas.openxmlformats.org/drawingml/2006/main">
              <a:rPr lang="pt" b="1" dirty="0">
                <a:latin typeface="Courier New" charset="0"/>
                <a:ea typeface="ＭＳ Ｐゴシック" charset="0"/>
                <a:cs typeface="Courier New" charset="0"/>
              </a:rPr>
              <a:t>(nome, O CREAT | O RDRW, 0666);</a:t>
            </a:r>
          </a:p>
          <a:p>
            <a:pPr xmlns:a="http://schemas.openxmlformats.org/drawingml/2006/main" lvl="1">
              <a:buFont typeface="Monotype Sorts" charset="0"/>
              <a:buChar char="l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Também usado para abrir um segmento existente para compartilhá-lo</a:t>
            </a:r>
          </a:p>
          <a:p>
            <a:pPr xmlns:a="http://schemas.openxmlformats.org/drawingml/2006/main" lvl="1">
              <a:buFont typeface="Monotype Sorts" charset="0"/>
              <a:buChar char="l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Defina o tamanho do objeto</a:t>
            </a:r>
          </a:p>
          <a:p>
            <a:pPr xmlns:a="http://schemas.openxmlformats.org/drawingml/2006/main" marL="0" indent="0">
              <a:buFont typeface="Monotype Sorts" charset="0"/>
              <a:buNone/>
              <a:defRPr/>
            </a:pPr>
            <a:r xmlns:a="http://schemas.openxmlformats.org/drawingml/2006/main">
              <a:rPr lang="pt" dirty="0"/>
              <a:t> </a:t>
            </a:r>
            <a:r xmlns:a="http://schemas.openxmlformats.org/drawingml/2006/main">
              <a:rPr lang="pt" b="1" dirty="0" err="1">
                <a:latin typeface="Courier New" charset="0"/>
                <a:ea typeface="ＭＳ Ｐゴシック" charset="0"/>
                <a:cs typeface="Courier New" charset="0"/>
              </a:rPr>
              <a:t>ftruncate </a:t>
            </a:r>
            <a:r xmlns:a="http://schemas.openxmlformats.org/drawingml/2006/main">
              <a:rPr lang="pt" b="1" dirty="0">
                <a:latin typeface="Courier New" charset="0"/>
                <a:ea typeface="ＭＳ Ｐゴシック" charset="0"/>
                <a:cs typeface="Courier New" charset="0"/>
              </a:rPr>
              <a:t>( </a:t>
            </a:r>
            <a:r xmlns:a="http://schemas.openxmlformats.org/drawingml/2006/main">
              <a:rPr lang="pt" b="1" dirty="0" err="1">
                <a:latin typeface="Courier New" charset="0"/>
                <a:ea typeface="ＭＳ Ｐゴシック" charset="0"/>
                <a:cs typeface="Courier New" charset="0"/>
              </a:rPr>
              <a:t>shm</a:t>
            </a:r>
            <a:r xmlns:a="http://schemas.openxmlformats.org/drawingml/2006/main">
              <a:rPr lang="pt" b="1" dirty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 xmlns:a="http://schemas.openxmlformats.org/drawingml/2006/main">
              <a:rPr lang="pt" b="1" dirty="0" err="1">
                <a:latin typeface="Courier New" charset="0"/>
                <a:ea typeface="ＭＳ Ｐゴシック" charset="0"/>
                <a:cs typeface="Courier New" charset="0"/>
              </a:rPr>
              <a:t>fd </a:t>
            </a:r>
            <a:r xmlns:a="http://schemas.openxmlformats.org/drawingml/2006/main">
              <a:rPr lang="pt" b="1" dirty="0">
                <a:latin typeface="Courier New" charset="0"/>
                <a:ea typeface="ＭＳ Ｐゴシック" charset="0"/>
                <a:cs typeface="Courier New" charset="0"/>
              </a:rPr>
              <a:t>, 4096);</a:t>
            </a:r>
          </a:p>
          <a:p>
            <a:pPr xmlns:a="http://schemas.openxmlformats.org/drawingml/2006/main" lvl="1">
              <a:buFont typeface="Monotype Sorts" charset="0"/>
              <a:buChar char="l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Agora o processo pode gravar na memória compartilhada</a:t>
            </a:r>
          </a:p>
          <a:p>
            <a:pPr xmlns:a="http://schemas.openxmlformats.org/drawingml/2006/main" lvl="1">
              <a:buFont typeface="Monotype Sorts" charset="0"/>
              <a:buNone/>
              <a:defRPr/>
            </a:pPr>
            <a:r xmlns:a="http://schemas.openxmlformats.org/drawingml/2006/main">
              <a:rPr lang="pt" b="1" dirty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 xmlns:a="http://schemas.openxmlformats.org/drawingml/2006/main">
              <a:rPr lang="pt" b="1" dirty="0" err="1">
                <a:latin typeface="Courier New" charset="0"/>
                <a:ea typeface="ＭＳ Ｐゴシック" charset="0"/>
                <a:cs typeface="Courier New" charset="0"/>
              </a:rPr>
              <a:t>sprintf </a:t>
            </a:r>
            <a:r xmlns:a="http://schemas.openxmlformats.org/drawingml/2006/main">
              <a:rPr lang="pt" b="1" dirty="0">
                <a:latin typeface="Courier New" charset="0"/>
                <a:ea typeface="ＭＳ Ｐゴシック" charset="0"/>
                <a:cs typeface="Courier New" charset="0"/>
              </a:rPr>
              <a:t>(memória compartilhada, "Escrevendo na memória compartilhada");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>
            <a:extLst>
              <a:ext uri="{FF2B5EF4-FFF2-40B4-BE49-F238E27FC236}">
                <a16:creationId xmlns:a16="http://schemas.microsoft.com/office/drawing/2014/main" id="{B886F615-2DBA-D641-B6B3-6532FCBC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938" y="369888"/>
            <a:ext cx="11776075" cy="7683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Produtor IPC POSIX</a:t>
            </a:r>
          </a:p>
        </p:txBody>
      </p:sp>
      <p:pic>
        <p:nvPicPr>
          <p:cNvPr id="92162" name="Picture 2" descr="Screen Shot 2012-12-04 at 12.49.51 PM.png">
            <a:extLst>
              <a:ext uri="{FF2B5EF4-FFF2-40B4-BE49-F238E27FC236}">
                <a16:creationId xmlns:a16="http://schemas.microsoft.com/office/drawing/2014/main" id="{F1D28E4C-9F9B-9645-843D-25C9495E7B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413" y="1330325"/>
            <a:ext cx="6105525" cy="757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>
            <a:extLst>
              <a:ext uri="{FF2B5EF4-FFF2-40B4-BE49-F238E27FC236}">
                <a16:creationId xmlns:a16="http://schemas.microsoft.com/office/drawing/2014/main" id="{B65F979B-A1D0-5C46-B597-4221022DC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938" y="369888"/>
            <a:ext cx="11776075" cy="7683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Consumidor IPC POSIX</a:t>
            </a:r>
          </a:p>
        </p:txBody>
      </p:sp>
      <p:pic>
        <p:nvPicPr>
          <p:cNvPr id="94210" name="Picture 1" descr="Screen Shot 2012-12-04 at 12.49.59 PM.png">
            <a:extLst>
              <a:ext uri="{FF2B5EF4-FFF2-40B4-BE49-F238E27FC236}">
                <a16:creationId xmlns:a16="http://schemas.microsoft.com/office/drawing/2014/main" id="{16A7F5E0-97CA-A243-A9A2-4DB81FB54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650" y="1401763"/>
            <a:ext cx="7432675" cy="712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Title 1">
            <a:extLst>
              <a:ext uri="{FF2B5EF4-FFF2-40B4-BE49-F238E27FC236}">
                <a16:creationId xmlns:a16="http://schemas.microsoft.com/office/drawing/2014/main" id="{C2027832-D339-584D-9BBA-3AC78B86E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150" y="369888"/>
            <a:ext cx="11322050" cy="7683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Exemplos de Sistemas IPC - Mach</a:t>
            </a:r>
          </a:p>
        </p:txBody>
      </p:sp>
      <p:sp>
        <p:nvSpPr>
          <p:cNvPr id="96258" name="Content Placeholder 2">
            <a:extLst>
              <a:ext uri="{FF2B5EF4-FFF2-40B4-BE49-F238E27FC236}">
                <a16:creationId xmlns:a16="http://schemas.microsoft.com/office/drawing/2014/main" id="{05BE0EA5-2C97-B74F-A8D8-BF1320318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comunicação Mach é baseada em mensagens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Até chamadas de sistema são mensagens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tarefa recebe duas caixas de correio na criação - Kernel e Notify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Apenas três chamadas de sistema são necessárias para transferência de mensagens</a:t>
            </a:r>
          </a:p>
          <a:p>
            <a:pPr xmlns:a="http://schemas.openxmlformats.org/drawingml/2006/main" lvl="1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msg_send(), msg_receive(), msg_rpc()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Caixas de correio necessárias para comunicação, criadas via</a:t>
            </a:r>
          </a:p>
          <a:p>
            <a:pPr xmlns:a="http://schemas.openxmlformats.org/drawingml/2006/main" lvl="1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port_allocate()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Enviar e receber são flexíveis, por exemplo, quatro opções se a caixa de correio estiver cheia: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Espere indefinidamente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Aguarde no máximo n milissegundos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Retornar imediatamente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Armazenar uma mensagem em cache temporariamente</a:t>
            </a:r>
          </a:p>
          <a:p>
            <a:pPr lvl="1"/>
            <a:endParaRPr lang="en-US" altLang="pt-BR" b="1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itle 1">
            <a:extLst>
              <a:ext uri="{FF2B5EF4-FFF2-40B4-BE49-F238E27FC236}">
                <a16:creationId xmlns:a16="http://schemas.microsoft.com/office/drawing/2014/main" id="{7404BF77-5588-C74A-A954-9A8A52922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650" y="369888"/>
            <a:ext cx="12344400" cy="768350"/>
          </a:xfrm>
        </p:spPr>
        <p:txBody>
          <a:bodyPr/>
          <a:lstStyle/>
          <a:p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Exemplos de sistemas IPC – Windows</a:t>
            </a:r>
          </a:p>
        </p:txBody>
      </p:sp>
      <p:sp>
        <p:nvSpPr>
          <p:cNvPr id="98306" name="Content Placeholder 2">
            <a:extLst>
              <a:ext uri="{FF2B5EF4-FFF2-40B4-BE49-F238E27FC236}">
                <a16:creationId xmlns:a16="http://schemas.microsoft.com/office/drawing/2014/main" id="{315CFC6F-03D1-674C-8DB9-A9FB12F9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352213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Centralização de passagem de mensagens por meio de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recurso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avançado de chamada de procedimento local </a:t>
            </a:r>
            <a:r xmlns:a="http://schemas.openxmlformats.org/drawingml/2006/main">
              <a:rPr lang="pt" altLang="pt-BR" b="1">
                <a:solidFill>
                  <a:srgbClr val="000000"/>
                </a:solidFill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LPC </a:t>
            </a:r>
            <a:r xmlns:a="http://schemas.openxmlformats.org/drawingml/2006/main">
              <a:rPr lang="pt" altLang="pt-BR" b="1">
                <a:solidFill>
                  <a:srgbClr val="000000"/>
                </a:solidFill>
                <a:ea typeface="ＭＳ Ｐゴシック" panose="020B0600070205080204" pitchFamily="34" charset="-128"/>
              </a:rPr>
              <a:t>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Funciona apenas entre processos no mesmo sistema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Usa portas (como caixas de correio) para estabelecer e manter canais de comunicação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comunicação funciona da seguinte forma: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cliente abre um identificador para o objeto </a:t>
            </a:r>
            <a:r xmlns:a="http://schemas.openxmlformats.org/drawingml/2006/main">
              <a:rPr lang="pt" altLang="ja-JP" b="1">
                <a:solidFill>
                  <a:srgbClr val="0000FF"/>
                </a:solidFill>
                <a:ea typeface="ＭＳ Ｐゴシック" panose="020B0600070205080204" pitchFamily="34" charset="-128"/>
              </a:rPr>
              <a:t>de porta de conexão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do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subsistema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.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cliente envia uma solicitação de conexão.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servidor cria duas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portas de comunicação privadas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retorna o identificador de uma delas para o cliente.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cliente e o servidor usam o identificador de porta correspondente para enviar mensagens ou retornos de chamada e para ouvir respostas.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Title 1">
            <a:extLst>
              <a:ext uri="{FF2B5EF4-FFF2-40B4-BE49-F238E27FC236}">
                <a16:creationId xmlns:a16="http://schemas.microsoft.com/office/drawing/2014/main" id="{B2878EA7-F973-B449-9C7A-808BF45F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463" y="369888"/>
            <a:ext cx="12344400" cy="7683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Chamadas de procedimento local no Windows XP</a:t>
            </a:r>
          </a:p>
        </p:txBody>
      </p:sp>
      <p:pic>
        <p:nvPicPr>
          <p:cNvPr id="100354" name="Picture 4" descr="3">
            <a:extLst>
              <a:ext uri="{FF2B5EF4-FFF2-40B4-BE49-F238E27FC236}">
                <a16:creationId xmlns:a16="http://schemas.microsoft.com/office/drawing/2014/main" id="{14D128D5-CAB5-1C42-BD59-0E1586C8A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100" y="2441575"/>
            <a:ext cx="9850438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>
            <a:extLst>
              <a:ext uri="{FF2B5EF4-FFF2-40B4-BE49-F238E27FC236}">
                <a16:creationId xmlns:a16="http://schemas.microsoft.com/office/drawing/2014/main" id="{2661E191-729A-D242-B31E-49D372B23E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8100" y="3698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Comunicações em sistemas cliente-servidor</a:t>
            </a:r>
          </a:p>
        </p:txBody>
      </p:sp>
      <p:sp>
        <p:nvSpPr>
          <p:cNvPr id="102402" name="Rectangle 3">
            <a:extLst>
              <a:ext uri="{FF2B5EF4-FFF2-40B4-BE49-F238E27FC236}">
                <a16:creationId xmlns:a16="http://schemas.microsoft.com/office/drawing/2014/main" id="{A69E23AD-7B80-6E46-B9E0-518E7062C1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Soquetes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Chamadas de Procedimento Remoto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Tubos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Invocação de Método Remoto (Java)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1E33DA5D-05E8-A84F-97A9-38F33406A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Soquetes</a:t>
            </a:r>
          </a:p>
        </p:txBody>
      </p:sp>
      <p:sp>
        <p:nvSpPr>
          <p:cNvPr id="104450" name="Rectangle 3">
            <a:extLst>
              <a:ext uri="{FF2B5EF4-FFF2-40B4-BE49-F238E27FC236}">
                <a16:creationId xmlns:a16="http://schemas.microsoft.com/office/drawing/2014/main" id="{3DDA7049-13AB-8A46-B886-B284F9F548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0466388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soquete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definido como um ponto final para comunicação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Concatenação de endereço IP e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porta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um número incluído no início do pacote de mensagens para diferenciar os serviços de rede em um host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soquete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161.25.19.8:1625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refere-se à porta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1625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no host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161.25.19.8</a:t>
            </a:r>
          </a:p>
          <a:p>
            <a:endParaRPr lang="en-US" altLang="pt-BR" b="1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comunicação consiste entre um par de soquetes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Todas as portas abaixo de 1024 são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bem conhecidas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usadas para serviços padrão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Endereço IP especial 127.0.0.1 (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loopback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para se referir ao sistema no qual o processo está sendo executado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>
            <a:extLst>
              <a:ext uri="{FF2B5EF4-FFF2-40B4-BE49-F238E27FC236}">
                <a16:creationId xmlns:a16="http://schemas.microsoft.com/office/drawing/2014/main" id="{9E76199E-0D83-0946-8815-8018A6DB7E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Comunicação de soquete</a:t>
            </a:r>
          </a:p>
        </p:txBody>
      </p:sp>
      <p:pic>
        <p:nvPicPr>
          <p:cNvPr id="106498" name="Picture 7">
            <a:extLst>
              <a:ext uri="{FF2B5EF4-FFF2-40B4-BE49-F238E27FC236}">
                <a16:creationId xmlns:a16="http://schemas.microsoft.com/office/drawing/2014/main" id="{FE8B249F-F403-0A4C-9AA3-9DA6AD089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638" y="1989138"/>
            <a:ext cx="9705975" cy="590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>
            <a:extLst>
              <a:ext uri="{FF2B5EF4-FFF2-40B4-BE49-F238E27FC236}">
                <a16:creationId xmlns:a16="http://schemas.microsoft.com/office/drawing/2014/main" id="{10E4552B-95DA-6346-9E69-1338953A8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Soquetes em Java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75BE3742-4FFA-9F44-B161-7E5926AB54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5129213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Três tipos de soquetes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Orientado a conexão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TCP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Sem conexão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UDP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MulticastSocket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os dados podem ser enviados para vários destinatários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Considere este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servidor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“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Data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” :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  <p:pic>
        <p:nvPicPr>
          <p:cNvPr id="108547" name="Picture 1" descr="Screen Shot 2012-12-04 at 1.11.28 PM.png">
            <a:extLst>
              <a:ext uri="{FF2B5EF4-FFF2-40B4-BE49-F238E27FC236}">
                <a16:creationId xmlns:a16="http://schemas.microsoft.com/office/drawing/2014/main" id="{242E4018-3DF3-BA44-9C74-113A1D939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1500188"/>
            <a:ext cx="7450137" cy="679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>
            <a:extLst>
              <a:ext uri="{FF2B5EF4-FFF2-40B4-BE49-F238E27FC236}">
                <a16:creationId xmlns:a16="http://schemas.microsoft.com/office/drawing/2014/main" id="{5EB5DB1C-02F5-C94D-89F8-38F74BC191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Chamadas de Procedimento Remoto</a:t>
            </a:r>
          </a:p>
        </p:txBody>
      </p:sp>
      <p:sp>
        <p:nvSpPr>
          <p:cNvPr id="110594" name="Rectangle 3">
            <a:extLst>
              <a:ext uri="{FF2B5EF4-FFF2-40B4-BE49-F238E27FC236}">
                <a16:creationId xmlns:a16="http://schemas.microsoft.com/office/drawing/2014/main" id="{C63E9DA1-C8BB-0B4E-9396-C582EDA7F1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10950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Chamada de procedimento remoto (RPC) abstrai chamadas de procedimento entre processos em sistemas em rede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Novamente usa portas para diferenciação de serviço</a:t>
            </a:r>
          </a:p>
          <a:p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Stubs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proxy do lado do cliente para o procedimento real no servidor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stub do lado do cliente localiza o servidor e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organiza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parâmetros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stub do lado do servidor recebe esta mensagem, descompacta os parâmetros marshalling e executa o procedimento no servidor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No Windows, o código stub é compilado a partir de especificações escritas em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Microsoft Interface Definition Language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MIDL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Representação de dados manipulada via formato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de Representação de Dados Externos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XDL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para dar conta de diferentes arquiteturas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Big-endian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little-endian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comunicação remota tem mais cenários de falha do que a comunicação local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mensagens podem ser entregues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exatamente uma vez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em vez de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no máximo uma vez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sistema operacional normalmente fornece um serviço de encontro (ou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matchmaker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para conectar cliente e servidor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>
            <a:extLst>
              <a:ext uri="{FF2B5EF4-FFF2-40B4-BE49-F238E27FC236}">
                <a16:creationId xmlns:a16="http://schemas.microsoft.com/office/drawing/2014/main" id="{F1A346FA-2078-A94A-9314-00C1FCA5F0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Execução de RPC</a:t>
            </a:r>
          </a:p>
        </p:txBody>
      </p:sp>
      <p:pic>
        <p:nvPicPr>
          <p:cNvPr id="112642" name="Picture 6" descr="3">
            <a:extLst>
              <a:ext uri="{FF2B5EF4-FFF2-40B4-BE49-F238E27FC236}">
                <a16:creationId xmlns:a16="http://schemas.microsoft.com/office/drawing/2014/main" id="{FC79C936-F153-A244-86F5-7DEEFF72F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413" y="1354138"/>
            <a:ext cx="6630987" cy="709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>
            <a:extLst>
              <a:ext uri="{FF2B5EF4-FFF2-40B4-BE49-F238E27FC236}">
                <a16:creationId xmlns:a16="http://schemas.microsoft.com/office/drawing/2014/main" id="{84C62079-F639-9149-92BA-7363A68CE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Tubos</a:t>
            </a:r>
          </a:p>
        </p:txBody>
      </p:sp>
      <p:sp>
        <p:nvSpPr>
          <p:cNvPr id="114690" name="Rectangle 3">
            <a:extLst>
              <a:ext uri="{FF2B5EF4-FFF2-40B4-BE49-F238E27FC236}">
                <a16:creationId xmlns:a16="http://schemas.microsoft.com/office/drawing/2014/main" id="{73B6AFFE-AE17-2E4C-A3CC-2CE6BB7300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352213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Atua como um canal permitindo que dois processos se comuniquem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Problemas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comunicação é unidirecional ou bidirecional?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No caso de comunicação bidirecional, é half ou full-duplex?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Deve existir uma relação (por exemplo,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pai-filho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entre os processos de comunicação?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pipes podem ser usados em rede?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Title 6">
            <a:extLst>
              <a:ext uri="{FF2B5EF4-FFF2-40B4-BE49-F238E27FC236}">
                <a16:creationId xmlns:a16="http://schemas.microsoft.com/office/drawing/2014/main" id="{DCC6EBCC-45B4-524E-B94F-13F300579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Tubos comuns</a:t>
            </a:r>
          </a:p>
        </p:txBody>
      </p:sp>
      <p:sp>
        <p:nvSpPr>
          <p:cNvPr id="54275" name="Content Placeholder 7">
            <a:extLst>
              <a:ext uri="{FF2B5EF4-FFF2-40B4-BE49-F238E27FC236}">
                <a16:creationId xmlns:a16="http://schemas.microsoft.com/office/drawing/2014/main" id="{6486E5B7-4C07-9D46-B8BD-3EC5432AA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391900" cy="6040438"/>
          </a:xfrm>
        </p:spPr>
        <p:txBody>
          <a:bodyPr/>
          <a:lstStyle/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Tubos comuns</a:t>
            </a:r>
            <a:r xmlns:a="http://schemas.openxmlformats.org/drawingml/2006/main">
              <a:rPr lang="pt" b="1" dirty="0">
                <a:ea typeface="ＭＳ Ｐゴシック" charset="0"/>
                <a:cs typeface="ＭＳ Ｐゴシック" charset="0"/>
              </a:rPr>
              <a:t> </a:t>
            </a: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permitir a comunicação no estilo padrão produtor-consumidor</a:t>
            </a:r>
            <a:br xmlns:a="http://schemas.openxmlformats.org/drawingml/2006/main">
              <a:rPr lang="en-US" dirty="0">
                <a:ea typeface="ＭＳ Ｐゴシック" charset="0"/>
                <a:cs typeface="ＭＳ Ｐゴシック" charset="0"/>
              </a:rPr>
            </a:br>
            <a:endParaRPr xmlns:a="http://schemas.openxmlformats.org/drawingml/2006/main" lang="en-US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O produtor escreve em uma extremidade (a </a:t>
            </a:r>
            <a:r xmlns:a="http://schemas.openxmlformats.org/drawingml/2006/main">
              <a:rPr lang="pt" b="1" dirty="0">
                <a:solidFill>
                  <a:srgbClr val="0000FF"/>
                </a:solidFill>
                <a:ea typeface="ＭＳ Ｐゴシック" charset="0"/>
                <a:cs typeface="ＭＳ Ｐゴシック" charset="0"/>
              </a:rPr>
              <a:t>extremidade de gravação </a:t>
            </a: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do pipe)</a:t>
            </a:r>
            <a:br xmlns:a="http://schemas.openxmlformats.org/drawingml/2006/main">
              <a:rPr lang="en-US" dirty="0">
                <a:ea typeface="ＭＳ Ｐゴシック" charset="0"/>
                <a:cs typeface="ＭＳ Ｐゴシック" charset="0"/>
              </a:rPr>
            </a:br>
            <a:endParaRPr xmlns:a="http://schemas.openxmlformats.org/drawingml/2006/main" lang="en-US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O consumidor lê do outro lado (o </a:t>
            </a:r>
            <a:r xmlns:a="http://schemas.openxmlformats.org/drawingml/2006/main">
              <a:rPr lang="pt" b="1" dirty="0">
                <a:solidFill>
                  <a:srgbClr val="0000FF"/>
                </a:solidFill>
                <a:ea typeface="ＭＳ Ｐゴシック" charset="0"/>
                <a:cs typeface="ＭＳ Ｐゴシック" charset="0"/>
              </a:rPr>
              <a:t>lado da leitura)</a:t>
            </a:r>
            <a:r xmlns:a="http://schemas.openxmlformats.org/drawingml/2006/main">
              <a:rPr lang="pt" i="1" dirty="0">
                <a:ea typeface="ＭＳ Ｐゴシック" charset="0"/>
                <a:cs typeface="ＭＳ Ｐゴシック" charset="0"/>
              </a:rPr>
              <a:t> </a:t>
            </a: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do tubo)</a:t>
            </a:r>
            <a:br xmlns:a="http://schemas.openxmlformats.org/drawingml/2006/main">
              <a:rPr lang="en-US" dirty="0">
                <a:ea typeface="ＭＳ Ｐゴシック" charset="0"/>
                <a:cs typeface="ＭＳ Ｐゴシック" charset="0"/>
              </a:rPr>
            </a:br>
            <a:endParaRPr xmlns:a="http://schemas.openxmlformats.org/drawingml/2006/main" lang="en-US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Os tubos comuns são, portanto, unidirecionais</a:t>
            </a:r>
            <a:br xmlns:a="http://schemas.openxmlformats.org/drawingml/2006/main">
              <a:rPr lang="en-US" dirty="0">
                <a:ea typeface="ＭＳ Ｐゴシック" charset="0"/>
                <a:cs typeface="ＭＳ Ｐゴシック" charset="0"/>
              </a:rPr>
            </a:br>
            <a:endParaRPr xmlns:a="http://schemas.openxmlformats.org/drawingml/2006/main" lang="en-US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Exige relação pai-filho entre processos de comunicação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O Windows chama esses </a:t>
            </a:r>
            <a:r xmlns:a="http://schemas.openxmlformats.org/drawingml/2006/main">
              <a:rPr lang="pt" b="1" dirty="0">
                <a:solidFill>
                  <a:srgbClr val="0000FF"/>
                </a:solidFill>
                <a:ea typeface="ＭＳ Ｐゴシック" charset="0"/>
                <a:cs typeface="ＭＳ Ｐゴシック" charset="0"/>
              </a:rPr>
              <a:t>pipes anônimos</a:t>
            </a: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Veja exemplos de código Unix e Windows no livro didático</a:t>
            </a: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  <p:pic>
        <p:nvPicPr>
          <p:cNvPr id="116739" name="Picture 4" descr="3">
            <a:extLst>
              <a:ext uri="{FF2B5EF4-FFF2-40B4-BE49-F238E27FC236}">
                <a16:creationId xmlns:a16="http://schemas.microsoft.com/office/drawing/2014/main" id="{225C7447-BD6D-7348-B765-822FA7B22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775" y="4872038"/>
            <a:ext cx="8318500" cy="205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itle 6">
            <a:extLst>
              <a:ext uri="{FF2B5EF4-FFF2-40B4-BE49-F238E27FC236}">
                <a16:creationId xmlns:a16="http://schemas.microsoft.com/office/drawing/2014/main" id="{6CCAB3F3-7C8E-AB40-BB60-8CB9EC9A5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Pipes nomeados</a:t>
            </a:r>
          </a:p>
        </p:txBody>
      </p:sp>
      <p:sp>
        <p:nvSpPr>
          <p:cNvPr id="118786" name="Content Placeholder 7">
            <a:extLst>
              <a:ext uri="{FF2B5EF4-FFF2-40B4-BE49-F238E27FC236}">
                <a16:creationId xmlns:a16="http://schemas.microsoft.com/office/drawing/2014/main" id="{7230F914-A3C6-0A41-A679-0338E84A7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Pipes nomeados são mais poderosos que pipes comuns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comunicação é bidirecional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Não é necessária nenhuma relação pai-filho entre os processos de comunicação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Vários processos podem usar o pipe nomeado para comunicação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Fornecido em sistemas UNIX e Windows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>
            <a:extLst>
              <a:ext uri="{FF2B5EF4-FFF2-40B4-BE49-F238E27FC236}">
                <a16:creationId xmlns:a16="http://schemas.microsoft.com/office/drawing/2014/main" id="{DFEFF429-82E8-0640-8BB5-ECE33456829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Fim do Capítulo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s-8">
  <a:themeElements>
    <a:clrScheme name="1_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1_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6059</TotalTime>
  <Words>2978</Words>
  <Application>Microsoft Macintosh PowerPoint</Application>
  <PresentationFormat>Personalizar</PresentationFormat>
  <Paragraphs>427</Paragraphs>
  <Slides>58</Slides>
  <Notes>57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58</vt:i4>
      </vt:variant>
    </vt:vector>
  </HeadingPairs>
  <TitlesOfParts>
    <vt:vector size="69" baseType="lpstr">
      <vt:lpstr>Verdana</vt:lpstr>
      <vt:lpstr>ＭＳ Ｐゴシック</vt:lpstr>
      <vt:lpstr>Arial</vt:lpstr>
      <vt:lpstr>Helvetica</vt:lpstr>
      <vt:lpstr>Monotype Sorts</vt:lpstr>
      <vt:lpstr>Webdings</vt:lpstr>
      <vt:lpstr>Times New Roman</vt:lpstr>
      <vt:lpstr>Courier New</vt:lpstr>
      <vt:lpstr>Symbol</vt:lpstr>
      <vt:lpstr>Monaco</vt:lpstr>
      <vt:lpstr>1_os-8</vt:lpstr>
      <vt:lpstr>Chapter 3:  Processes</vt:lpstr>
      <vt:lpstr>Chapter 3:  Processes</vt:lpstr>
      <vt:lpstr>Objectives</vt:lpstr>
      <vt:lpstr>Process Concept</vt:lpstr>
      <vt:lpstr>Process in Memory</vt:lpstr>
      <vt:lpstr>Process State</vt:lpstr>
      <vt:lpstr>Diagram of Process State</vt:lpstr>
      <vt:lpstr>Process Control Block (PCB)</vt:lpstr>
      <vt:lpstr>CPU Switch From Process to Process</vt:lpstr>
      <vt:lpstr>Threads</vt:lpstr>
      <vt:lpstr>Process Representation in Linux</vt:lpstr>
      <vt:lpstr>Process Scheduling</vt:lpstr>
      <vt:lpstr>Ready Queue And Various  I/O Device Queues</vt:lpstr>
      <vt:lpstr>Representation of Process Scheduling</vt:lpstr>
      <vt:lpstr>Schedulers</vt:lpstr>
      <vt:lpstr>Addition of Medium Term Scheduling</vt:lpstr>
      <vt:lpstr>Multitasking in Mobile Systems</vt:lpstr>
      <vt:lpstr>Context Switch</vt:lpstr>
      <vt:lpstr>Operations on Processes</vt:lpstr>
      <vt:lpstr>Process Creation</vt:lpstr>
      <vt:lpstr>A Tree of Processes in Linux</vt:lpstr>
      <vt:lpstr>Process Creation (Cont.)</vt:lpstr>
      <vt:lpstr>C Program Forking Separate Process</vt:lpstr>
      <vt:lpstr>Creating a Separate Process via Windows API</vt:lpstr>
      <vt:lpstr>Process Termination</vt:lpstr>
      <vt:lpstr>Multiprocess Architecture – Chrome Browser</vt:lpstr>
      <vt:lpstr>Interprocess Communication</vt:lpstr>
      <vt:lpstr>Communications Models </vt:lpstr>
      <vt:lpstr>Cooperating Processes</vt:lpstr>
      <vt:lpstr>Producer-Consumer Problem</vt:lpstr>
      <vt:lpstr>Bounded-Buffer – Shared-Memory Solution</vt:lpstr>
      <vt:lpstr>Bounded-Buffer – Producer</vt:lpstr>
      <vt:lpstr>Bounded Buffer – Consumer</vt:lpstr>
      <vt:lpstr>Interprocess Communication – Message Passing</vt:lpstr>
      <vt:lpstr>Implementation Questions</vt:lpstr>
      <vt:lpstr>Direct Communication</vt:lpstr>
      <vt:lpstr>Indirect Communication</vt:lpstr>
      <vt:lpstr>Indirect Communication</vt:lpstr>
      <vt:lpstr>Indirect Communication</vt:lpstr>
      <vt:lpstr>Synchronization</vt:lpstr>
      <vt:lpstr>Synchronization (Cont.)</vt:lpstr>
      <vt:lpstr>Buffering</vt:lpstr>
      <vt:lpstr>Examples of IPC Systems - POSIX</vt:lpstr>
      <vt:lpstr>IPC POSIX Producer</vt:lpstr>
      <vt:lpstr>IPC POSIX Consumer</vt:lpstr>
      <vt:lpstr>Examples of IPC Systems - Mach</vt:lpstr>
      <vt:lpstr>Examples of IPC Systems – Windows</vt:lpstr>
      <vt:lpstr>Local Procedure Calls in Windows XP</vt:lpstr>
      <vt:lpstr>Communications in Client-Server Systems</vt:lpstr>
      <vt:lpstr>Sockets</vt:lpstr>
      <vt:lpstr>Socket Communication</vt:lpstr>
      <vt:lpstr>Sockets in Java</vt:lpstr>
      <vt:lpstr>Remote Procedure Calls</vt:lpstr>
      <vt:lpstr>Execution of RPC</vt:lpstr>
      <vt:lpstr>Pipes</vt:lpstr>
      <vt:lpstr>Ordinary Pipes</vt:lpstr>
      <vt:lpstr>Named Pipes</vt:lpstr>
      <vt:lpstr>End of Chapter 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 Processes</dc:title>
  <dc:creator>Marilyn Turnamian</dc:creator>
  <cp:lastModifiedBy>Getulio Pereira</cp:lastModifiedBy>
  <cp:revision>178</cp:revision>
  <cp:lastPrinted>2011-01-14T21:21:29Z</cp:lastPrinted>
  <dcterms:created xsi:type="dcterms:W3CDTF">2011-01-14T20:24:54Z</dcterms:created>
  <dcterms:modified xsi:type="dcterms:W3CDTF">2020-10-08T15:06:40Z</dcterms:modified>
</cp:coreProperties>
</file>